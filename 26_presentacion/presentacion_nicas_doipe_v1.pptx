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nsaje" id="{3b9fc534-bfa7-2de9-fdb9-079e9e8092f6}">
          <p14:sldIdLst>
            <p14:sldId id="256"/>
            <p14:sldId id="257"/>
            <p14:sldId id="258"/>
            <p14:sldId id="259"/>
            <p14:sldId id="260"/>
          </p14:sldIdLst>
        </p14:section>
        <p14:section name="El negocio" id="{9d5d051c-33a3-d93a-27ef-3d4846e59ef6}">
          <p14:sldIdLst>
            <p14:sldId id="261"/>
            <p14:sldId id="262"/>
            <p14:sldId id="263"/>
            <p14:sldId id="264"/>
            <p14:sldId id="265"/>
            <p14:sldId id="266"/>
            <p14:sldId id="267"/>
          </p14:sldIdLst>
        </p14:section>
        <p14:section name="Economía" id="{1e9bc059-d374-2310-1c7f-da9be11bc845}">
          <p14:sldIdLst>
            <p14:sldId id="268"/>
            <p14:sldId id="269"/>
            <p14:sldId id="270"/>
            <p14:sldId id="271"/>
          </p14:sldIdLst>
        </p14:section>
        <p14:section name="App V1" id="{1c9c3e84-bbf1-b79d-658a-7dfb50642da6}">
          <p14:sldIdLst>
            <p14:sldId id="272"/>
            <p14:sldId id="273"/>
          </p14:sldIdLst>
        </p14:section>
        <p14:section name="Cómo seguir" id="{bbbeacdb-47d7-a82d-5d8f-885d4b6812ba}">
          <p14:sldIdLst>
            <p14:sldId id="274"/>
            <p14:sldId id="275"/>
            <p14:sldId id="276"/>
            <p14:sldId id="277"/>
            <p14:sldId id="278"/>
          </p14:sldIdLst>
        </p14:section>
        <p14:section name="Anexo técnico" id="{3d60ad64-0713-2ab7-d2e3-60c9d7c2cb06}">
          <p14:sldIdLst>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A"/>
                </a:solidFill>
                <a:latin typeface="+mn-lt"/>
              </a:defRPr>
            </a:pPr>
            <a:r>
              <a:rPr sz="1400" b="0" i="0" u="none" strike="noStrike">
                <a:solidFill>
                  <a:srgbClr val="1F4D3A"/>
                </a:solidFill>
                <a:latin typeface="+mn-lt"/>
              </a:rPr>
              <a:t>kg por pollo de 2,9 kg vivo (corte en trozos)</a:t>
            </a:r>
          </a:p>
        </c:rich>
      </c:tx>
      <c:layout/>
      <c:overlay val="0"/>
    </c:title>
    <c:autoTitleDeleted val="0"/>
    <c:plotArea>
      <c:layout/>
      <c:barChart>
        <c:barDir val="bar"/>
        <c:grouping val="clustered"/>
        <c:varyColors val="0"/>
        <c:ser>
          <c:idx val="0"/>
          <c:order val="0"/>
          <c:tx>
            <c:strRef>
              <c:f>Sheet1!$B$1</c:f>
              <c:strCache>
                <c:ptCount val="1"/>
                <c:pt idx="0">
                  <c:v>kg por ave</c:v>
                </c:pt>
              </c:strCache>
            </c:strRef>
          </c:tx>
          <c:spPr>
            <a:solidFill>
              <a:srgbClr val="1F4D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Cabeza  0,072 kg</c:v>
                  </c:pt>
                  <c:pt idx="1">
                    <c:v>Cuello  0,075 kg</c:v>
                  </c:pt>
                  <c:pt idx="2">
                    <c:v>Sangre  0,099 kg</c:v>
                  </c:pt>
                  <c:pt idx="3">
                    <c:v>Menudencias  0,110 kg</c:v>
                  </c:pt>
                  <c:pt idx="4">
                    <c:v>Patas (garras)  0,113 kg</c:v>
                  </c:pt>
                  <c:pt idx="5">
                    <c:v>Vísceras no comestibles  0,130 kg</c:v>
                  </c:pt>
                  <c:pt idx="6">
                    <c:v>Plumas  0,151 kg</c:v>
                  </c:pt>
                  <c:pt idx="7">
                    <c:v>Alas  0,208 kg</c:v>
                  </c:pt>
                  <c:pt idx="8">
                    <c:v>Carcasa-esqueleto  0,393 kg</c:v>
                  </c:pt>
                  <c:pt idx="9">
                    <c:v>Pata-muslo  0,631 kg</c:v>
                  </c:pt>
                  <c:pt idx="10">
                    <c:v>Pechuga con hueso  0,784 kg</c:v>
                  </c:pt>
                </c:lvl>
              </c:multiLvlStrCache>
            </c:multiLvlStrRef>
          </c:cat>
          <c:val>
            <c:numRef>
              <c:f>Sheet1!$B$2:$B$12</c:f>
              <c:numCache>
                <c:formatCode>General</c:formatCode>
                <c:ptCount val="11"/>
                <c:pt idx="0">
                  <c:v>0.072</c:v>
                </c:pt>
                <c:pt idx="1">
                  <c:v>0.075</c:v>
                </c:pt>
                <c:pt idx="2">
                  <c:v>0.099</c:v>
                </c:pt>
                <c:pt idx="3">
                  <c:v>0.11</c:v>
                </c:pt>
                <c:pt idx="4">
                  <c:v>0.113</c:v>
                </c:pt>
                <c:pt idx="5">
                  <c:v>0.13</c:v>
                </c:pt>
                <c:pt idx="6">
                  <c:v>0.151</c:v>
                </c:pt>
                <c:pt idx="7">
                  <c:v>0.208</c:v>
                </c:pt>
                <c:pt idx="8">
                  <c:v>0.393</c:v>
                </c:pt>
                <c:pt idx="9">
                  <c:v>0.631</c:v>
                </c:pt>
                <c:pt idx="10">
                  <c:v>0.784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2B2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Conceptos de inversión</c:v>
                </c:pt>
              </c:strCache>
            </c:strRef>
          </c:tx>
          <c:spPr>
            <a:solidFill>
              <a:schemeClr val="accent1"/>
            </a:solidFill>
            <a:ln w="9525" cap="flat">
              <a:solidFill>
                <a:srgbClr val="F9F9F9"/>
              </a:solidFill>
              <a:prstDash val="solid"/>
              <a:round/>
            </a:ln>
            <a:effectLst/>
          </c:spPr>
          <c:dPt>
            <c:idx val="0"/>
            <c:bubble3D val="0"/>
            <c:spPr>
              <a:solidFill>
                <a:srgbClr val="C9D6CE"/>
              </a:solidFill>
              <a:effectLst/>
            </c:spPr>
          </c:dPt>
          <c:dPt>
            <c:idx val="1"/>
            <c:bubble3D val="0"/>
            <c:spPr>
              <a:solidFill>
                <a:srgbClr val="E3A12F"/>
              </a:solidFill>
              <a:effectLst/>
            </c:spPr>
          </c:dPt>
          <c:dLbls>
            <c:dLbl>
              <c:idx val="0"/>
              <c:numFmt formatCode="General" sourceLinked="0"/>
              <c:spPr/>
              <c:txPr>
                <a:bodyPr/>
                <a:lstStyle/>
                <a:p>
                  <a:pPr>
                    <a:defRPr sz="1300" b="0" i="0" u="none" strike="noStrike">
                      <a:solidFill>
                        <a:srgbClr val="1E2B24"/>
                      </a:solidFill>
                      <a:latin typeface="+mn-lt"/>
                    </a:defRPr>
                  </a:pPr>
                </a:p>
              </c:txPr>
              <c:showLegendKey val="0"/>
              <c:showVal val="1"/>
              <c:showCatName val="0"/>
              <c:showSerName val="0"/>
              <c:showPercent val="0"/>
              <c:showBubbleSize val="0"/>
            </c:dLbl>
            <c:dLbl>
              <c:idx val="1"/>
              <c:numFmt formatCode="General" sourceLinked="0"/>
              <c:spPr/>
              <c:txPr>
                <a:bodyPr/>
                <a:lstStyle/>
                <a:p>
                  <a:pPr>
                    <a:defRPr sz="1300" b="0" i="0" u="none" strike="noStrike">
                      <a:solidFill>
                        <a:srgbClr val="1E2B24"/>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Sin precio</c:v>
                </c:pt>
                <c:pt idx="1">
                  <c:v>Con referencia débil (sin verificar)</c:v>
                </c:pt>
              </c:strCache>
            </c:strRef>
          </c:cat>
          <c:val>
            <c:numRef>
              <c:f>Sheet1!$B$2:$B$3</c:f>
              <c:numCache>
                <c:ptCount val="2"/>
                <c:pt idx="0">
                  <c:v>167</c:v>
                </c:pt>
                <c:pt idx="1">
                  <c:v>8</c:v>
                </c:pt>
              </c:numCache>
            </c:numRef>
          </c:val>
        </c:ser>
        <c:firstSliceAng val="0"/>
        <c:holeSize val="62"/>
      </c:doughnutChart>
      <c:spPr>
        <a:noFill/>
        <a:ln>
          <a:noFill/>
        </a:ln>
        <a:effectLst/>
      </c:spPr>
    </c:plotArea>
    <c:legend>
      <c:legendPos val="b"/>
      <c:overlay val="0"/>
      <c:txPr>
        <a:bodyPr/>
        <a:lstStyle/>
        <a:p>
          <a:pPr>
            <a:defRPr sz="1200">
              <a:solidFill>
                <a:srgbClr val="1E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A"/>
                </a:solidFill>
                <a:latin typeface="+mn-lt"/>
              </a:defRPr>
            </a:pPr>
            <a:r>
              <a:rPr sz="1400" b="0" i="0" u="none" strike="noStrike">
                <a:solidFill>
                  <a:srgbClr val="1F4D3A"/>
                </a:solidFill>
                <a:latin typeface="+mn-lt"/>
              </a:rPr>
              <a:t>Cobertura de los costos operativos por alternativa</a:t>
            </a:r>
          </a:p>
        </c:rich>
      </c:tx>
      <c:layout/>
      <c:overlay val="0"/>
    </c:title>
    <c:autoTitleDeleted val="0"/>
    <c:plotArea>
      <c:layout/>
      <c:barChart>
        <c:barDir val="col"/>
        <c:grouping val="clustered"/>
        <c:varyColors val="0"/>
        <c:ser>
          <c:idx val="0"/>
          <c:order val="0"/>
          <c:tx>
            <c:strRef>
              <c:f>Sheet1!$B$1</c:f>
              <c:strCache>
                <c:ptCount val="1"/>
                <c:pt idx="0">
                  <c:v>Sabemos qué costos existen</c:v>
                </c:pt>
              </c:strCache>
            </c:strRef>
          </c:tx>
          <c:spPr>
            <a:solidFill>
              <a:srgbClr val="1F4D3A"/>
            </a:solidFill>
            <a:effectLst/>
          </c:spPr>
          <c:invertIfNegative val="0"/>
          <c:dLbls>
            <c:numFmt formatCode="0%" sourceLinked="0"/>
            <c:txPr>
              <a:bodyPr/>
              <a:lstStyle/>
              <a:p>
                <a:pPr>
                  <a:defRPr b="0" i="0" strike="noStrike" sz="1100" u="none">
                    <a:solidFill>
                      <a:srgbClr val="1E2B24"/>
                    </a:solidFill>
                    <a:latin typeface="+mn-lt"/>
                  </a:defRPr>
                </a:pPr>
              </a:p>
            </c:txPr>
            <c:showLegendKey val="0"/>
            <c:showVal val="1"/>
            <c:showCatName val="0"/>
            <c:showSerName val="0"/>
            <c:showPercent val="0"/>
            <c:showBubbleSize val="0"/>
            <c:showLeaderLines val="0"/>
          </c:dLbls>
          <c:cat>
            <c:multiLvlStrRef>
              <c:f>Sheet1!$A$2:$A$5</c:f>
              <c:multiLvlStrCache>
                <c:ptCount val="4"/>
                <c:lvl>
                  <c:pt idx="0">
                    <c:v>C0</c:v>
                  </c:pt>
                  <c:pt idx="1">
                    <c:v>C1</c:v>
                  </c:pt>
                  <c:pt idx="2">
                    <c:v>C2</c:v>
                  </c:pt>
                  <c:pt idx="3">
                    <c:v>C3 / CF</c:v>
                  </c:pt>
                </c:lvl>
              </c:multiLvlStrCache>
            </c:multiLvlStrRef>
          </c:cat>
          <c:val>
            <c:numRef>
              <c:f>Sheet1!$B$2:$B$5</c:f>
              <c:numCache>
                <c:formatCode>General</c:formatCode>
                <c:ptCount val="4"/>
                <c:pt idx="0">
                  <c:v>1</c:v>
                </c:pt>
                <c:pt idx="1">
                  <c:v>1</c:v>
                </c:pt>
                <c:pt idx="2">
                  <c:v>1</c:v>
                </c:pt>
                <c:pt idx="3">
                  <c:v>1</c:v>
                </c:pt>
              </c:numCache>
            </c:numRef>
          </c:val>
        </c:ser>
        <c:ser>
          <c:idx val="1"/>
          <c:order val="1"/>
          <c:tx>
            <c:strRef>
              <c:f>Sheet1!$C$1</c:f>
              <c:strCache>
                <c:ptCount val="1"/>
                <c:pt idx="0">
                  <c:v>Sabemos cuántas unidades se usan</c:v>
                </c:pt>
              </c:strCache>
            </c:strRef>
          </c:tx>
          <c:spPr>
            <a:solidFill>
              <a:srgbClr val="2F6690"/>
            </a:solidFill>
            <a:effectLst/>
          </c:spPr>
          <c:invertIfNegative val="0"/>
          <c:dLbls>
            <c:numFmt formatCode="0%" sourceLinked="0"/>
            <c:txPr>
              <a:bodyPr/>
              <a:lstStyle/>
              <a:p>
                <a:pPr>
                  <a:defRPr b="0" i="0" strike="noStrike" sz="1100" u="none">
                    <a:solidFill>
                      <a:srgbClr val="1E2B24"/>
                    </a:solidFill>
                    <a:latin typeface="+mn-lt"/>
                  </a:defRPr>
                </a:pPr>
              </a:p>
            </c:txPr>
            <c:showLegendKey val="0"/>
            <c:showVal val="1"/>
            <c:showCatName val="0"/>
            <c:showSerName val="0"/>
            <c:showPercent val="0"/>
            <c:showBubbleSize val="0"/>
            <c:showLeaderLines val="0"/>
          </c:dLbls>
          <c:cat>
            <c:multiLvlStrRef>
              <c:f>Sheet1!$A$2:$A$5</c:f>
              <c:multiLvlStrCache>
                <c:ptCount val="4"/>
                <c:lvl>
                  <c:pt idx="0">
                    <c:v>C0</c:v>
                  </c:pt>
                  <c:pt idx="1">
                    <c:v>C1</c:v>
                  </c:pt>
                  <c:pt idx="2">
                    <c:v>C2</c:v>
                  </c:pt>
                  <c:pt idx="3">
                    <c:v>C3 / CF</c:v>
                  </c:pt>
                </c:lvl>
              </c:multiLvlStrCache>
            </c:multiLvlStrRef>
          </c:cat>
          <c:val>
            <c:numRef>
              <c:f>Sheet1!$C$2:$C$5</c:f>
              <c:numCache>
                <c:formatCode>General</c:formatCode>
                <c:ptCount val="4"/>
                <c:pt idx="0">
                  <c:v>0.57</c:v>
                </c:pt>
                <c:pt idx="1">
                  <c:v>0.62</c:v>
                </c:pt>
                <c:pt idx="2">
                  <c:v>0.56</c:v>
                </c:pt>
                <c:pt idx="3">
                  <c:v>0.43</c:v>
                </c:pt>
              </c:numCache>
            </c:numRef>
          </c:val>
        </c:ser>
        <c:ser>
          <c:idx val="2"/>
          <c:order val="2"/>
          <c:tx>
            <c:strRef>
              <c:f>Sheet1!$D$1</c:f>
              <c:strCache>
                <c:ptCount val="1"/>
                <c:pt idx="0">
                  <c:v>Sabemos cuánto cuestan</c:v>
                </c:pt>
              </c:strCache>
            </c:strRef>
          </c:tx>
          <c:spPr>
            <a:solidFill>
              <a:srgbClr val="E3A12F"/>
            </a:solidFill>
            <a:effectLst/>
          </c:spPr>
          <c:invertIfNegative val="0"/>
          <c:dLbls>
            <c:numFmt formatCode="0%" sourceLinked="0"/>
            <c:txPr>
              <a:bodyPr/>
              <a:lstStyle/>
              <a:p>
                <a:pPr>
                  <a:defRPr b="0" i="0" strike="noStrike" sz="1100" u="none">
                    <a:solidFill>
                      <a:srgbClr val="1E2B24"/>
                    </a:solidFill>
                    <a:latin typeface="+mn-lt"/>
                  </a:defRPr>
                </a:pPr>
              </a:p>
            </c:txPr>
            <c:showLegendKey val="0"/>
            <c:showVal val="1"/>
            <c:showCatName val="0"/>
            <c:showSerName val="0"/>
            <c:showPercent val="0"/>
            <c:showBubbleSize val="0"/>
            <c:showLeaderLines val="0"/>
          </c:dLbls>
          <c:cat>
            <c:multiLvlStrRef>
              <c:f>Sheet1!$A$2:$A$5</c:f>
              <c:multiLvlStrCache>
                <c:ptCount val="4"/>
                <c:lvl>
                  <c:pt idx="0">
                    <c:v>C0</c:v>
                  </c:pt>
                  <c:pt idx="1">
                    <c:v>C1</c:v>
                  </c:pt>
                  <c:pt idx="2">
                    <c:v>C2</c:v>
                  </c:pt>
                  <c:pt idx="3">
                    <c:v>C3 / CF</c:v>
                  </c:pt>
                </c:lvl>
              </c:multiLvlStrCache>
            </c:multiLvlStrRef>
          </c:cat>
          <c:val>
            <c:numRef>
              <c:f>Sheet1!$D$2:$D$5</c:f>
              <c:numCache>
                <c:formatCode>General</c:formatCode>
                <c:ptCount val="4"/>
                <c:pt idx="0">
                  <c:v>0.095</c:v>
                </c:pt>
                <c:pt idx="1">
                  <c:v>0.077</c:v>
                </c:pt>
                <c:pt idx="2">
                  <c:v>0.049</c:v>
                </c:pt>
                <c:pt idx="3">
                  <c:v>0</c:v>
                </c:pt>
              </c:numCache>
            </c:numRef>
          </c:val>
        </c:ser>
        <c:dLbls>
          <c:numFmt formatCode="0%" sourceLinked="0"/>
          <c:txPr>
            <a:bodyPr/>
            <a:lstStyle/>
            <a:p>
              <a:pPr>
                <a:defRPr b="0" i="0" strike="noStrike" sz="1100" u="none">
                  <a:solidFill>
                    <a:srgbClr val="1E2B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B24"/>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3A"/>
                </a:solidFill>
                <a:latin typeface="+mn-lt"/>
              </a:defRPr>
            </a:pPr>
            <a:r>
              <a:rPr sz="1400" b="0" i="0" u="none" strike="noStrike">
                <a:solidFill>
                  <a:srgbClr val="1F4D3A"/>
                </a:solidFill>
                <a:latin typeface="+mn-lt"/>
              </a:rPr>
              <a:t>Pruebas por motor económico (todas pasan)</a:t>
            </a:r>
          </a:p>
        </c:rich>
      </c:tx>
      <c:layout/>
      <c:overlay val="0"/>
    </c:title>
    <c:autoTitleDeleted val="0"/>
    <c:plotArea>
      <c:layout/>
      <c:barChart>
        <c:barDir val="bar"/>
        <c:grouping val="clustered"/>
        <c:varyColors val="0"/>
        <c:ser>
          <c:idx val="0"/>
          <c:order val="0"/>
          <c:tx>
            <c:strRef>
              <c:f>Sheet1!$B$1</c:f>
              <c:strCache>
                <c:ptCount val="1"/>
                <c:pt idx="0">
                  <c:v>pruebas</c:v>
                </c:pt>
              </c:strCache>
            </c:strRef>
          </c:tx>
          <c:spPr>
            <a:solidFill>
              <a:srgbClr val="2F6690"/>
            </a:solidFill>
            <a:effectLst/>
          </c:spPr>
          <c:invertIfNegative val="0"/>
          <c:dLbls>
            <c:numFmt formatCode="#,##0" sourceLinked="0"/>
            <c:txPr>
              <a:bodyPr/>
              <a:lstStyle/>
              <a:p>
                <a:pPr>
                  <a:defRPr b="0" i="0" strike="noStrike" sz="1200" u="none">
                    <a:solidFill>
                      <a:srgbClr val="1E2B24"/>
                    </a:solidFill>
                    <a:latin typeface="+mn-lt"/>
                  </a:defRPr>
                </a:pPr>
              </a:p>
            </c:txPr>
            <c:showLegendKey val="0"/>
            <c:showVal val="1"/>
            <c:showCatName val="0"/>
            <c:showSerName val="0"/>
            <c:showPercent val="0"/>
            <c:showBubbleSize val="0"/>
            <c:showLeaderLines val="0"/>
          </c:dLbls>
          <c:cat>
            <c:multiLvlStrRef>
              <c:f>Sheet1!$A$2:$A$5</c:f>
              <c:multiLvlStrCache>
                <c:ptCount val="4"/>
                <c:lvl>
                  <c:pt idx="0">
                    <c:v>Riesgo y optimizador</c:v>
                  </c:pt>
                  <c:pt idx="1">
                    <c:v>Modelo financiero</c:v>
                  </c:pt>
                  <c:pt idx="2">
                    <c:v>OPEX y capital de trabajo</c:v>
                  </c:pt>
                  <c:pt idx="3">
                    <c:v>CAPEX</c:v>
                  </c:pt>
                </c:lvl>
              </c:multiLvlStrCache>
            </c:multiLvlStrRef>
          </c:cat>
          <c:val>
            <c:numRef>
              <c:f>Sheet1!$B$2:$B$5</c:f>
              <c:numCache>
                <c:formatCode>General</c:formatCode>
                <c:ptCount val="4"/>
                <c:pt idx="0">
                  <c:v>69</c:v>
                </c:pt>
                <c:pt idx="1">
                  <c:v>70</c:v>
                </c:pt>
                <c:pt idx="2">
                  <c:v>78</c:v>
                </c:pt>
                <c:pt idx="3">
                  <c:v>82</c:v>
                </c:pt>
              </c:numCache>
            </c:numRef>
          </c:val>
        </c:ser>
        <c:dLbls>
          <c:numFmt formatCode="#,##0" sourceLinked="0"/>
          <c:txPr>
            <a:bodyPr/>
            <a:lstStyle/>
            <a:p>
              <a:pPr>
                <a:defRPr b="0" i="0" strike="noStrike" sz="1200" u="none">
                  <a:solidFill>
                    <a:srgbClr val="1E2B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B2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Esta presentación resume dónde está el estudio del proyecto avícola Nicas &amp; Doipe. Les adelanto el mensaje en una frase: construimos una herramienta completa para analizar el negocio (el Motor V1 y la App V1), pero todavía no tenemos los datos reales necesarios para decidir si conviene invertir. Hoy no vamos a mostrar cuánto cuesta la planta ni cuánto gana: esos números todavía no existen con respaldo. Vamos a mostrar qué se estudió, qué se puede hacer con la herramienta y qué falta conseguir. Duración sugerida: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mensajes y nada más. Primero: el motor está completo estructuralmente; es decir, todos los modelos existen, están conectados y pasan sus pruebas. Segundo: la app está lista; cualquiera puede usarla sin saber programar. Tercero, y es el más importante: el proyecto NO está listo para una decisión real de inversión. No es un problema de la herramienta: es que todavía no hay clientes confirmados, ni precios, ni cotizaciones, ni costos reales. De 180 datos que hay que validar, hoy hay 0 validados. Abajo está la clave de colores que vamos a usar en todas las láminas: verde es evidencia real (hoy prácticamente no hay), azul es una estimación del modelo, violeta es un escenario hipotético para simular, y naranja es pendiente. Si un número no tiene etiqueta verde, no es un dato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partida es concreto: una carnicería familiar en el AMBA. No hay granjas, ni frigorífico, ni terreno, ni máquinas. Hay un grupo inversor que mencionó unos 2 millones de dólares, pero no están comprometidos: los usamos solo como referencia. Y hay una red de unos 90 supermercados que podría ser un canal, pero no sabemos todavía cuánto compraría ni a qué precio. Lo que se estudia es si tiene sentido construir, por etapas, una empresa avícola integrada que pueda vender a varios canales y, más adelante, exportar. La idea central del negocio es sacar el mayor ingreso posible de cada pollo, vendiendo cada parte donde mejor se paga. Y nada se da por sentado: cada eslabón —granjas, alimento, faena, flota— se analiza para ver si conviene hacerlo, comprarlo, tercerizarlo o dejarlo para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funciona el negocio del pollo parrillero, de izquierda a derecha. Se compra o se produce un pollito de un día. Se cría en una granja, en galpones. Lo que más se mueve en todo el sistema es el alimento: son miles de toneladas por año. Cuando el pollo llega al peso, se lo transporta vivo a la planta. En la planta se faena, se enfría, se corta en trozos y se empaca. Salen productos —pollo entero, cortes, menudencias— que van a distintos clientes. Abajo están las ramas que no se ven pero pesan mucho: los subproductos (plumas, sangre, vísceras), el agua sucia que hay que tratar, el frío, y la exportación como canal futuro. Cada uno de estos bloques es un tema que se estudió por separado y después se conectó con los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todo lo que se estudió. No es solo una planilla de costos: se modeló la producción en granja, qué sale de cada pollo, la planta y sus etapas, las máquinas necesarias, el agua, los efluentes, la energía, el frío, el terreno, la logística, dónde podría ubicarse la planta, el personal, el alimento y la incubación, la inversión, los costos, las finanzas, los riesgos y, al final, una app para usar todo junto. Son 25 módulos y todos están terminados como modelo. Pero ninguno está validado con datos de campo: los números físicos son estimaciones del modelo, y los números económicos directamente no existen todavía.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es clave. No toda la demanda vale lo mismo. De izquierda a derecha: un escenario es una hipótesis nuestra para simular. Potencial es un canal posible, sin ningún compromiso. Interesada es cuando alguien dice «me interesa», pero sin volumen firme. Negociada es cuando ya se habla de volumen y precio. Y asegurada es cuando hay un contrato o una compra documentada. Los 90 supermercados hoy están en «potencial»: no sabemos cuánto comprarían, a qué precio, ni con qué plazo de pago. Por eso la demanda documentada hoy es prácticamente cero. El motor respeta esto: cuando trabaja con datos reales, solo cuenta como venta lo asegurado. Si queremos imaginar que los supermercados compran, lo podemos simular, pero queda rotulado como escenario. Y aunque se confirmen, los supermercados no definen el tamaño de la empresa: pueden ser un cliente ancla, pero el resto del pollo tiene que ir a otros canales.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cinco formas de armar la empresa, y las llamamos C0 a CF. C0 es el arranque liviano: casi sin activos propios. Compramos pollitos, los crían productores integrados y otro frigorífico los faena por nosotros cobrando una tarifa; eso se llama façon. C1 es tener nuestra propia planta de faena, pero seguir comprando pollito y alimento y trabajar con granjas de terceros. C2 suma una parte de granjas propias. C3 integra casi todo: granjas, incubadora y planta de alimento. Y CF es una visión futura, con reproductoras y procesamiento propio de subproductos. De izquierda a derecha aumenta la inversión propia, el control y la complejidad; hacia la izquierda se depende más de terceros. Importante: ninguna está elegida, y hoy ninguna se puede costear porque faltan precios. No hay que suponer que la integración total es mejor: eso lo tienen que decir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estudiaron cuatro tamaños de planta de referencia, medidos en aves faenadas por día: 2.500, 5.000, 10.000 y 20.000. Para dar una idea: una planta de 10.000 aves por día faena unos 2,5 millones de pollos por año, necesita unos 52.800 pollitos por semana y unas 12.400 toneladas de alimento por año. Estos números son estimaciones del modelo, no datos de campo. El recuadro azul de cada columna dice cuánto habría que vender para llenar esa planta. Por ejemplo, 20.000 aves por día equivalen a unos 365 kilos por local y por día si todo fuera a los 90 supermercados, que es más de lo que el rango de la red parece absorber. El mensaje de fondo: tener capacidad no significa vender. Con la demanda documentada de hoy, que es casi cero, ninguna escala está justificada. La escala se elige después de validar la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pasa adentro de la planta, simplificado en doce pasos. Arriba, la zona sucia: el pollo llega vivo, se lo cuelga, se lo aturde para que no sufra, se lo desangra, se lo escalda con agua caliente y se le sacan las plumas. Después pasa a la zona limpia, separada por higiene: se lo eviscera con inspección veterinaria, se lo enfría —que es un punto crítico de inocuidad—, se lo corta, se lo empaca, se guarda en frío y se despacha. En el modelo completo son 32 etapas, más las salas de garras, menudencias y carcasa. Algo importante: lo que dice un catálogo de fabricante no es la capacidad real de la planta. Eso se conoce con una cotización formal y visitando plantas en funcionamiento. Todavía no se pidieron cotizaciones ni se eligió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un pollo vivo de 2,9 kilos, según el modelo, salen unos 780 gramos de pechuga con hueso, unos 630 de pata-muslo, casi 400 de carcasa, unos 200 de alas, y después menudencias, patas, sangre, plumas, vísceras, cuello y cabeza. Son estimaciones con rendimientos de referencia; falta medirlo en una planta argentina. A la derecha, una aclaración importante: el mismo pollo no se puede vender de todas las formas a la vez. O se vende entero, o trozado, o deshuesado. Y la carcasa o se vende, o se convierte en carne mecánicamente separada, o va a rendering. Por eso no se suman los kilos de rutas distintas. El objetivo del negocio es que cada parte vaya al mercado que más la paga: por ejemplo, garras para exportación, pechuga al supermercado. Para calcular eso hacen falta precios por producto y canal, que todavía no tenemos.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¿Dónde iría la planta? Se estudiaron 13 corredores en cinco provincias: Buenos Aires, Entre Ríos, Santa Fe, Córdoba y Chaco. Están listados sin orden de preferencia. Se armó una matriz para compararlos con decenas de criterios: distancia al mercado, granjas cercanas, granos, agua, energía, rutas, costo de la tierra, riesgo sanitario. Pero de 624 casilleros de esa matriz, hoy hay cero verificados. Por eso el modelo no da un ganador, y lo dice explícitamente en lugar de inventar un orden. Hay cuatro condiciones que pueden descartar un terreno concreto: que el uso de suelo no lo permita, que no haya agua, que no se puedan tratar los efluentes o que no llegue la energía. Otras —vecinos, accesos, inundabilidad, gas, potencia, a quién se le venden los subproductos— no descartan, pero encarecen o condicionan. Y un punto de método: tener un contacto en Chaco es una ventaja, pero no es un criterio para elegir.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dibujo de la izquierda no es un plano: es un esquema de qué ocupa lugar en el terreno. La planta construida, las cámaras de frío, la planta de tratamiento de efluentes, una reserva para crecer y los accesos para camiones. El modelo estima un terreno conceptual de unas 2 hectáreas para la escala más chica y unas 4,4 para la más grande. Es un orden de magnitud. La planta se organizó en 54 áreas y 9 zonas, respetando los flujos de higiene. Pero no hay planos ni anteproyecto. ¿Por qué el terreno real puede ser distinto? Porque depende de lo que permita el municipio, de qué tecnología se use para tratar los efluentes, y de cuánto se quiera reservar para crecer. Esa última es una decisión todavía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CAPEX es la inversión: lo que hay que comprar o construir antes de operar. El motor ya tiene la lista: 175 conceptos de inversión, según la alternativa y la escala. Lo que no tiene son precios. 167 conceptos no tienen ningún precio, y los 8 que tienen alguna referencia son débiles: salieron de notas de prensa o páginas web, sin verificar. Por eso el motor responde «no disponible» en lugar de dar un total engañoso. Y por eso tampoco comparamos con los 2 millones: con 1 o 2 % de los precios no se puede decir ni que alcanza ni que no alcanza. Para tener un total hacen falta cotizaciones de la línea de faena, el frío, los efluentes, la obra civil, el terreno, los galpones si hubiera granjas propias, y la importación e instalación.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OPEX son los costos de operar: alimento, pollitos, sueldos, energía, fletes. El gráfico muestra tres niveles de conocimiento para cada alternativa. La barra verde oscura dice que conocemos el 100 % de los costos que existen: sabemos qué hay que pagar. La azul dice que de entre el 43 y el 62 % sabemos cuántas unidades se usan. Y la amarilla, casi invisible, dice cuánto sabemos de cuánto cuestan: menos del 10 %. Con esto no se puede calcular el costo por pollo ni el capital de trabajo. Faltan, sobre todo, precios de alimento, pollito, tarifa de façon, sueldos, servicios, fletes y los plazos de pago. El capital de trabajo es la plata que queda atada en mercadería y en lo que los clientes todavía no pagaron; en avicultura puede ser importante y por eso el modelo lo trata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financiero es el que junta todo y calcula los indicadores clásicos. A la izquierda, en castellano: EBITDA es lo que deja la operación; el flujo de caja es la plata que genera el proyecto después de invertir; el VAN dice cuánto valor crea por encima de lo que se le exige; la TIR es la rentabilidad implícita; el payback es cuánto tarda en recuperar la inversión; y el DSCR mide si alcanza la caja para pagar la deuda. El modelo funciona en dos modos. En modo evidencia, solo con datos reales, hoy no puede publicar ningún resultado: de las 61 corridas de referencia del modelo, 42 son en modo evidencia y ninguna es publicable (las otras 19 son plantillas de escenario sin datos cargados, tampoco publicables). Lo mismo con las 54 alternativas del optimizador. Eso es lo correcto, porque no hay precios. En modo escenario, sí puede simular: si cargamos precios y costos hipotéticos, calcula todo, pero el resultado sale marcado como simulación y nunca se guarda como si fuera real. Un hallazgo ya útil: la plata que hace falta no es solo la inversión en la planta. Hay que sumar las pérdidas del arranque y el capital de trabajo; por eso el modelo mide el pico de fondos.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capa sirve para preguntar «¿y si…?». La sensibilidad mueve una variable por vez: ¿qué pasa si el alimento sube un 20 %? El stress mueve varias juntas, como en una crisis. Los puntos de quiebre buscan el límite: ¿hasta qué precio de venta el proyecto sigue en pie? El Monte Carlo está preparado, pero no lo usamos porque inventar probabilidades sería engañoso. Y el optimizador compara alternativas según el objetivo que elija el inversor: ganar más, invertir menos, recuperar rápido o arriesgar menos. Algo muy importante: el optimizador puede responder «no invertir aún». No es un error ni un fracaso; es una respuesta válida cuando los datos dicen que ninguna opción cumple las condiciones. Además hay 34 riesgos identificados —gripe aviar, precio de granos, tipo de cambio, energía— cuya probabilidad específica para este proyecto todavía no se puede estimar. Todo esto hoy funciona solo con escenarios hipotéticos, porque con datos reales no hay todavía resultados que estresar.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pantalla de inicio real de la app. Tiene cuatro botones grandes: entender el proyecto, simular un escenario, comparar u optimizar, y ver qué falta validar. Debajo está el resumen de dónde estamos parados: motor completo, datos físicos parciales, datos económicos muy incompletos, evidencia cero por ciento y decisión real no disponible. Es la misma conclusión de esta presentación, y la app la muestra siempre. Está pensada para alguien que no es ingeniero ni financista: cada tema se explica con cinco preguntas simples, y cada palabra técnica tiene un signo de pregunta con una explicación corta. Se usa en una computadora, sin internet, ejecutando un solo comando.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el modo simple: cinco preguntas, una por pantalla. Qué querés lograr, cuánto capital querés simular, cuánta demanda, qué alternativa y si tenés precios. Si no se sabe algo, se responde «no sé» y la app lo deja como pendiente; nunca lo rellena con un cero, porque eso daría resultados falsos. Por ejemplo, si no se carga demanda, no hay ventas y la app no calcula rentabilidad. Y los 2 millones no se usan por defecto. A la derecha, la pantalla que explica qué se puede simular hoy y qué no se puede decidir. El modo experto permite tocar todos los datos del motor, para quien quiera analizar en detalle. Todo lo que calcula la app con datos inventados por el usuario sale con la etiqueta simulación, en violeta, arriba de 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trabajo que sigue. Todo lo que falta se agrupó en 12 paquetes, cada uno con a quién hay que pedirle, qué pedir y en qué unidad. Los cinco en rojo son prioridad uno: clientes, planta y maquinaria, alimento, pollitos y granjas. Sin ellos, ningún resultado económico se puede publicar, en ninguna alternativa. Los naranjas son prioridad dos: agua y energía, terreno, logística, personal, impuestos y financiamiento; completan los costos y el flujo de fondos. Exportación queda para una etapa futura. Dentro de cada prioridad están empatados: el modelo no inventa un orden que los datos no dan. A la derecha se ve cómo la app muestra esta lista, con casilleros que solo se marcan cuando hay evidencia. Hoy, de 180 datos, cero validados.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camino que recomendamos para el estudio; no es un plan de inversión. Fase uno: validar la demanda. Hablar con compras de la red de supermercados y con otros canales para conseguir volúmenes por producto, precios, plazos de pago y, si se puede, cartas de intención. Fase dos: cotizar. Tarifa de faena a façon, una línea de faena, alimento, pollitos y productores que puedan integrarse. Estas dos fases son las más urgentes y pueden ir en paralelo. Fase tres: terreno y servicios, con municipios, distribuidoras de energía y de agua. Fase cuatro: cargar todo en el motor y correr escenarios con datos reales, sensibilidades y stress. Fase cinco: recién ahí, decidir. Y la decisión puede ser invertir, empezar liviano, esperar o no invertir. No ponemos fechas porque dependen de cuándo respondan los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grandes decisiones que siguen abiertas. El tamaño de la planta. La arquitectura, de C0 a CF. Dónde y qué terreno. Si la faena es propia o a façon. Si el alimento se compra, se encarga a façon o se fabrica. Si el pollito se compra o se incuba. Si los camiones son propios o tercerizados. Y cómo se financia. En total hay 104 decisiones registradas en el proyecto y ninguna está cerrada. Algunas no son técnicas sino del inversor: qué objetivo prioriza, cuánto capital está realmente dispuesto a poner y bajo qué condiciones. Esas respuestas son también datos que el motor necesita.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ser claros sobre qué se puede hacer con esto hoy. No se puede decidir si conviene invertir, ni cuánto, ni qué tamaño, ni qué alternativa, ni dónde, ni con qué proveedor. Cualquier respuesta a eso hoy sería una opinión, no un resultado del estudio. Lo que sí se puede decidir desde hoy: qué datos salir a buscar primero, a quién pedírselos y en qué formato; qué escenarios simular en la app para entender qué variables pesan más; mantener las cinco alternativas abiertas, sin descartar ninguna sin datos; y, del lado del inversor, definir su objetivo, cuánto capital pondría de verdad y con qué condiciones.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mismas tres frases del principio. El motor está completo estructuralmente. La app está lista. Y el proyecto no está listo para una decisión real, porque faltan los datos. El próximo paso no es más modelado: es salir a la cancha. Hablar con clientes, pedir cotizaciones, conocer terrenos y proveedores. Con esos datos, el motor va a poder decir si el proyecto conviene, en qué forma y con cuánto capital. Hoy el estudio no dice si conviene; dice qué hay que conseguir para saberlo.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láminas que siguen son de respaldo. No hace falta presentarlas a la familia ni a los socios; sirven para profesores o para quien quiera ver cómo está construido el motor y cómo se controló.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está armado el sistema. A la izquierda, todos los modelos físicos, que calculan cantidades: aves, kilos, metros cuadrados, kilovatios, personas. Esas cantidades alimentan dos motores económicos: el de inversión, que arma la lista de activos, y el de costos operativos y capital de trabajo. Los dos alimentan al modelo financiero mensual. Encima, la capa de riesgo y el optimizador usan el modelo financiero como función de evaluación, sin copiar fórmulas. La app no calcula nada propio: llama al motor y muestra sus resultados con sus etiquetas. Hay dos universos que no se mezclan: evidencia, con datos verificados, y escenario, con hipótesis. Y las cinco arquitecturas se definen en un solo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motor clasifica cada precio o dato por nivel de evidencia. E1 es una cotización formal para este proyecto; E2, un precio directo de proveedor; E3, una referencia documentada que se leyó en el original. Solo esos tres cuentan para publicar resultados, y ese umbral es configurable. E4 es lo visto en prensa o en un buscador sin leer el original; E5, un supuesto de ingeniería. Esos no se usan. Y si no hay dato, queda pendiente: nunca se reemplaza por cero. A la derecha, las reglas que el motor hace cumplir. Hoy la cobertura de evidencia es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sabemos que el motor hace bien las cuentas. Hay 70 pruebas de integración entre módulos y todas pasan. Además se introdujeron 15 errores a propósito —por ejemplo, contar dos veces la electricidad del frío o usar un precio de prensa como si fuera verificado— y las pruebas detectaron los 15. Cada motor económico tiene su propia batería: entre 69 y 82 pruebas. La app tiene 52 pruebas de backend y 19 flujos probados en navegador. Pero ojo: las pruebas garantizan coherencia interna, no que los datos sean correctos. Eso solo lo resuelve el trabajo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tensión es una inconsistencia o un problema conocido que no se pudo resolver con la información disponible. La auditoría final registró 76: 71 siguen abiertas, 4 se corrigieron y 1 quedó mitigada en el motor. Las principales: no hay precios; los rendimientos del pollo no se midieron en una planta; no se puede comparar el capital necesario con los 2 millones; los módulos de granjas, incubadora y planta de alimento no tienen personal ni consumos dimensionados; falta una definición fiscal sobre ingresos brutos en exportaciones; y hoy es imposible comparar alternativas porque ninguna se puede costear. Se dejan explícitas para no esconderlas.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 los términos que aparecen en la presentación, en una línea cada uno. El glosario completo del proyecto, con más de un centenar de términos, está en la carpeta de gestión del proyecto y también en el diccionario de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4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680960" cy="155448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rtlCol="0"/>
          <a:lstStyle>
            <a:lvl1pPr algn="l" indent="0" marL="0">
              <a:buNone/>
              <a:defRPr lang="en-US" sz="3200" b="1" dirty="0">
                <a:solidFill>
                  <a:srgbClr val="1F4D3A"/>
                </a:solidFill>
              </a:defRPr>
            </a:lvl1pPr>
          </a:lstStyle>
          <a:p>
            <a:pPr algn="l" indent="0" marL="0">
              <a:buNone/>
            </a:pPr>
            <a:endParaRPr lang="en-US" sz="3200" dirty="0"/>
          </a:p>
        </p:txBody>
      </p:sp>
      <p:sp>
        <p:nvSpPr>
          <p:cNvPr id="3" name="Text 0"/>
          <p:cNvSpPr/>
          <p:nvPr/>
        </p:nvSpPr>
        <p:spPr>
          <a:xfrm>
            <a:off x="548640" y="6419088"/>
            <a:ext cx="10241280" cy="274320"/>
          </a:xfrm>
          <a:prstGeom prst="rect">
            <a:avLst/>
          </a:prstGeom>
          <a:noFill/>
          <a:ln/>
        </p:spPr>
        <p:txBody>
          <a:bodyPr wrap="square" lIns="0" tIns="0" rIns="0" bIns="0" rtlCol="0" anchor="ctr"/>
          <a:lstStyle/>
          <a:p>
            <a:pPr indent="0" marL="0">
              <a:buNone/>
            </a:pPr>
            <a:r>
              <a:rPr lang="en-US" sz="1000" dirty="0">
                <a:solidFill>
                  <a:srgbClr val="5F6B66"/>
                </a:solidFill>
              </a:rPr>
              <a:t>Proyecto avícola Nicas &amp; Doipe · Paquete ejecutivo V1 · 2026-10-05 · Documento de estudio: no es una recomendación de inversión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rgbClr val="1F4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10881360" cy="109728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nvSpPr>
        <p:spPr>
          <a:xfrm>
            <a:off x="548640" y="6419088"/>
            <a:ext cx="10241280" cy="274320"/>
          </a:xfrm>
          <a:prstGeom prst="rect">
            <a:avLst/>
          </a:prstGeom>
          <a:noFill/>
          <a:ln/>
        </p:spPr>
        <p:txBody>
          <a:bodyPr wrap="square" lIns="0" tIns="0" rIns="0" bIns="0" rtlCol="0" anchor="ctr"/>
          <a:lstStyle/>
          <a:p>
            <a:pPr indent="0" marL="0">
              <a:buNone/>
            </a:pPr>
            <a:r>
              <a:rPr lang="en-US" sz="1000" dirty="0">
                <a:solidFill>
                  <a:srgbClr val="B9CCC0"/>
                </a:solidFill>
              </a:rPr>
              <a:t>Proyecto avícola Nicas &amp; Doipe · Paquete ejecutivo V1 · 2026-10-05 · Documento de estudio: no es una recomendación de inversión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CC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rgbClr val="1F4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85800"/>
            <a:ext cx="7680960" cy="91440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nvSpPr>
        <p:spPr>
          <a:xfrm>
            <a:off x="548640" y="6419088"/>
            <a:ext cx="10241280" cy="274320"/>
          </a:xfrm>
          <a:prstGeom prst="rect">
            <a:avLst/>
          </a:prstGeom>
          <a:noFill/>
          <a:ln/>
        </p:spPr>
        <p:txBody>
          <a:bodyPr wrap="square" lIns="0" tIns="0" rIns="0" bIns="0" rtlCol="0" anchor="ctr"/>
          <a:lstStyle/>
          <a:p>
            <a:pPr indent="0" marL="0">
              <a:buNone/>
            </a:pPr>
            <a:r>
              <a:rPr lang="en-US" sz="1000" dirty="0">
                <a:solidFill>
                  <a:srgbClr val="B9CCC0"/>
                </a:solidFill>
              </a:rPr>
              <a:t>Proyecto avícola Nicas &amp; Doipe · Paquete ejecutivo V1 · 2026-10-05 · Documento de estudio: no es una recomendación de inversión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CC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3.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3.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slideLayout" Target="../slideLayouts/slideLayout3.xml"/><Relationship Id="rId1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3.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5.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680960" cy="1554480"/>
          </a:xfrm>
          <a:prstGeom prst="rect">
            <a:avLst/>
          </a:prstGeom>
          <a:noFill/>
          <a:ln/>
        </p:spPr>
        <p:txBody>
          <a:bodyPr wrap="square" lIns="0" tIns="0" rIns="0" bIns="0" rtlCol="0" anchor="b"/>
          <a:lstStyle/>
          <a:p>
            <a:pPr algn="l" indent="0" marL="0">
              <a:buNone/>
            </a:pPr>
            <a:r>
              <a:rPr lang="en-US" sz="4400" b="1" dirty="0">
                <a:solidFill>
                  <a:srgbClr val="FFFFFF"/>
                </a:solidFill>
              </a:rPr>
              <a:t>Proyecto avícola Nicas &amp; Doipe</a:t>
            </a:r>
            <a:endParaRPr lang="en-US" sz="4400" dirty="0"/>
          </a:p>
        </p:txBody>
      </p:sp>
      <p:sp>
        <p:nvSpPr>
          <p:cNvPr id="3" name="Text 1"/>
          <p:cNvSpPr txBox="1"/>
          <p:nvPr/>
        </p:nvSpPr>
        <p:spPr>
          <a:xfrm>
            <a:off x="640080" y="3108960"/>
            <a:ext cx="7680960" cy="548640"/>
          </a:xfrm>
          <a:prstGeom prst="rect">
            <a:avLst/>
          </a:prstGeom>
          <a:noFill/>
          <a:ln/>
        </p:spPr>
        <p:txBody>
          <a:bodyPr wrap="square" lIns="0" tIns="0" rIns="0" bIns="0" rtlCol="0" anchor="t"/>
          <a:lstStyle/>
          <a:p>
            <a:pPr indent="0" marL="0">
              <a:buNone/>
            </a:pPr>
            <a:r>
              <a:rPr lang="en-US" sz="2600" b="1" dirty="0">
                <a:solidFill>
                  <a:srgbClr val="E3A12F"/>
                </a:solidFill>
              </a:rPr>
              <a:t>Motor V1 + App V1 · Paquete ejecutivo</a:t>
            </a:r>
            <a:endParaRPr lang="en-US" sz="2600" dirty="0"/>
          </a:p>
        </p:txBody>
      </p:sp>
      <p:sp>
        <p:nvSpPr>
          <p:cNvPr id="4" name="Text 2"/>
          <p:cNvSpPr txBox="1"/>
          <p:nvPr/>
        </p:nvSpPr>
        <p:spPr>
          <a:xfrm>
            <a:off x="640080" y="3703320"/>
            <a:ext cx="7680960" cy="365760"/>
          </a:xfrm>
          <a:prstGeom prst="rect">
            <a:avLst/>
          </a:prstGeom>
          <a:noFill/>
          <a:ln/>
        </p:spPr>
        <p:txBody>
          <a:bodyPr wrap="square" lIns="0" tIns="0" rIns="0" bIns="0" rtlCol="0" anchor="t"/>
          <a:lstStyle/>
          <a:p>
            <a:pPr indent="0" marL="0">
              <a:buNone/>
            </a:pPr>
            <a:r>
              <a:rPr lang="en-US" sz="1600" dirty="0">
                <a:solidFill>
                  <a:srgbClr val="D7E4DB"/>
                </a:solidFill>
              </a:rPr>
              <a:t>Estudio de prefactibilidad · Fase 0 · Argentina · 2026-10-05</a:t>
            </a:r>
            <a:endParaRPr lang="en-US" sz="1600" dirty="0"/>
          </a:p>
        </p:txBody>
      </p:sp>
      <p:sp>
        <p:nvSpPr>
          <p:cNvPr id="5" name="estado MOTOR V1"/>
          <p:cNvSpPr txBox="1"/>
          <p:nvPr/>
        </p:nvSpPr>
        <p:spPr>
          <a:xfrm>
            <a:off x="640080" y="4709160"/>
            <a:ext cx="3927348" cy="384048"/>
          </a:xfrm>
          <a:prstGeom prst="roundRect">
            <a:avLst>
              <a:gd name="adj" fmla="val 47619"/>
            </a:avLst>
          </a:prstGeom>
          <a:solidFill>
            <a:srgbClr val="2E7D4F"/>
          </a:solidFill>
          <a:ln/>
        </p:spPr>
        <p:txBody>
          <a:bodyPr wrap="square" lIns="0" tIns="0" rIns="0" bIns="0" rtlCol="0" anchor="ctr"/>
          <a:lstStyle/>
          <a:p>
            <a:pPr algn="ctr" indent="0" marL="0">
              <a:buNone/>
            </a:pPr>
            <a:r>
              <a:rPr lang="en-US" sz="1300" dirty="0">
                <a:solidFill>
                  <a:srgbClr val="D7E4DB"/>
                </a:solidFill>
              </a:rPr>
              <a:t>MOTOR V1  </a:t>
            </a:r>
            <a:pPr algn="ctr" indent="0" marL="0">
              <a:buNone/>
            </a:pPr>
            <a:r>
              <a:rPr lang="en-US" sz="1300" b="1" dirty="0">
                <a:solidFill>
                  <a:srgbClr val="FFFFFF"/>
                </a:solidFill>
              </a:rPr>
              <a:t>COMPLETO ESTRUCTURALMENTE</a:t>
            </a:r>
            <a:endParaRPr lang="en-US" sz="1300" dirty="0"/>
          </a:p>
        </p:txBody>
      </p:sp>
      <p:sp>
        <p:nvSpPr>
          <p:cNvPr id="6" name="estado APP V1"/>
          <p:cNvSpPr txBox="1"/>
          <p:nvPr/>
        </p:nvSpPr>
        <p:spPr>
          <a:xfrm>
            <a:off x="4732020" y="4709160"/>
            <a:ext cx="1613916" cy="384048"/>
          </a:xfrm>
          <a:prstGeom prst="roundRect">
            <a:avLst>
              <a:gd name="adj" fmla="val 47619"/>
            </a:avLst>
          </a:prstGeom>
          <a:solidFill>
            <a:srgbClr val="2E7D4F"/>
          </a:solidFill>
          <a:ln/>
        </p:spPr>
        <p:txBody>
          <a:bodyPr wrap="square" lIns="0" tIns="0" rIns="0" bIns="0" rtlCol="0" anchor="ctr"/>
          <a:lstStyle/>
          <a:p>
            <a:pPr algn="ctr" indent="0" marL="0">
              <a:buNone/>
            </a:pPr>
            <a:r>
              <a:rPr lang="en-US" sz="1300" dirty="0">
                <a:solidFill>
                  <a:srgbClr val="D7E4DB"/>
                </a:solidFill>
              </a:rPr>
              <a:t>APP V1  </a:t>
            </a:r>
            <a:pPr algn="ctr" indent="0" marL="0">
              <a:buNone/>
            </a:pPr>
            <a:r>
              <a:rPr lang="en-US" sz="1300" b="1" dirty="0">
                <a:solidFill>
                  <a:srgbClr val="FFFFFF"/>
                </a:solidFill>
              </a:rPr>
              <a:t>LISTA</a:t>
            </a:r>
            <a:endParaRPr lang="en-US" sz="1300" dirty="0"/>
          </a:p>
        </p:txBody>
      </p:sp>
      <p:sp>
        <p:nvSpPr>
          <p:cNvPr id="7" name="estado DECISIÓN REAL"/>
          <p:cNvSpPr txBox="1"/>
          <p:nvPr/>
        </p:nvSpPr>
        <p:spPr>
          <a:xfrm>
            <a:off x="6510528" y="4709160"/>
            <a:ext cx="2875788" cy="384048"/>
          </a:xfrm>
          <a:prstGeom prst="roundRect">
            <a:avLst>
              <a:gd name="adj" fmla="val 47619"/>
            </a:avLst>
          </a:prstGeom>
          <a:solidFill>
            <a:srgbClr val="B3261E"/>
          </a:solidFill>
          <a:ln/>
        </p:spPr>
        <p:txBody>
          <a:bodyPr wrap="square" lIns="0" tIns="0" rIns="0" bIns="0" rtlCol="0" anchor="ctr"/>
          <a:lstStyle/>
          <a:p>
            <a:pPr algn="ctr" indent="0" marL="0">
              <a:buNone/>
            </a:pPr>
            <a:r>
              <a:rPr lang="en-US" sz="1300" dirty="0">
                <a:solidFill>
                  <a:srgbClr val="D7E4DB"/>
                </a:solidFill>
              </a:rPr>
              <a:t>DECISIÓN REAL  </a:t>
            </a:r>
            <a:pPr algn="ctr" indent="0" marL="0">
              <a:buNone/>
            </a:pPr>
            <a:r>
              <a:rPr lang="en-US" sz="1300" b="1" dirty="0">
                <a:solidFill>
                  <a:srgbClr val="FFFFFF"/>
                </a:solidFill>
              </a:rPr>
              <a:t>TODAVÍA NO</a:t>
            </a:r>
            <a:endParaRPr lang="en-US" sz="1300" dirty="0"/>
          </a:p>
        </p:txBody>
      </p:sp>
      <p:sp>
        <p:nvSpPr>
          <p:cNvPr id="8" name="Text 6"/>
          <p:cNvSpPr txBox="1"/>
          <p:nvPr/>
        </p:nvSpPr>
        <p:spPr>
          <a:xfrm>
            <a:off x="640080" y="5989320"/>
            <a:ext cx="8229600" cy="320040"/>
          </a:xfrm>
          <a:prstGeom prst="rect">
            <a:avLst/>
          </a:prstGeom>
          <a:noFill/>
          <a:ln/>
        </p:spPr>
        <p:txBody>
          <a:bodyPr wrap="square" lIns="0" tIns="0" rIns="0" bIns="0" rtlCol="0" anchor="t"/>
          <a:lstStyle/>
          <a:p>
            <a:pPr indent="0" marL="0">
              <a:buNone/>
            </a:pPr>
            <a:r>
              <a:rPr lang="en-US" sz="1200" dirty="0">
                <a:solidFill>
                  <a:srgbClr val="B9CCC0"/>
                </a:solidFill>
              </a:rPr>
              <a:t>Documento de estudio. No contiene una recomendación de inversión ni resultados económicos reales.</a:t>
            </a:r>
            <a:endParaRPr lang="en-US" sz="1200" dirty="0"/>
          </a:p>
        </p:txBody>
      </p:sp>
      <p:sp>
        <p:nvSpPr>
          <p:cNvPr id="9" name="círculo portada"/>
          <p:cNvSpPr/>
          <p:nvPr/>
        </p:nvSpPr>
        <p:spPr>
          <a:xfrm>
            <a:off x="8732520" y="1325880"/>
            <a:ext cx="2926080" cy="2926080"/>
          </a:xfrm>
          <a:prstGeom prst="ellipse">
            <a:avLst/>
          </a:prstGeom>
          <a:solidFill>
            <a:srgbClr val="2C6650"/>
          </a:solidFill>
          <a:ln w="12700">
            <a:solidFill>
              <a:srgbClr val="2C6650"/>
            </a:solidFill>
            <a:prstDash val="solid"/>
          </a:ln>
        </p:spPr>
      </p:sp>
      <p:pic>
        <p:nvPicPr>
          <p:cNvPr id="10" name="Image 0" descr="pollo">    </p:cNvPr>
          <p:cNvPicPr>
            <a:picLocks noChangeAspect="1"/>
          </p:cNvPicPr>
          <p:nvPr/>
        </p:nvPicPr>
        <p:blipFill>
          <a:blip r:embed="rId1"/>
          <a:stretch>
            <a:fillRect/>
          </a:stretch>
        </p:blipFill>
        <p:spPr>
          <a:xfrm>
            <a:off x="9326880" y="1920240"/>
            <a:ext cx="1737360" cy="1737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Mensaje ejecutivo</a:t>
            </a:r>
            <a:endParaRPr lang="en-US" sz="3200" dirty="0"/>
          </a:p>
        </p:txBody>
      </p:sp>
      <p:sp>
        <p:nvSpPr>
          <p:cNvPr id="3" name="tarjeta"/>
          <p:cNvSpPr/>
          <p:nvPr/>
        </p:nvSpPr>
        <p:spPr>
          <a:xfrm>
            <a:off x="548640" y="1371600"/>
            <a:ext cx="3557016" cy="2606040"/>
          </a:xfrm>
          <a:prstGeom prst="roundRect">
            <a:avLst>
              <a:gd name="adj" fmla="val 2807"/>
            </a:avLst>
          </a:prstGeom>
          <a:solidFill>
            <a:srgbClr val="EAF2EC"/>
          </a:solidFill>
          <a:ln w="9525">
            <a:solidFill>
              <a:srgbClr val="EAF2EC"/>
            </a:solidFill>
            <a:prstDash val="solid"/>
          </a:ln>
        </p:spPr>
      </p:sp>
      <p:sp>
        <p:nvSpPr>
          <p:cNvPr id="4" name="círculo FaCogs"/>
          <p:cNvSpPr/>
          <p:nvPr/>
        </p:nvSpPr>
        <p:spPr>
          <a:xfrm>
            <a:off x="822960" y="1600200"/>
            <a:ext cx="685800" cy="685800"/>
          </a:xfrm>
          <a:prstGeom prst="ellipse">
            <a:avLst/>
          </a:prstGeom>
          <a:solidFill>
            <a:srgbClr val="2E7D4F"/>
          </a:solidFill>
          <a:ln w="12700">
            <a:solidFill>
              <a:srgbClr val="2E7D4F"/>
            </a:solidFill>
            <a:prstDash val="solid"/>
          </a:ln>
        </p:spPr>
      </p:sp>
      <p:pic>
        <p:nvPicPr>
          <p:cNvPr id="5" name="Image 0" descr="FaCogs">    </p:cNvPr>
          <p:cNvPicPr>
            <a:picLocks noChangeAspect="1"/>
          </p:cNvPicPr>
          <p:nvPr/>
        </p:nvPicPr>
        <p:blipFill>
          <a:blip r:embed="rId1"/>
          <a:stretch>
            <a:fillRect/>
          </a:stretch>
        </p:blipFill>
        <p:spPr>
          <a:xfrm>
            <a:off x="987552" y="1764792"/>
            <a:ext cx="356616" cy="356616"/>
          </a:xfrm>
          <a:prstGeom prst="rect">
            <a:avLst/>
          </a:prstGeom>
        </p:spPr>
      </p:pic>
      <p:sp>
        <p:nvSpPr>
          <p:cNvPr id="6" name="Text 3"/>
          <p:cNvSpPr txBox="1"/>
          <p:nvPr/>
        </p:nvSpPr>
        <p:spPr>
          <a:xfrm>
            <a:off x="1645920" y="1645920"/>
            <a:ext cx="2331720" cy="548640"/>
          </a:xfrm>
          <a:prstGeom prst="rect">
            <a:avLst/>
          </a:prstGeom>
          <a:noFill/>
          <a:ln/>
        </p:spPr>
        <p:txBody>
          <a:bodyPr wrap="square" lIns="0" tIns="0" rIns="0" bIns="0" rtlCol="0" anchor="ctr"/>
          <a:lstStyle/>
          <a:p>
            <a:pPr indent="0" marL="0">
              <a:buNone/>
            </a:pPr>
            <a:r>
              <a:rPr lang="en-US" sz="1300" b="1" dirty="0">
                <a:solidFill>
                  <a:srgbClr val="5F6B66"/>
                </a:solidFill>
              </a:rPr>
              <a:t>MOTOR V1</a:t>
            </a:r>
            <a:endParaRPr lang="en-US" sz="1300" dirty="0"/>
          </a:p>
        </p:txBody>
      </p:sp>
      <p:sp>
        <p:nvSpPr>
          <p:cNvPr id="7" name="Text 4"/>
          <p:cNvSpPr txBox="1"/>
          <p:nvPr/>
        </p:nvSpPr>
        <p:spPr>
          <a:xfrm>
            <a:off x="822960" y="2423160"/>
            <a:ext cx="3063240" cy="548640"/>
          </a:xfrm>
          <a:prstGeom prst="rect">
            <a:avLst/>
          </a:prstGeom>
          <a:noFill/>
          <a:ln/>
        </p:spPr>
        <p:txBody>
          <a:bodyPr wrap="square" lIns="0" tIns="0" rIns="0" bIns="0" rtlCol="0" anchor="ctr"/>
          <a:lstStyle/>
          <a:p>
            <a:pPr indent="0" marL="0">
              <a:buNone/>
            </a:pPr>
            <a:r>
              <a:rPr lang="en-US" sz="2000" b="1" dirty="0">
                <a:solidFill>
                  <a:srgbClr val="2E7D4F"/>
                </a:solidFill>
              </a:rPr>
              <a:t>COMPLETO ESTRUCTURALMENTE</a:t>
            </a:r>
            <a:endParaRPr lang="en-US" sz="2000" dirty="0"/>
          </a:p>
        </p:txBody>
      </p:sp>
      <p:sp>
        <p:nvSpPr>
          <p:cNvPr id="8" name="Text 5"/>
          <p:cNvSpPr txBox="1"/>
          <p:nvPr/>
        </p:nvSpPr>
        <p:spPr>
          <a:xfrm>
            <a:off x="822960" y="3017520"/>
            <a:ext cx="3063240" cy="868680"/>
          </a:xfrm>
          <a:prstGeom prst="rect">
            <a:avLst/>
          </a:prstGeom>
          <a:noFill/>
          <a:ln/>
        </p:spPr>
        <p:txBody>
          <a:bodyPr wrap="square" lIns="0" tIns="0" rIns="0" bIns="0" rtlCol="0" anchor="t"/>
          <a:lstStyle/>
          <a:p>
            <a:pPr indent="0" marL="0">
              <a:buNone/>
            </a:pPr>
            <a:r>
              <a:rPr lang="en-US" sz="1300" dirty="0">
                <a:solidFill>
                  <a:srgbClr val="1E2B24"/>
                </a:solidFill>
              </a:rPr>
              <a:t>Los 25 módulos del estudio están construidos, conectados entre sí y probados (70 de 70 pruebas de integración).</a:t>
            </a:r>
            <a:endParaRPr lang="en-US" sz="1300" dirty="0"/>
          </a:p>
        </p:txBody>
      </p:sp>
      <p:sp>
        <p:nvSpPr>
          <p:cNvPr id="9" name="tarjeta"/>
          <p:cNvSpPr/>
          <p:nvPr/>
        </p:nvSpPr>
        <p:spPr>
          <a:xfrm>
            <a:off x="4306824" y="1371600"/>
            <a:ext cx="3557016" cy="2606040"/>
          </a:xfrm>
          <a:prstGeom prst="roundRect">
            <a:avLst>
              <a:gd name="adj" fmla="val 2807"/>
            </a:avLst>
          </a:prstGeom>
          <a:solidFill>
            <a:srgbClr val="EAF2EC"/>
          </a:solidFill>
          <a:ln w="9525">
            <a:solidFill>
              <a:srgbClr val="EAF2EC"/>
            </a:solidFill>
            <a:prstDash val="solid"/>
          </a:ln>
        </p:spPr>
      </p:sp>
      <p:sp>
        <p:nvSpPr>
          <p:cNvPr id="10" name="círculo FaLaptop"/>
          <p:cNvSpPr/>
          <p:nvPr/>
        </p:nvSpPr>
        <p:spPr>
          <a:xfrm>
            <a:off x="4581144" y="1600200"/>
            <a:ext cx="685800" cy="685800"/>
          </a:xfrm>
          <a:prstGeom prst="ellipse">
            <a:avLst/>
          </a:prstGeom>
          <a:solidFill>
            <a:srgbClr val="2E7D4F"/>
          </a:solidFill>
          <a:ln w="12700">
            <a:solidFill>
              <a:srgbClr val="2E7D4F"/>
            </a:solidFill>
            <a:prstDash val="solid"/>
          </a:ln>
        </p:spPr>
      </p:sp>
      <p:pic>
        <p:nvPicPr>
          <p:cNvPr id="11" name="Image 1" descr="FaLaptop">    </p:cNvPr>
          <p:cNvPicPr>
            <a:picLocks noChangeAspect="1"/>
          </p:cNvPicPr>
          <p:nvPr/>
        </p:nvPicPr>
        <p:blipFill>
          <a:blip r:embed="rId2"/>
          <a:stretch>
            <a:fillRect/>
          </a:stretch>
        </p:blipFill>
        <p:spPr>
          <a:xfrm>
            <a:off x="4745736" y="1764792"/>
            <a:ext cx="356616" cy="356616"/>
          </a:xfrm>
          <a:prstGeom prst="rect">
            <a:avLst/>
          </a:prstGeom>
        </p:spPr>
      </p:pic>
      <p:sp>
        <p:nvSpPr>
          <p:cNvPr id="12" name="Text 8"/>
          <p:cNvSpPr txBox="1"/>
          <p:nvPr/>
        </p:nvSpPr>
        <p:spPr>
          <a:xfrm>
            <a:off x="5404104" y="1645920"/>
            <a:ext cx="2331720" cy="548640"/>
          </a:xfrm>
          <a:prstGeom prst="rect">
            <a:avLst/>
          </a:prstGeom>
          <a:noFill/>
          <a:ln/>
        </p:spPr>
        <p:txBody>
          <a:bodyPr wrap="square" lIns="0" tIns="0" rIns="0" bIns="0" rtlCol="0" anchor="ctr"/>
          <a:lstStyle/>
          <a:p>
            <a:pPr indent="0" marL="0">
              <a:buNone/>
            </a:pPr>
            <a:r>
              <a:rPr lang="en-US" sz="1300" b="1" dirty="0">
                <a:solidFill>
                  <a:srgbClr val="5F6B66"/>
                </a:solidFill>
              </a:rPr>
              <a:t>APP V1</a:t>
            </a:r>
            <a:endParaRPr lang="en-US" sz="1300" dirty="0"/>
          </a:p>
        </p:txBody>
      </p:sp>
      <p:sp>
        <p:nvSpPr>
          <p:cNvPr id="13" name="Text 9"/>
          <p:cNvSpPr txBox="1"/>
          <p:nvPr/>
        </p:nvSpPr>
        <p:spPr>
          <a:xfrm>
            <a:off x="4581144" y="2423160"/>
            <a:ext cx="3063240" cy="548640"/>
          </a:xfrm>
          <a:prstGeom prst="rect">
            <a:avLst/>
          </a:prstGeom>
          <a:noFill/>
          <a:ln/>
        </p:spPr>
        <p:txBody>
          <a:bodyPr wrap="square" lIns="0" tIns="0" rIns="0" bIns="0" rtlCol="0" anchor="ctr"/>
          <a:lstStyle/>
          <a:p>
            <a:pPr indent="0" marL="0">
              <a:buNone/>
            </a:pPr>
            <a:r>
              <a:rPr lang="en-US" sz="2800" b="1" dirty="0">
                <a:solidFill>
                  <a:srgbClr val="2E7D4F"/>
                </a:solidFill>
              </a:rPr>
              <a:t>LISTA</a:t>
            </a:r>
            <a:endParaRPr lang="en-US" sz="2800" dirty="0"/>
          </a:p>
        </p:txBody>
      </p:sp>
      <p:sp>
        <p:nvSpPr>
          <p:cNvPr id="14" name="Text 10"/>
          <p:cNvSpPr txBox="1"/>
          <p:nvPr/>
        </p:nvSpPr>
        <p:spPr>
          <a:xfrm>
            <a:off x="4581144" y="3017520"/>
            <a:ext cx="3063240" cy="868680"/>
          </a:xfrm>
          <a:prstGeom prst="rect">
            <a:avLst/>
          </a:prstGeom>
          <a:noFill/>
          <a:ln/>
        </p:spPr>
        <p:txBody>
          <a:bodyPr wrap="square" lIns="0" tIns="0" rIns="0" bIns="0" rtlCol="0" anchor="t"/>
          <a:lstStyle/>
          <a:p>
            <a:pPr indent="0" marL="0">
              <a:buNone/>
            </a:pPr>
            <a:r>
              <a:rPr lang="en-US" sz="1300" dirty="0">
                <a:solidFill>
                  <a:srgbClr val="1E2B24"/>
                </a:solidFill>
              </a:rPr>
              <a:t>Permite entender el proyecto en lenguaje simple y simular escenarios, con un modo experto para análisis.</a:t>
            </a:r>
            <a:endParaRPr lang="en-US" sz="1300" dirty="0"/>
          </a:p>
        </p:txBody>
      </p:sp>
      <p:sp>
        <p:nvSpPr>
          <p:cNvPr id="15" name="tarjeta"/>
          <p:cNvSpPr/>
          <p:nvPr/>
        </p:nvSpPr>
        <p:spPr>
          <a:xfrm>
            <a:off x="8065008" y="1371600"/>
            <a:ext cx="3557016" cy="2606040"/>
          </a:xfrm>
          <a:prstGeom prst="roundRect">
            <a:avLst>
              <a:gd name="adj" fmla="val 2807"/>
            </a:avLst>
          </a:prstGeom>
          <a:solidFill>
            <a:srgbClr val="F8E3E1"/>
          </a:solidFill>
          <a:ln w="9525">
            <a:solidFill>
              <a:srgbClr val="F8E3E1"/>
            </a:solidFill>
            <a:prstDash val="solid"/>
          </a:ln>
        </p:spPr>
      </p:sp>
      <p:sp>
        <p:nvSpPr>
          <p:cNvPr id="16" name="círculo FaPauseCircle"/>
          <p:cNvSpPr/>
          <p:nvPr/>
        </p:nvSpPr>
        <p:spPr>
          <a:xfrm>
            <a:off x="8339328" y="1600200"/>
            <a:ext cx="685800" cy="685800"/>
          </a:xfrm>
          <a:prstGeom prst="ellipse">
            <a:avLst/>
          </a:prstGeom>
          <a:solidFill>
            <a:srgbClr val="B3261E"/>
          </a:solidFill>
          <a:ln w="12700">
            <a:solidFill>
              <a:srgbClr val="B3261E"/>
            </a:solidFill>
            <a:prstDash val="solid"/>
          </a:ln>
        </p:spPr>
      </p:sp>
      <p:pic>
        <p:nvPicPr>
          <p:cNvPr id="17" name="Image 2" descr="FaPauseCircle">    </p:cNvPr>
          <p:cNvPicPr>
            <a:picLocks noChangeAspect="1"/>
          </p:cNvPicPr>
          <p:nvPr/>
        </p:nvPicPr>
        <p:blipFill>
          <a:blip r:embed="rId3"/>
          <a:stretch>
            <a:fillRect/>
          </a:stretch>
        </p:blipFill>
        <p:spPr>
          <a:xfrm>
            <a:off x="8503920" y="1764792"/>
            <a:ext cx="356616" cy="356616"/>
          </a:xfrm>
          <a:prstGeom prst="rect">
            <a:avLst/>
          </a:prstGeom>
        </p:spPr>
      </p:pic>
      <p:sp>
        <p:nvSpPr>
          <p:cNvPr id="18" name="Text 13"/>
          <p:cNvSpPr txBox="1"/>
          <p:nvPr/>
        </p:nvSpPr>
        <p:spPr>
          <a:xfrm>
            <a:off x="9162288" y="1645920"/>
            <a:ext cx="2331720" cy="548640"/>
          </a:xfrm>
          <a:prstGeom prst="rect">
            <a:avLst/>
          </a:prstGeom>
          <a:noFill/>
          <a:ln/>
        </p:spPr>
        <p:txBody>
          <a:bodyPr wrap="square" lIns="0" tIns="0" rIns="0" bIns="0" rtlCol="0" anchor="ctr"/>
          <a:lstStyle/>
          <a:p>
            <a:pPr indent="0" marL="0">
              <a:buNone/>
            </a:pPr>
            <a:r>
              <a:rPr lang="en-US" sz="1300" b="1" dirty="0">
                <a:solidFill>
                  <a:srgbClr val="5F6B66"/>
                </a:solidFill>
              </a:rPr>
              <a:t>LISTO PARA DECISIÓN REAL</a:t>
            </a:r>
            <a:endParaRPr lang="en-US" sz="1300" dirty="0"/>
          </a:p>
        </p:txBody>
      </p:sp>
      <p:sp>
        <p:nvSpPr>
          <p:cNvPr id="19" name="Text 14"/>
          <p:cNvSpPr txBox="1"/>
          <p:nvPr/>
        </p:nvSpPr>
        <p:spPr>
          <a:xfrm>
            <a:off x="8339328" y="2423160"/>
            <a:ext cx="3063240" cy="548640"/>
          </a:xfrm>
          <a:prstGeom prst="rect">
            <a:avLst/>
          </a:prstGeom>
          <a:noFill/>
          <a:ln/>
        </p:spPr>
        <p:txBody>
          <a:bodyPr wrap="square" lIns="0" tIns="0" rIns="0" bIns="0" rtlCol="0" anchor="ctr"/>
          <a:lstStyle/>
          <a:p>
            <a:pPr indent="0" marL="0">
              <a:buNone/>
            </a:pPr>
            <a:r>
              <a:rPr lang="en-US" sz="2800" b="1" dirty="0">
                <a:solidFill>
                  <a:srgbClr val="B3261E"/>
                </a:solidFill>
              </a:rPr>
              <a:t>NO</a:t>
            </a:r>
            <a:endParaRPr lang="en-US" sz="2800" dirty="0"/>
          </a:p>
        </p:txBody>
      </p:sp>
      <p:sp>
        <p:nvSpPr>
          <p:cNvPr id="20" name="Text 15"/>
          <p:cNvSpPr txBox="1"/>
          <p:nvPr/>
        </p:nvSpPr>
        <p:spPr>
          <a:xfrm>
            <a:off x="8339328" y="3017520"/>
            <a:ext cx="3063240" cy="868680"/>
          </a:xfrm>
          <a:prstGeom prst="rect">
            <a:avLst/>
          </a:prstGeom>
          <a:noFill/>
          <a:ln/>
        </p:spPr>
        <p:txBody>
          <a:bodyPr wrap="square" lIns="0" tIns="0" rIns="0" bIns="0" rtlCol="0" anchor="t"/>
          <a:lstStyle/>
          <a:p>
            <a:pPr indent="0" marL="0">
              <a:buNone/>
            </a:pPr>
            <a:r>
              <a:rPr lang="en-US" sz="1300" dirty="0">
                <a:solidFill>
                  <a:srgbClr val="1E2B24"/>
                </a:solidFill>
              </a:rPr>
              <a:t>Faltan los datos reales: clientes, precios, cotizaciones y costos. 0 de 180 datos por validar están validados.</a:t>
            </a:r>
            <a:endParaRPr lang="en-US" sz="1300" dirty="0"/>
          </a:p>
        </p:txBody>
      </p:sp>
      <p:sp>
        <p:nvSpPr>
          <p:cNvPr id="21" name="Text 16"/>
          <p:cNvSpPr txBox="1"/>
          <p:nvPr/>
        </p:nvSpPr>
        <p:spPr>
          <a:xfrm>
            <a:off x="548640" y="4206240"/>
            <a:ext cx="11091672" cy="640080"/>
          </a:xfrm>
          <a:prstGeom prst="roundRect">
            <a:avLst>
              <a:gd name="adj" fmla="val 14286"/>
            </a:avLst>
          </a:prstGeom>
          <a:solidFill>
            <a:srgbClr val="FBF1DC"/>
          </a:solidFill>
          <a:ln/>
        </p:spPr>
        <p:txBody>
          <a:bodyPr wrap="square" lIns="0" tIns="0" rIns="0" bIns="0" rtlCol="0" anchor="ctr"/>
          <a:lstStyle/>
          <a:p>
            <a:pPr algn="ctr" indent="0" marL="0">
              <a:buNone/>
            </a:pPr>
            <a:r>
              <a:rPr lang="en-US" sz="2200" b="1" dirty="0">
                <a:solidFill>
                  <a:srgbClr val="1F4D3A"/>
                </a:solidFill>
              </a:rPr>
              <a:t>Tenemos la calculadora. Todavía no tenemos los números reales para cargarle.</a:t>
            </a:r>
            <a:endParaRPr lang="en-US" sz="2200" dirty="0"/>
          </a:p>
        </p:txBody>
      </p:sp>
      <p:sp>
        <p:nvSpPr>
          <p:cNvPr id="22" name="Text 17"/>
          <p:cNvSpPr txBox="1"/>
          <p:nvPr/>
        </p:nvSpPr>
        <p:spPr>
          <a:xfrm>
            <a:off x="548640" y="5074920"/>
            <a:ext cx="7315200" cy="320040"/>
          </a:xfrm>
          <a:prstGeom prst="rect">
            <a:avLst/>
          </a:prstGeom>
          <a:noFill/>
          <a:ln/>
        </p:spPr>
        <p:txBody>
          <a:bodyPr wrap="square" lIns="0" tIns="0" rIns="0" bIns="0" rtlCol="0" anchor="t"/>
          <a:lstStyle/>
          <a:p>
            <a:pPr indent="0" marL="0">
              <a:buNone/>
            </a:pPr>
            <a:r>
              <a:rPr lang="en-US" sz="1400" b="1" dirty="0">
                <a:solidFill>
                  <a:srgbClr val="5F6B66"/>
                </a:solidFill>
              </a:rPr>
              <a:t>Cómo leer las etiquetas de esta presentación</a:t>
            </a:r>
            <a:endParaRPr lang="en-US" sz="1400" dirty="0"/>
          </a:p>
        </p:txBody>
      </p:sp>
      <p:sp>
        <p:nvSpPr>
          <p:cNvPr id="23" name="etiqueta EVIDENCIA"/>
          <p:cNvSpPr txBox="1"/>
          <p:nvPr/>
        </p:nvSpPr>
        <p:spPr>
          <a:xfrm>
            <a:off x="548640" y="5486400"/>
            <a:ext cx="1156716" cy="274320"/>
          </a:xfrm>
          <a:prstGeom prst="roundRect">
            <a:avLst>
              <a:gd name="adj" fmla="val 50000"/>
            </a:avLst>
          </a:prstGeom>
          <a:solidFill>
            <a:srgbClr val="2E7D4F"/>
          </a:solidFill>
          <a:ln/>
        </p:spPr>
        <p:txBody>
          <a:bodyPr wrap="square" lIns="0" tIns="0" rIns="0" bIns="0" rtlCol="0" anchor="ctr"/>
          <a:lstStyle/>
          <a:p>
            <a:pPr algn="ctr" indent="0" marL="0">
              <a:buNone/>
            </a:pPr>
            <a:r>
              <a:rPr lang="en-US" sz="1050" b="1" spc="100" kern="0" dirty="0">
                <a:solidFill>
                  <a:srgbClr val="FFFFFF"/>
                </a:solidFill>
              </a:rPr>
              <a:t>EVIDENCIA</a:t>
            </a:r>
            <a:endParaRPr lang="en-US" sz="1050" dirty="0"/>
          </a:p>
        </p:txBody>
      </p:sp>
      <p:sp>
        <p:nvSpPr>
          <p:cNvPr id="24" name="Text 19"/>
          <p:cNvSpPr txBox="1"/>
          <p:nvPr/>
        </p:nvSpPr>
        <p:spPr>
          <a:xfrm>
            <a:off x="1796796" y="5440680"/>
            <a:ext cx="1495044" cy="411480"/>
          </a:xfrm>
          <a:prstGeom prst="rect">
            <a:avLst/>
          </a:prstGeom>
          <a:noFill/>
          <a:ln/>
        </p:spPr>
        <p:txBody>
          <a:bodyPr wrap="square" lIns="0" tIns="0" rIns="0" bIns="0" rtlCol="0" anchor="ctr"/>
          <a:lstStyle/>
          <a:p>
            <a:pPr indent="0" marL="0">
              <a:buNone/>
            </a:pPr>
            <a:r>
              <a:rPr lang="en-US" sz="1100" dirty="0">
                <a:solidFill>
                  <a:srgbClr val="5F6B66"/>
                </a:solidFill>
              </a:rPr>
              <a:t>dato real con fuente verificada</a:t>
            </a:r>
            <a:endParaRPr lang="en-US" sz="1100" dirty="0"/>
          </a:p>
        </p:txBody>
      </p:sp>
      <p:sp>
        <p:nvSpPr>
          <p:cNvPr id="25" name="etiqueta ESTIMACIÓN"/>
          <p:cNvSpPr txBox="1"/>
          <p:nvPr/>
        </p:nvSpPr>
        <p:spPr>
          <a:xfrm>
            <a:off x="3337560" y="5486400"/>
            <a:ext cx="1252728" cy="274320"/>
          </a:xfrm>
          <a:prstGeom prst="roundRect">
            <a:avLst>
              <a:gd name="adj" fmla="val 50000"/>
            </a:avLst>
          </a:prstGeom>
          <a:solidFill>
            <a:srgbClr val="2F6690"/>
          </a:solidFill>
          <a:ln/>
        </p:spPr>
        <p:txBody>
          <a:bodyPr wrap="square" lIns="0" tIns="0" rIns="0" bIns="0" rtlCol="0" anchor="ctr"/>
          <a:lstStyle/>
          <a:p>
            <a:pPr algn="ctr" indent="0" marL="0">
              <a:buNone/>
            </a:pPr>
            <a:r>
              <a:rPr lang="en-US" sz="1050" b="1" spc="100" kern="0" dirty="0">
                <a:solidFill>
                  <a:srgbClr val="FFFFFF"/>
                </a:solidFill>
              </a:rPr>
              <a:t>ESTIMACIÓN</a:t>
            </a:r>
            <a:endParaRPr lang="en-US" sz="1050" dirty="0"/>
          </a:p>
        </p:txBody>
      </p:sp>
      <p:sp>
        <p:nvSpPr>
          <p:cNvPr id="26" name="Text 21"/>
          <p:cNvSpPr txBox="1"/>
          <p:nvPr/>
        </p:nvSpPr>
        <p:spPr>
          <a:xfrm>
            <a:off x="4681728" y="5440680"/>
            <a:ext cx="1399032" cy="411480"/>
          </a:xfrm>
          <a:prstGeom prst="rect">
            <a:avLst/>
          </a:prstGeom>
          <a:noFill/>
          <a:ln/>
        </p:spPr>
        <p:txBody>
          <a:bodyPr wrap="square" lIns="0" tIns="0" rIns="0" bIns="0" rtlCol="0" anchor="ctr"/>
          <a:lstStyle/>
          <a:p>
            <a:pPr indent="0" marL="0">
              <a:buNone/>
            </a:pPr>
            <a:r>
              <a:rPr lang="en-US" sz="1100" dirty="0">
                <a:solidFill>
                  <a:srgbClr val="5F6B66"/>
                </a:solidFill>
              </a:rPr>
              <a:t>cálculo del modelo, sin validar en campo</a:t>
            </a:r>
            <a:endParaRPr lang="en-US" sz="1100" dirty="0"/>
          </a:p>
        </p:txBody>
      </p:sp>
      <p:sp>
        <p:nvSpPr>
          <p:cNvPr id="27" name="etiqueta ESCENARIO"/>
          <p:cNvSpPr txBox="1"/>
          <p:nvPr/>
        </p:nvSpPr>
        <p:spPr>
          <a:xfrm>
            <a:off x="6126480" y="5486400"/>
            <a:ext cx="1156716" cy="274320"/>
          </a:xfrm>
          <a:prstGeom prst="roundRect">
            <a:avLst>
              <a:gd name="adj" fmla="val 50000"/>
            </a:avLst>
          </a:prstGeom>
          <a:solidFill>
            <a:srgbClr val="6B4FA0"/>
          </a:solidFill>
          <a:ln/>
        </p:spPr>
        <p:txBody>
          <a:bodyPr wrap="square" lIns="0" tIns="0" rIns="0" bIns="0" rtlCol="0" anchor="ctr"/>
          <a:lstStyle/>
          <a:p>
            <a:pPr algn="ctr" indent="0" marL="0">
              <a:buNone/>
            </a:pPr>
            <a:r>
              <a:rPr lang="en-US" sz="1050" b="1" spc="100" kern="0" dirty="0">
                <a:solidFill>
                  <a:srgbClr val="FFFFFF"/>
                </a:solidFill>
              </a:rPr>
              <a:t>ESCENARIO</a:t>
            </a:r>
            <a:endParaRPr lang="en-US" sz="1050" dirty="0"/>
          </a:p>
        </p:txBody>
      </p:sp>
      <p:sp>
        <p:nvSpPr>
          <p:cNvPr id="28" name="Text 23"/>
          <p:cNvSpPr txBox="1"/>
          <p:nvPr/>
        </p:nvSpPr>
        <p:spPr>
          <a:xfrm>
            <a:off x="7374636" y="5440680"/>
            <a:ext cx="1495044" cy="411480"/>
          </a:xfrm>
          <a:prstGeom prst="rect">
            <a:avLst/>
          </a:prstGeom>
          <a:noFill/>
          <a:ln/>
        </p:spPr>
        <p:txBody>
          <a:bodyPr wrap="square" lIns="0" tIns="0" rIns="0" bIns="0" rtlCol="0" anchor="ctr"/>
          <a:lstStyle/>
          <a:p>
            <a:pPr indent="0" marL="0">
              <a:buNone/>
            </a:pPr>
            <a:r>
              <a:rPr lang="en-US" sz="1100" dirty="0">
                <a:solidFill>
                  <a:srgbClr val="5F6B66"/>
                </a:solidFill>
              </a:rPr>
              <a:t>hipótesis para simular; no es un dato</a:t>
            </a:r>
            <a:endParaRPr lang="en-US" sz="1100" dirty="0"/>
          </a:p>
        </p:txBody>
      </p:sp>
      <p:sp>
        <p:nvSpPr>
          <p:cNvPr id="29" name="etiqueta PENDIENTE"/>
          <p:cNvSpPr txBox="1"/>
          <p:nvPr/>
        </p:nvSpPr>
        <p:spPr>
          <a:xfrm>
            <a:off x="8915400" y="5486400"/>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30" name="Text 25"/>
          <p:cNvSpPr txBox="1"/>
          <p:nvPr/>
        </p:nvSpPr>
        <p:spPr>
          <a:xfrm>
            <a:off x="10163556" y="5440680"/>
            <a:ext cx="1495044" cy="411480"/>
          </a:xfrm>
          <a:prstGeom prst="rect">
            <a:avLst/>
          </a:prstGeom>
          <a:noFill/>
          <a:ln/>
        </p:spPr>
        <p:txBody>
          <a:bodyPr wrap="square" lIns="0" tIns="0" rIns="0" bIns="0" rtlCol="0" anchor="ctr"/>
          <a:lstStyle/>
          <a:p>
            <a:pPr indent="0" marL="0">
              <a:buNone/>
            </a:pPr>
            <a:r>
              <a:rPr lang="en-US" sz="1100" dirty="0">
                <a:solidFill>
                  <a:srgbClr val="5F6B66"/>
                </a:solidFill>
              </a:rPr>
              <a:t>falta el dato o la decisión</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Qué estamos intentando construir</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tarjeta"/>
          <p:cNvSpPr/>
          <p:nvPr/>
        </p:nvSpPr>
        <p:spPr>
          <a:xfrm>
            <a:off x="548640" y="1371600"/>
            <a:ext cx="5029200" cy="4206240"/>
          </a:xfrm>
          <a:prstGeom prst="roundRect">
            <a:avLst>
              <a:gd name="adj" fmla="val 1739"/>
            </a:avLst>
          </a:prstGeom>
          <a:solidFill>
            <a:srgbClr val="EAF2EC"/>
          </a:solidFill>
          <a:ln w="9525">
            <a:solidFill>
              <a:srgbClr val="EAF2EC"/>
            </a:solidFill>
            <a:prstDash val="solid"/>
          </a:ln>
        </p:spPr>
      </p:sp>
      <p:sp>
        <p:nvSpPr>
          <p:cNvPr id="5" name="círculo FaStore"/>
          <p:cNvSpPr/>
          <p:nvPr/>
        </p:nvSpPr>
        <p:spPr>
          <a:xfrm>
            <a:off x="822960" y="1600200"/>
            <a:ext cx="731520" cy="731520"/>
          </a:xfrm>
          <a:prstGeom prst="ellipse">
            <a:avLst/>
          </a:prstGeom>
          <a:solidFill>
            <a:srgbClr val="1F4D3A"/>
          </a:solidFill>
          <a:ln w="12700">
            <a:solidFill>
              <a:srgbClr val="1F4D3A"/>
            </a:solidFill>
            <a:prstDash val="solid"/>
          </a:ln>
        </p:spPr>
      </p:sp>
      <p:pic>
        <p:nvPicPr>
          <p:cNvPr id="6" name="Image 0" descr="FaStore">    </p:cNvPr>
          <p:cNvPicPr>
            <a:picLocks noChangeAspect="1"/>
          </p:cNvPicPr>
          <p:nvPr/>
        </p:nvPicPr>
        <p:blipFill>
          <a:blip r:embed="rId1"/>
          <a:stretch>
            <a:fillRect/>
          </a:stretch>
        </p:blipFill>
        <p:spPr>
          <a:xfrm>
            <a:off x="998525" y="1775765"/>
            <a:ext cx="380390" cy="380390"/>
          </a:xfrm>
          <a:prstGeom prst="rect">
            <a:avLst/>
          </a:prstGeom>
        </p:spPr>
      </p:pic>
      <p:sp>
        <p:nvSpPr>
          <p:cNvPr id="7" name="Text 4"/>
          <p:cNvSpPr txBox="1"/>
          <p:nvPr/>
        </p:nvSpPr>
        <p:spPr>
          <a:xfrm>
            <a:off x="1737360" y="1645920"/>
            <a:ext cx="3566160" cy="640080"/>
          </a:xfrm>
          <a:prstGeom prst="rect">
            <a:avLst/>
          </a:prstGeom>
          <a:noFill/>
          <a:ln/>
        </p:spPr>
        <p:txBody>
          <a:bodyPr wrap="square" lIns="0" tIns="0" rIns="0" bIns="0" rtlCol="0" anchor="ctr"/>
          <a:lstStyle/>
          <a:p>
            <a:pPr indent="0" marL="0">
              <a:buNone/>
            </a:pPr>
            <a:r>
              <a:rPr lang="en-US" sz="2400" b="1" dirty="0">
                <a:solidFill>
                  <a:srgbClr val="1F4D3A"/>
                </a:solidFill>
              </a:rPr>
              <a:t>HOY</a:t>
            </a:r>
            <a:endParaRPr lang="en-US" sz="2400" dirty="0"/>
          </a:p>
        </p:txBody>
      </p:sp>
      <p:sp>
        <p:nvSpPr>
          <p:cNvPr id="8" name="Text 5"/>
          <p:cNvSpPr txBox="1"/>
          <p:nvPr/>
        </p:nvSpPr>
        <p:spPr>
          <a:xfrm>
            <a:off x="822960" y="2560320"/>
            <a:ext cx="4572000" cy="2834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E2B24"/>
                </a:solidFill>
              </a:rPr>
              <a:t>Una carnicería familiar en el AMBA</a:t>
            </a:r>
            <a:endParaRPr lang="en-US" sz="1600" dirty="0"/>
          </a:p>
          <a:p>
            <a:pPr marL="203200" indent="-203200">
              <a:spcAft>
                <a:spcPts val="600"/>
              </a:spcAft>
              <a:buSzPct val="100000"/>
              <a:buChar char="•"/>
            </a:pPr>
            <a:r>
              <a:rPr lang="en-US" sz="1600" dirty="0">
                <a:solidFill>
                  <a:srgbClr val="1E2B24"/>
                </a:solidFill>
              </a:rPr>
              <a:t>Sin granjas, planta de faena, terreno ni maquinaria</a:t>
            </a:r>
            <a:endParaRPr lang="en-US" sz="1600" dirty="0"/>
          </a:p>
          <a:p>
            <a:pPr marL="203200" indent="-203200">
              <a:spcAft>
                <a:spcPts val="600"/>
              </a:spcAft>
              <a:buSzPct val="100000"/>
              <a:buChar char="•"/>
            </a:pPr>
            <a:r>
              <a:rPr lang="en-US" sz="1600" dirty="0">
                <a:solidFill>
                  <a:srgbClr val="1E2B24"/>
                </a:solidFill>
              </a:rPr>
              <a:t>Capital de referencia: ~USD 2 M de un grupo inversor, no comprometido</a:t>
            </a:r>
            <a:endParaRPr lang="en-US" sz="1600" dirty="0"/>
          </a:p>
          <a:p>
            <a:pPr marL="203200" indent="-203200">
              <a:spcAft>
                <a:spcPts val="600"/>
              </a:spcAft>
              <a:buSzPct val="100000"/>
              <a:buChar char="•"/>
            </a:pPr>
            <a:r>
              <a:rPr lang="en-US" sz="1600" dirty="0">
                <a:solidFill>
                  <a:srgbClr val="1E2B24"/>
                </a:solidFill>
              </a:rPr>
              <a:t>Canal posible: red de ~90 supermercados, demanda no validada</a:t>
            </a:r>
            <a:endParaRPr lang="en-US" sz="1600" dirty="0"/>
          </a:p>
        </p:txBody>
      </p:sp>
      <p:pic>
        <p:nvPicPr>
          <p:cNvPr id="9" name="Image 1" descr="flecha">    </p:cNvPr>
          <p:cNvPicPr>
            <a:picLocks noChangeAspect="1"/>
          </p:cNvPicPr>
          <p:nvPr/>
        </p:nvPicPr>
        <p:blipFill>
          <a:blip r:embed="rId2"/>
          <a:stretch>
            <a:fillRect/>
          </a:stretch>
        </p:blipFill>
        <p:spPr>
          <a:xfrm>
            <a:off x="5779008" y="3108960"/>
            <a:ext cx="640080" cy="640080"/>
          </a:xfrm>
          <a:prstGeom prst="rect">
            <a:avLst/>
          </a:prstGeom>
        </p:spPr>
      </p:pic>
      <p:sp>
        <p:nvSpPr>
          <p:cNvPr id="10" name="tarjeta"/>
          <p:cNvSpPr/>
          <p:nvPr/>
        </p:nvSpPr>
        <p:spPr>
          <a:xfrm>
            <a:off x="6611112" y="1371600"/>
            <a:ext cx="5029200" cy="4206240"/>
          </a:xfrm>
          <a:prstGeom prst="roundRect">
            <a:avLst>
              <a:gd name="adj" fmla="val 1739"/>
            </a:avLst>
          </a:prstGeom>
          <a:solidFill>
            <a:srgbClr val="1F4D3A"/>
          </a:solidFill>
          <a:ln w="9525">
            <a:solidFill>
              <a:srgbClr val="1F4D3A"/>
            </a:solidFill>
            <a:prstDash val="solid"/>
          </a:ln>
          <a:effectLst>
            <a:outerShdw sx="100000" sy="100000" kx="0" ky="0" algn="bl" rotWithShape="0" blurRad="76200" dist="19050" dir="5400000">
              <a:srgbClr val="000000">
                <a:alpha val="12000"/>
              </a:srgbClr>
            </a:outerShdw>
          </a:effectLst>
        </p:spPr>
      </p:sp>
      <p:sp>
        <p:nvSpPr>
          <p:cNvPr id="11" name="círculo GiChicken"/>
          <p:cNvSpPr/>
          <p:nvPr/>
        </p:nvSpPr>
        <p:spPr>
          <a:xfrm>
            <a:off x="6885432" y="1600200"/>
            <a:ext cx="731520" cy="731520"/>
          </a:xfrm>
          <a:prstGeom prst="ellipse">
            <a:avLst/>
          </a:prstGeom>
          <a:solidFill>
            <a:srgbClr val="E3A12F"/>
          </a:solidFill>
          <a:ln w="12700">
            <a:solidFill>
              <a:srgbClr val="E3A12F"/>
            </a:solidFill>
            <a:prstDash val="solid"/>
          </a:ln>
        </p:spPr>
      </p:sp>
      <p:pic>
        <p:nvPicPr>
          <p:cNvPr id="12" name="Image 2" descr="GiChicken">    </p:cNvPr>
          <p:cNvPicPr>
            <a:picLocks noChangeAspect="1"/>
          </p:cNvPicPr>
          <p:nvPr/>
        </p:nvPicPr>
        <p:blipFill>
          <a:blip r:embed="rId3"/>
          <a:stretch>
            <a:fillRect/>
          </a:stretch>
        </p:blipFill>
        <p:spPr>
          <a:xfrm>
            <a:off x="7060997" y="1775765"/>
            <a:ext cx="380390" cy="380390"/>
          </a:xfrm>
          <a:prstGeom prst="rect">
            <a:avLst/>
          </a:prstGeom>
        </p:spPr>
      </p:pic>
      <p:sp>
        <p:nvSpPr>
          <p:cNvPr id="13" name="Text 8"/>
          <p:cNvSpPr txBox="1"/>
          <p:nvPr/>
        </p:nvSpPr>
        <p:spPr>
          <a:xfrm>
            <a:off x="7799832" y="1645920"/>
            <a:ext cx="3657600" cy="640080"/>
          </a:xfrm>
          <a:prstGeom prst="rect">
            <a:avLst/>
          </a:prstGeom>
          <a:noFill/>
          <a:ln/>
        </p:spPr>
        <p:txBody>
          <a:bodyPr wrap="square" lIns="0" tIns="0" rIns="0" bIns="0" rtlCol="0" anchor="ctr"/>
          <a:lstStyle/>
          <a:p>
            <a:pPr indent="0" marL="0">
              <a:buNone/>
            </a:pPr>
            <a:r>
              <a:rPr lang="en-US" sz="2400" b="1" dirty="0">
                <a:solidFill>
                  <a:srgbClr val="FFFFFF"/>
                </a:solidFill>
              </a:rPr>
              <a:t>LO QUE SE ESTUDIA</a:t>
            </a:r>
            <a:endParaRPr lang="en-US" sz="2400" dirty="0"/>
          </a:p>
        </p:txBody>
      </p:sp>
      <p:sp>
        <p:nvSpPr>
          <p:cNvPr id="14" name="Text 9"/>
          <p:cNvSpPr txBox="1"/>
          <p:nvPr/>
        </p:nvSpPr>
        <p:spPr>
          <a:xfrm>
            <a:off x="6885432" y="2560320"/>
            <a:ext cx="4572000" cy="2834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FFFFFF"/>
                </a:solidFill>
              </a:rPr>
              <a:t>Una empresa avícola argentina integrada, construida por etapas</a:t>
            </a:r>
            <a:endParaRPr lang="en-US" sz="1600" dirty="0"/>
          </a:p>
          <a:p>
            <a:pPr marL="203200" indent="-203200">
              <a:spcAft>
                <a:spcPts val="600"/>
              </a:spcAft>
              <a:buSzPct val="100000"/>
              <a:buChar char="•"/>
            </a:pPr>
            <a:r>
              <a:rPr lang="en-US" sz="1600" dirty="0">
                <a:solidFill>
                  <a:srgbClr val="FFFFFF"/>
                </a:solidFill>
              </a:rPr>
              <a:t>Vender a supermercados, mayoristas, industria, gastronomía y, a futuro, exportar</a:t>
            </a:r>
            <a:endParaRPr lang="en-US" sz="1600" dirty="0"/>
          </a:p>
          <a:p>
            <a:pPr marL="203200" indent="-203200">
              <a:spcAft>
                <a:spcPts val="600"/>
              </a:spcAft>
              <a:buSzPct val="100000"/>
              <a:buChar char="•"/>
            </a:pPr>
            <a:r>
              <a:rPr lang="en-US" sz="1600" dirty="0">
                <a:solidFill>
                  <a:srgbClr val="FFFFFF"/>
                </a:solidFill>
              </a:rPr>
              <a:t>Objetivo económico: el mayor ingreso total por cada pollo</a:t>
            </a:r>
            <a:endParaRPr lang="en-US" sz="1600" dirty="0"/>
          </a:p>
          <a:p>
            <a:pPr marL="203200" indent="-203200">
              <a:spcAft>
                <a:spcPts val="600"/>
              </a:spcAft>
              <a:buSzPct val="100000"/>
              <a:buChar char="•"/>
            </a:pPr>
            <a:r>
              <a:rPr lang="en-US" sz="1600" dirty="0">
                <a:solidFill>
                  <a:srgbClr val="FFFFFF"/>
                </a:solidFill>
              </a:rPr>
              <a:t>Cada eslabón se evalúa: hacerlo, comprarlo, tercerizarlo o postergarlo</a:t>
            </a:r>
            <a:endParaRPr lang="en-US" sz="1600" dirty="0"/>
          </a:p>
        </p:txBody>
      </p:sp>
      <p:sp>
        <p:nvSpPr>
          <p:cNvPr id="15" name="Text 10"/>
          <p:cNvSpPr txBox="1"/>
          <p:nvPr/>
        </p:nvSpPr>
        <p:spPr>
          <a:xfrm>
            <a:off x="548640" y="5760720"/>
            <a:ext cx="11091672" cy="457200"/>
          </a:xfrm>
          <a:prstGeom prst="rect">
            <a:avLst/>
          </a:prstGeom>
          <a:noFill/>
          <a:ln/>
        </p:spPr>
        <p:txBody>
          <a:bodyPr wrap="square" lIns="0" tIns="0" rIns="0" bIns="0" rtlCol="0" anchor="ctr"/>
          <a:lstStyle/>
          <a:p>
            <a:pPr algn="ctr" indent="0" marL="0">
              <a:buNone/>
            </a:pPr>
            <a:r>
              <a:rPr lang="en-US" sz="1400" i="1" dirty="0">
                <a:solidFill>
                  <a:srgbClr val="5F6B66"/>
                </a:solidFill>
              </a:rPr>
              <a:t>El estudio no parte de «qué entra en USD 2 M»: busca qué escala y qué forma de empezar tienen sentido, y cuánto capital requieren.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Cómo funciona el negocio</a:t>
            </a:r>
            <a:endParaRPr lang="en-US" sz="3200" dirty="0"/>
          </a:p>
        </p:txBody>
      </p:sp>
      <p:sp>
        <p:nvSpPr>
          <p:cNvPr id="3" name="círculo FaEgg"/>
          <p:cNvSpPr/>
          <p:nvPr/>
        </p:nvSpPr>
        <p:spPr>
          <a:xfrm>
            <a:off x="548640" y="1463040"/>
            <a:ext cx="960120" cy="960120"/>
          </a:xfrm>
          <a:prstGeom prst="ellipse">
            <a:avLst/>
          </a:prstGeom>
          <a:solidFill>
            <a:srgbClr val="1F4D3A"/>
          </a:solidFill>
          <a:ln w="12700">
            <a:solidFill>
              <a:srgbClr val="1F4D3A"/>
            </a:solidFill>
            <a:prstDash val="solid"/>
          </a:ln>
        </p:spPr>
      </p:sp>
      <p:pic>
        <p:nvPicPr>
          <p:cNvPr id="4" name="Image 0" descr="FaEgg">    </p:cNvPr>
          <p:cNvPicPr>
            <a:picLocks noChangeAspect="1"/>
          </p:cNvPicPr>
          <p:nvPr/>
        </p:nvPicPr>
        <p:blipFill>
          <a:blip r:embed="rId1"/>
          <a:stretch>
            <a:fillRect/>
          </a:stretch>
        </p:blipFill>
        <p:spPr>
          <a:xfrm>
            <a:off x="779069" y="1693469"/>
            <a:ext cx="499262" cy="499262"/>
          </a:xfrm>
          <a:prstGeom prst="rect">
            <a:avLst/>
          </a:prstGeom>
        </p:spPr>
      </p:pic>
      <p:sp>
        <p:nvSpPr>
          <p:cNvPr id="5" name="Text 2"/>
          <p:cNvSpPr txBox="1"/>
          <p:nvPr/>
        </p:nvSpPr>
        <p:spPr>
          <a:xfrm>
            <a:off x="228600"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Pollito</a:t>
            </a:r>
            <a:endParaRPr lang="en-US" sz="1700" dirty="0"/>
          </a:p>
        </p:txBody>
      </p:sp>
      <p:sp>
        <p:nvSpPr>
          <p:cNvPr id="6" name="Text 3"/>
          <p:cNvSpPr txBox="1"/>
          <p:nvPr/>
        </p:nvSpPr>
        <p:spPr>
          <a:xfrm>
            <a:off x="246888"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Pollito BB de un día, de una incubadora</a:t>
            </a:r>
            <a:endParaRPr lang="en-US" sz="1200" dirty="0"/>
          </a:p>
        </p:txBody>
      </p:sp>
      <p:sp>
        <p:nvSpPr>
          <p:cNvPr id="7" name="Shape 4"/>
          <p:cNvSpPr/>
          <p:nvPr/>
        </p:nvSpPr>
        <p:spPr>
          <a:xfrm>
            <a:off x="1581912" y="1943100"/>
            <a:ext cx="582625" cy="91"/>
          </a:xfrm>
          <a:prstGeom prst="line">
            <a:avLst/>
          </a:prstGeom>
          <a:noFill/>
          <a:ln w="25400">
            <a:solidFill>
              <a:srgbClr val="E3A12F"/>
            </a:solidFill>
            <a:prstDash val="solid"/>
            <a:tailEnd type="triangle"/>
          </a:ln>
        </p:spPr>
      </p:sp>
      <p:sp>
        <p:nvSpPr>
          <p:cNvPr id="8" name="círculo GiBarn"/>
          <p:cNvSpPr/>
          <p:nvPr/>
        </p:nvSpPr>
        <p:spPr>
          <a:xfrm>
            <a:off x="2237689" y="1463040"/>
            <a:ext cx="960120" cy="960120"/>
          </a:xfrm>
          <a:prstGeom prst="ellipse">
            <a:avLst/>
          </a:prstGeom>
          <a:solidFill>
            <a:srgbClr val="1F4D3A"/>
          </a:solidFill>
          <a:ln w="12700">
            <a:solidFill>
              <a:srgbClr val="1F4D3A"/>
            </a:solidFill>
            <a:prstDash val="solid"/>
          </a:ln>
        </p:spPr>
      </p:sp>
      <p:pic>
        <p:nvPicPr>
          <p:cNvPr id="9" name="Image 1" descr="GiBarn">    </p:cNvPr>
          <p:cNvPicPr>
            <a:picLocks noChangeAspect="1"/>
          </p:cNvPicPr>
          <p:nvPr/>
        </p:nvPicPr>
        <p:blipFill>
          <a:blip r:embed="rId2"/>
          <a:stretch>
            <a:fillRect/>
          </a:stretch>
        </p:blipFill>
        <p:spPr>
          <a:xfrm>
            <a:off x="2468118" y="1693469"/>
            <a:ext cx="499262" cy="499262"/>
          </a:xfrm>
          <a:prstGeom prst="rect">
            <a:avLst/>
          </a:prstGeom>
        </p:spPr>
      </p:pic>
      <p:sp>
        <p:nvSpPr>
          <p:cNvPr id="10" name="Text 6"/>
          <p:cNvSpPr txBox="1"/>
          <p:nvPr/>
        </p:nvSpPr>
        <p:spPr>
          <a:xfrm>
            <a:off x="1917649"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Granja</a:t>
            </a:r>
            <a:endParaRPr lang="en-US" sz="1700" dirty="0"/>
          </a:p>
        </p:txBody>
      </p:sp>
      <p:sp>
        <p:nvSpPr>
          <p:cNvPr id="11" name="Text 7"/>
          <p:cNvSpPr txBox="1"/>
          <p:nvPr/>
        </p:nvSpPr>
        <p:spPr>
          <a:xfrm>
            <a:off x="1935937"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Crianza en galpones hasta el peso de faena</a:t>
            </a:r>
            <a:endParaRPr lang="en-US" sz="1200" dirty="0"/>
          </a:p>
        </p:txBody>
      </p:sp>
      <p:sp>
        <p:nvSpPr>
          <p:cNvPr id="12" name="Shape 8"/>
          <p:cNvSpPr/>
          <p:nvPr/>
        </p:nvSpPr>
        <p:spPr>
          <a:xfrm>
            <a:off x="3270961" y="1943100"/>
            <a:ext cx="582625" cy="91"/>
          </a:xfrm>
          <a:prstGeom prst="line">
            <a:avLst/>
          </a:prstGeom>
          <a:noFill/>
          <a:ln w="25400">
            <a:solidFill>
              <a:srgbClr val="E3A12F"/>
            </a:solidFill>
            <a:prstDash val="solid"/>
            <a:tailEnd type="triangle"/>
          </a:ln>
        </p:spPr>
      </p:sp>
      <p:sp>
        <p:nvSpPr>
          <p:cNvPr id="13" name="círculo GiCorn"/>
          <p:cNvSpPr/>
          <p:nvPr/>
        </p:nvSpPr>
        <p:spPr>
          <a:xfrm>
            <a:off x="3926738" y="1463040"/>
            <a:ext cx="960120" cy="960120"/>
          </a:xfrm>
          <a:prstGeom prst="ellipse">
            <a:avLst/>
          </a:prstGeom>
          <a:solidFill>
            <a:srgbClr val="1F4D3A"/>
          </a:solidFill>
          <a:ln w="12700">
            <a:solidFill>
              <a:srgbClr val="1F4D3A"/>
            </a:solidFill>
            <a:prstDash val="solid"/>
          </a:ln>
        </p:spPr>
      </p:sp>
      <p:pic>
        <p:nvPicPr>
          <p:cNvPr id="14" name="Image 2" descr="GiCorn">    </p:cNvPr>
          <p:cNvPicPr>
            <a:picLocks noChangeAspect="1"/>
          </p:cNvPicPr>
          <p:nvPr/>
        </p:nvPicPr>
        <p:blipFill>
          <a:blip r:embed="rId3"/>
          <a:stretch>
            <a:fillRect/>
          </a:stretch>
        </p:blipFill>
        <p:spPr>
          <a:xfrm>
            <a:off x="4157167" y="1693469"/>
            <a:ext cx="499262" cy="499262"/>
          </a:xfrm>
          <a:prstGeom prst="rect">
            <a:avLst/>
          </a:prstGeom>
        </p:spPr>
      </p:pic>
      <p:sp>
        <p:nvSpPr>
          <p:cNvPr id="15" name="Text 10"/>
          <p:cNvSpPr txBox="1"/>
          <p:nvPr/>
        </p:nvSpPr>
        <p:spPr>
          <a:xfrm>
            <a:off x="3606698"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Alimento</a:t>
            </a:r>
            <a:endParaRPr lang="en-US" sz="1700" dirty="0"/>
          </a:p>
        </p:txBody>
      </p:sp>
      <p:sp>
        <p:nvSpPr>
          <p:cNvPr id="16" name="Text 11"/>
          <p:cNvSpPr txBox="1"/>
          <p:nvPr/>
        </p:nvSpPr>
        <p:spPr>
          <a:xfrm>
            <a:off x="3624986"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El mayor flujo físico de todo el sistema</a:t>
            </a:r>
            <a:endParaRPr lang="en-US" sz="1200" dirty="0"/>
          </a:p>
        </p:txBody>
      </p:sp>
      <p:sp>
        <p:nvSpPr>
          <p:cNvPr id="17" name="Shape 12"/>
          <p:cNvSpPr/>
          <p:nvPr/>
        </p:nvSpPr>
        <p:spPr>
          <a:xfrm>
            <a:off x="4960010" y="1943100"/>
            <a:ext cx="582625" cy="91"/>
          </a:xfrm>
          <a:prstGeom prst="line">
            <a:avLst/>
          </a:prstGeom>
          <a:noFill/>
          <a:ln w="25400">
            <a:solidFill>
              <a:srgbClr val="E3A12F"/>
            </a:solidFill>
            <a:prstDash val="solid"/>
            <a:tailEnd type="triangle"/>
          </a:ln>
        </p:spPr>
      </p:sp>
      <p:sp>
        <p:nvSpPr>
          <p:cNvPr id="18" name="círculo FaTruck"/>
          <p:cNvSpPr/>
          <p:nvPr/>
        </p:nvSpPr>
        <p:spPr>
          <a:xfrm>
            <a:off x="5615788" y="1463040"/>
            <a:ext cx="960120" cy="960120"/>
          </a:xfrm>
          <a:prstGeom prst="ellipse">
            <a:avLst/>
          </a:prstGeom>
          <a:solidFill>
            <a:srgbClr val="1F4D3A"/>
          </a:solidFill>
          <a:ln w="12700">
            <a:solidFill>
              <a:srgbClr val="1F4D3A"/>
            </a:solidFill>
            <a:prstDash val="solid"/>
          </a:ln>
        </p:spPr>
      </p:sp>
      <p:pic>
        <p:nvPicPr>
          <p:cNvPr id="19" name="Image 3" descr="FaTruck">    </p:cNvPr>
          <p:cNvPicPr>
            <a:picLocks noChangeAspect="1"/>
          </p:cNvPicPr>
          <p:nvPr/>
        </p:nvPicPr>
        <p:blipFill>
          <a:blip r:embed="rId4"/>
          <a:stretch>
            <a:fillRect/>
          </a:stretch>
        </p:blipFill>
        <p:spPr>
          <a:xfrm>
            <a:off x="5846216" y="1693469"/>
            <a:ext cx="499262" cy="499262"/>
          </a:xfrm>
          <a:prstGeom prst="rect">
            <a:avLst/>
          </a:prstGeom>
        </p:spPr>
      </p:pic>
      <p:sp>
        <p:nvSpPr>
          <p:cNvPr id="20" name="Text 14"/>
          <p:cNvSpPr txBox="1"/>
          <p:nvPr/>
        </p:nvSpPr>
        <p:spPr>
          <a:xfrm>
            <a:off x="5295748"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Transporte</a:t>
            </a:r>
            <a:endParaRPr lang="en-US" sz="1700" dirty="0"/>
          </a:p>
        </p:txBody>
      </p:sp>
      <p:sp>
        <p:nvSpPr>
          <p:cNvPr id="21" name="Text 15"/>
          <p:cNvSpPr txBox="1"/>
          <p:nvPr/>
        </p:nvSpPr>
        <p:spPr>
          <a:xfrm>
            <a:off x="5314036"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Aves vivas de la granja a la planta</a:t>
            </a:r>
            <a:endParaRPr lang="en-US" sz="1200" dirty="0"/>
          </a:p>
        </p:txBody>
      </p:sp>
      <p:sp>
        <p:nvSpPr>
          <p:cNvPr id="22" name="Shape 16"/>
          <p:cNvSpPr/>
          <p:nvPr/>
        </p:nvSpPr>
        <p:spPr>
          <a:xfrm>
            <a:off x="6649060" y="1943100"/>
            <a:ext cx="582625" cy="91"/>
          </a:xfrm>
          <a:prstGeom prst="line">
            <a:avLst/>
          </a:prstGeom>
          <a:noFill/>
          <a:ln w="25400">
            <a:solidFill>
              <a:srgbClr val="E3A12F"/>
            </a:solidFill>
            <a:prstDash val="solid"/>
            <a:tailEnd type="triangle"/>
          </a:ln>
        </p:spPr>
      </p:sp>
      <p:sp>
        <p:nvSpPr>
          <p:cNvPr id="23" name="círculo GiFactory"/>
          <p:cNvSpPr/>
          <p:nvPr/>
        </p:nvSpPr>
        <p:spPr>
          <a:xfrm>
            <a:off x="7304837" y="1463040"/>
            <a:ext cx="960120" cy="960120"/>
          </a:xfrm>
          <a:prstGeom prst="ellipse">
            <a:avLst/>
          </a:prstGeom>
          <a:solidFill>
            <a:srgbClr val="E3A12F"/>
          </a:solidFill>
          <a:ln w="12700">
            <a:solidFill>
              <a:srgbClr val="E3A12F"/>
            </a:solidFill>
            <a:prstDash val="solid"/>
          </a:ln>
        </p:spPr>
      </p:sp>
      <p:pic>
        <p:nvPicPr>
          <p:cNvPr id="24" name="Image 4" descr="GiFactory">    </p:cNvPr>
          <p:cNvPicPr>
            <a:picLocks noChangeAspect="1"/>
          </p:cNvPicPr>
          <p:nvPr/>
        </p:nvPicPr>
        <p:blipFill>
          <a:blip r:embed="rId5"/>
          <a:stretch>
            <a:fillRect/>
          </a:stretch>
        </p:blipFill>
        <p:spPr>
          <a:xfrm>
            <a:off x="7535266" y="1693469"/>
            <a:ext cx="499262" cy="499262"/>
          </a:xfrm>
          <a:prstGeom prst="rect">
            <a:avLst/>
          </a:prstGeom>
        </p:spPr>
      </p:pic>
      <p:sp>
        <p:nvSpPr>
          <p:cNvPr id="25" name="Text 18"/>
          <p:cNvSpPr txBox="1"/>
          <p:nvPr/>
        </p:nvSpPr>
        <p:spPr>
          <a:xfrm>
            <a:off x="6984797"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Planta</a:t>
            </a:r>
            <a:endParaRPr lang="en-US" sz="1700" dirty="0"/>
          </a:p>
        </p:txBody>
      </p:sp>
      <p:sp>
        <p:nvSpPr>
          <p:cNvPr id="26" name="Text 19"/>
          <p:cNvSpPr txBox="1"/>
          <p:nvPr/>
        </p:nvSpPr>
        <p:spPr>
          <a:xfrm>
            <a:off x="7003085"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Faena, enfriamiento, trozado y empaque</a:t>
            </a:r>
            <a:endParaRPr lang="en-US" sz="1200" dirty="0"/>
          </a:p>
        </p:txBody>
      </p:sp>
      <p:sp>
        <p:nvSpPr>
          <p:cNvPr id="27" name="Shape 20"/>
          <p:cNvSpPr/>
          <p:nvPr/>
        </p:nvSpPr>
        <p:spPr>
          <a:xfrm>
            <a:off x="8338109" y="1943100"/>
            <a:ext cx="582625" cy="91"/>
          </a:xfrm>
          <a:prstGeom prst="line">
            <a:avLst/>
          </a:prstGeom>
          <a:noFill/>
          <a:ln w="25400">
            <a:solidFill>
              <a:srgbClr val="E3A12F"/>
            </a:solidFill>
            <a:prstDash val="solid"/>
            <a:tailEnd type="triangle"/>
          </a:ln>
        </p:spPr>
      </p:sp>
      <p:sp>
        <p:nvSpPr>
          <p:cNvPr id="28" name="círculo GiChickenLeg"/>
          <p:cNvSpPr/>
          <p:nvPr/>
        </p:nvSpPr>
        <p:spPr>
          <a:xfrm>
            <a:off x="8993886" y="1463040"/>
            <a:ext cx="960120" cy="960120"/>
          </a:xfrm>
          <a:prstGeom prst="ellipse">
            <a:avLst/>
          </a:prstGeom>
          <a:solidFill>
            <a:srgbClr val="1F4D3A"/>
          </a:solidFill>
          <a:ln w="12700">
            <a:solidFill>
              <a:srgbClr val="1F4D3A"/>
            </a:solidFill>
            <a:prstDash val="solid"/>
          </a:ln>
        </p:spPr>
      </p:sp>
      <p:pic>
        <p:nvPicPr>
          <p:cNvPr id="29" name="Image 5" descr="GiChickenLeg">    </p:cNvPr>
          <p:cNvPicPr>
            <a:picLocks noChangeAspect="1"/>
          </p:cNvPicPr>
          <p:nvPr/>
        </p:nvPicPr>
        <p:blipFill>
          <a:blip r:embed="rId6"/>
          <a:stretch>
            <a:fillRect/>
          </a:stretch>
        </p:blipFill>
        <p:spPr>
          <a:xfrm>
            <a:off x="9224315" y="1693469"/>
            <a:ext cx="499262" cy="499262"/>
          </a:xfrm>
          <a:prstGeom prst="rect">
            <a:avLst/>
          </a:prstGeom>
        </p:spPr>
      </p:pic>
      <p:sp>
        <p:nvSpPr>
          <p:cNvPr id="30" name="Text 22"/>
          <p:cNvSpPr txBox="1"/>
          <p:nvPr/>
        </p:nvSpPr>
        <p:spPr>
          <a:xfrm>
            <a:off x="8673846"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Productos</a:t>
            </a:r>
            <a:endParaRPr lang="en-US" sz="1700" dirty="0"/>
          </a:p>
        </p:txBody>
      </p:sp>
      <p:sp>
        <p:nvSpPr>
          <p:cNvPr id="31" name="Text 23"/>
          <p:cNvSpPr txBox="1"/>
          <p:nvPr/>
        </p:nvSpPr>
        <p:spPr>
          <a:xfrm>
            <a:off x="8692134"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Entero, trozado, deshuesado, menudencias</a:t>
            </a:r>
            <a:endParaRPr lang="en-US" sz="1200" dirty="0"/>
          </a:p>
        </p:txBody>
      </p:sp>
      <p:sp>
        <p:nvSpPr>
          <p:cNvPr id="32" name="Shape 24"/>
          <p:cNvSpPr/>
          <p:nvPr/>
        </p:nvSpPr>
        <p:spPr>
          <a:xfrm>
            <a:off x="10027158" y="1943100"/>
            <a:ext cx="582625" cy="91"/>
          </a:xfrm>
          <a:prstGeom prst="line">
            <a:avLst/>
          </a:prstGeom>
          <a:noFill/>
          <a:ln w="25400">
            <a:solidFill>
              <a:srgbClr val="E3A12F"/>
            </a:solidFill>
            <a:prstDash val="solid"/>
            <a:tailEnd type="triangle"/>
          </a:ln>
        </p:spPr>
      </p:sp>
      <p:sp>
        <p:nvSpPr>
          <p:cNvPr id="33" name="círculo FaShoppingCart"/>
          <p:cNvSpPr/>
          <p:nvPr/>
        </p:nvSpPr>
        <p:spPr>
          <a:xfrm>
            <a:off x="10682935" y="1463040"/>
            <a:ext cx="960120" cy="960120"/>
          </a:xfrm>
          <a:prstGeom prst="ellipse">
            <a:avLst/>
          </a:prstGeom>
          <a:solidFill>
            <a:srgbClr val="1F4D3A"/>
          </a:solidFill>
          <a:ln w="12700">
            <a:solidFill>
              <a:srgbClr val="1F4D3A"/>
            </a:solidFill>
            <a:prstDash val="solid"/>
          </a:ln>
        </p:spPr>
      </p:sp>
      <p:pic>
        <p:nvPicPr>
          <p:cNvPr id="34" name="Image 6" descr="FaShoppingCart">    </p:cNvPr>
          <p:cNvPicPr>
            <a:picLocks noChangeAspect="1"/>
          </p:cNvPicPr>
          <p:nvPr/>
        </p:nvPicPr>
        <p:blipFill>
          <a:blip r:embed="rId7"/>
          <a:stretch>
            <a:fillRect/>
          </a:stretch>
        </p:blipFill>
        <p:spPr>
          <a:xfrm>
            <a:off x="10913364" y="1693469"/>
            <a:ext cx="499262" cy="499262"/>
          </a:xfrm>
          <a:prstGeom prst="rect">
            <a:avLst/>
          </a:prstGeom>
        </p:spPr>
      </p:pic>
      <p:sp>
        <p:nvSpPr>
          <p:cNvPr id="35" name="Text 26"/>
          <p:cNvSpPr txBox="1"/>
          <p:nvPr/>
        </p:nvSpPr>
        <p:spPr>
          <a:xfrm>
            <a:off x="10362895" y="2514600"/>
            <a:ext cx="1600200" cy="365760"/>
          </a:xfrm>
          <a:prstGeom prst="rect">
            <a:avLst/>
          </a:prstGeom>
          <a:noFill/>
          <a:ln/>
        </p:spPr>
        <p:txBody>
          <a:bodyPr wrap="square" lIns="0" tIns="0" rIns="0" bIns="0" rtlCol="0" anchor="t"/>
          <a:lstStyle/>
          <a:p>
            <a:pPr algn="ctr" indent="0" marL="0">
              <a:buNone/>
            </a:pPr>
            <a:r>
              <a:rPr lang="en-US" sz="1700" b="1" dirty="0">
                <a:solidFill>
                  <a:srgbClr val="1F4D3A"/>
                </a:solidFill>
              </a:rPr>
              <a:t>Cliente</a:t>
            </a:r>
            <a:endParaRPr lang="en-US" sz="1700" dirty="0"/>
          </a:p>
        </p:txBody>
      </p:sp>
      <p:sp>
        <p:nvSpPr>
          <p:cNvPr id="36" name="Text 27"/>
          <p:cNvSpPr txBox="1"/>
          <p:nvPr/>
        </p:nvSpPr>
        <p:spPr>
          <a:xfrm>
            <a:off x="10381183" y="2898648"/>
            <a:ext cx="1563624" cy="777240"/>
          </a:xfrm>
          <a:prstGeom prst="rect">
            <a:avLst/>
          </a:prstGeom>
          <a:noFill/>
          <a:ln/>
        </p:spPr>
        <p:txBody>
          <a:bodyPr wrap="square" lIns="0" tIns="0" rIns="0" bIns="0" rtlCol="0" anchor="t"/>
          <a:lstStyle/>
          <a:p>
            <a:pPr algn="ctr" indent="0" marL="0">
              <a:buNone/>
            </a:pPr>
            <a:r>
              <a:rPr lang="en-US" sz="1200" dirty="0">
                <a:solidFill>
                  <a:srgbClr val="5F6B66"/>
                </a:solidFill>
              </a:rPr>
              <a:t>Supermercados, mayoristas, industria, gastronomía</a:t>
            </a:r>
            <a:endParaRPr lang="en-US" sz="1200" dirty="0"/>
          </a:p>
        </p:txBody>
      </p:sp>
      <p:sp>
        <p:nvSpPr>
          <p:cNvPr id="37" name="Text 28"/>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b="1" dirty="0">
                <a:solidFill>
                  <a:srgbClr val="5F6B66"/>
                </a:solidFill>
              </a:rPr>
              <a:t>Ramas que salen de la cadena</a:t>
            </a:r>
            <a:endParaRPr lang="en-US" sz="1600" dirty="0"/>
          </a:p>
        </p:txBody>
      </p:sp>
      <p:sp>
        <p:nvSpPr>
          <p:cNvPr id="38" name="rama Subproductos"/>
          <p:cNvSpPr/>
          <p:nvPr/>
        </p:nvSpPr>
        <p:spPr>
          <a:xfrm>
            <a:off x="548640" y="4389120"/>
            <a:ext cx="2642616" cy="1783080"/>
          </a:xfrm>
          <a:prstGeom prst="roundRect">
            <a:avLst>
              <a:gd name="adj" fmla="val 4103"/>
            </a:avLst>
          </a:prstGeom>
          <a:solidFill>
            <a:srgbClr val="EAF2EC"/>
          </a:solidFill>
          <a:ln w="12700">
            <a:solidFill>
              <a:srgbClr val="1F4D3A"/>
            </a:solidFill>
            <a:prstDash val="dash"/>
          </a:ln>
        </p:spPr>
      </p:sp>
      <p:sp>
        <p:nvSpPr>
          <p:cNvPr id="39" name="círculo FaRecycle"/>
          <p:cNvSpPr/>
          <p:nvPr/>
        </p:nvSpPr>
        <p:spPr>
          <a:xfrm>
            <a:off x="749808" y="4572000"/>
            <a:ext cx="548640" cy="548640"/>
          </a:xfrm>
          <a:prstGeom prst="ellipse">
            <a:avLst/>
          </a:prstGeom>
          <a:solidFill>
            <a:srgbClr val="FFFFFF"/>
          </a:solidFill>
          <a:ln w="12700">
            <a:solidFill>
              <a:srgbClr val="FFFFFF"/>
            </a:solidFill>
            <a:prstDash val="solid"/>
          </a:ln>
        </p:spPr>
      </p:sp>
      <p:pic>
        <p:nvPicPr>
          <p:cNvPr id="40" name="Image 7" descr="FaRecycle">    </p:cNvPr>
          <p:cNvPicPr>
            <a:picLocks noChangeAspect="1"/>
          </p:cNvPicPr>
          <p:nvPr/>
        </p:nvPicPr>
        <p:blipFill>
          <a:blip r:embed="rId8"/>
          <a:stretch>
            <a:fillRect/>
          </a:stretch>
        </p:blipFill>
        <p:spPr>
          <a:xfrm>
            <a:off x="881482" y="4703674"/>
            <a:ext cx="285293" cy="285293"/>
          </a:xfrm>
          <a:prstGeom prst="rect">
            <a:avLst/>
          </a:prstGeom>
        </p:spPr>
      </p:pic>
      <p:sp>
        <p:nvSpPr>
          <p:cNvPr id="41" name="Text 31"/>
          <p:cNvSpPr txBox="1"/>
          <p:nvPr/>
        </p:nvSpPr>
        <p:spPr>
          <a:xfrm>
            <a:off x="1417320" y="4572000"/>
            <a:ext cx="1691640" cy="548640"/>
          </a:xfrm>
          <a:prstGeom prst="rect">
            <a:avLst/>
          </a:prstGeom>
          <a:noFill/>
          <a:ln/>
        </p:spPr>
        <p:txBody>
          <a:bodyPr wrap="square" lIns="0" tIns="0" rIns="0" bIns="0" rtlCol="0" anchor="ctr"/>
          <a:lstStyle/>
          <a:p>
            <a:pPr indent="0" marL="0">
              <a:buNone/>
            </a:pPr>
            <a:r>
              <a:rPr lang="en-US" sz="1600" b="1" dirty="0">
                <a:solidFill>
                  <a:srgbClr val="1F4D3A"/>
                </a:solidFill>
              </a:rPr>
              <a:t>Subproductos</a:t>
            </a:r>
            <a:endParaRPr lang="en-US" sz="1600" dirty="0"/>
          </a:p>
        </p:txBody>
      </p:sp>
      <p:sp>
        <p:nvSpPr>
          <p:cNvPr id="42" name="Text 32"/>
          <p:cNvSpPr txBox="1"/>
          <p:nvPr/>
        </p:nvSpPr>
        <p:spPr>
          <a:xfrm>
            <a:off x="749808" y="5230368"/>
            <a:ext cx="2286000" cy="868680"/>
          </a:xfrm>
          <a:prstGeom prst="rect">
            <a:avLst/>
          </a:prstGeom>
          <a:noFill/>
          <a:ln/>
        </p:spPr>
        <p:txBody>
          <a:bodyPr wrap="square" lIns="0" tIns="0" rIns="0" bIns="0" rtlCol="0" anchor="t"/>
          <a:lstStyle/>
          <a:p>
            <a:pPr indent="0" marL="0">
              <a:buNone/>
            </a:pPr>
            <a:r>
              <a:rPr lang="en-US" sz="1200" dirty="0">
                <a:solidFill>
                  <a:srgbClr val="1E2B24"/>
                </a:solidFill>
              </a:rPr>
              <a:t>Plumas, sangre, vísceras y huesos: se venden, se procesan a façon o, a futuro, en un rendering propio</a:t>
            </a:r>
            <a:endParaRPr lang="en-US" sz="1200" dirty="0"/>
          </a:p>
        </p:txBody>
      </p:sp>
      <p:sp>
        <p:nvSpPr>
          <p:cNvPr id="43" name="rama Efluentes"/>
          <p:cNvSpPr/>
          <p:nvPr/>
        </p:nvSpPr>
        <p:spPr>
          <a:xfrm>
            <a:off x="3364992" y="4389120"/>
            <a:ext cx="2642616" cy="1783080"/>
          </a:xfrm>
          <a:prstGeom prst="roundRect">
            <a:avLst>
              <a:gd name="adj" fmla="val 4103"/>
            </a:avLst>
          </a:prstGeom>
          <a:solidFill>
            <a:srgbClr val="EAF2EC"/>
          </a:solidFill>
          <a:ln w="12700">
            <a:solidFill>
              <a:srgbClr val="1F4D3A"/>
            </a:solidFill>
            <a:prstDash val="dash"/>
          </a:ln>
        </p:spPr>
      </p:sp>
      <p:sp>
        <p:nvSpPr>
          <p:cNvPr id="44" name="círculo FaTint"/>
          <p:cNvSpPr/>
          <p:nvPr/>
        </p:nvSpPr>
        <p:spPr>
          <a:xfrm>
            <a:off x="3566160" y="4572000"/>
            <a:ext cx="548640" cy="548640"/>
          </a:xfrm>
          <a:prstGeom prst="ellipse">
            <a:avLst/>
          </a:prstGeom>
          <a:solidFill>
            <a:srgbClr val="FFFFFF"/>
          </a:solidFill>
          <a:ln w="12700">
            <a:solidFill>
              <a:srgbClr val="FFFFFF"/>
            </a:solidFill>
            <a:prstDash val="solid"/>
          </a:ln>
        </p:spPr>
      </p:sp>
      <p:pic>
        <p:nvPicPr>
          <p:cNvPr id="45" name="Image 8" descr="FaTint">    </p:cNvPr>
          <p:cNvPicPr>
            <a:picLocks noChangeAspect="1"/>
          </p:cNvPicPr>
          <p:nvPr/>
        </p:nvPicPr>
        <p:blipFill>
          <a:blip r:embed="rId9"/>
          <a:stretch>
            <a:fillRect/>
          </a:stretch>
        </p:blipFill>
        <p:spPr>
          <a:xfrm>
            <a:off x="3697834" y="4703674"/>
            <a:ext cx="285293" cy="285293"/>
          </a:xfrm>
          <a:prstGeom prst="rect">
            <a:avLst/>
          </a:prstGeom>
        </p:spPr>
      </p:pic>
      <p:sp>
        <p:nvSpPr>
          <p:cNvPr id="46" name="Text 35"/>
          <p:cNvSpPr txBox="1"/>
          <p:nvPr/>
        </p:nvSpPr>
        <p:spPr>
          <a:xfrm>
            <a:off x="4233672" y="4572000"/>
            <a:ext cx="1691640" cy="548640"/>
          </a:xfrm>
          <a:prstGeom prst="rect">
            <a:avLst/>
          </a:prstGeom>
          <a:noFill/>
          <a:ln/>
        </p:spPr>
        <p:txBody>
          <a:bodyPr wrap="square" lIns="0" tIns="0" rIns="0" bIns="0" rtlCol="0" anchor="ctr"/>
          <a:lstStyle/>
          <a:p>
            <a:pPr indent="0" marL="0">
              <a:buNone/>
            </a:pPr>
            <a:r>
              <a:rPr lang="en-US" sz="1600" b="1" dirty="0">
                <a:solidFill>
                  <a:srgbClr val="1F4D3A"/>
                </a:solidFill>
              </a:rPr>
              <a:t>Efluentes</a:t>
            </a:r>
            <a:endParaRPr lang="en-US" sz="1600" dirty="0"/>
          </a:p>
        </p:txBody>
      </p:sp>
      <p:sp>
        <p:nvSpPr>
          <p:cNvPr id="47" name="Text 36"/>
          <p:cNvSpPr txBox="1"/>
          <p:nvPr/>
        </p:nvSpPr>
        <p:spPr>
          <a:xfrm>
            <a:off x="3566160" y="5230368"/>
            <a:ext cx="2286000" cy="868680"/>
          </a:xfrm>
          <a:prstGeom prst="rect">
            <a:avLst/>
          </a:prstGeom>
          <a:noFill/>
          <a:ln/>
        </p:spPr>
        <p:txBody>
          <a:bodyPr wrap="square" lIns="0" tIns="0" rIns="0" bIns="0" rtlCol="0" anchor="t"/>
          <a:lstStyle/>
          <a:p>
            <a:pPr indent="0" marL="0">
              <a:buNone/>
            </a:pPr>
            <a:r>
              <a:rPr lang="en-US" sz="1200" dirty="0">
                <a:solidFill>
                  <a:srgbClr val="1E2B24"/>
                </a:solidFill>
              </a:rPr>
              <a:t>El agua de proceso se trata antes de volcarla; condiciona el terreno</a:t>
            </a:r>
            <a:endParaRPr lang="en-US" sz="1200" dirty="0"/>
          </a:p>
        </p:txBody>
      </p:sp>
      <p:sp>
        <p:nvSpPr>
          <p:cNvPr id="48" name="rama Frío"/>
          <p:cNvSpPr/>
          <p:nvPr/>
        </p:nvSpPr>
        <p:spPr>
          <a:xfrm>
            <a:off x="6181344" y="4389120"/>
            <a:ext cx="2642616" cy="1783080"/>
          </a:xfrm>
          <a:prstGeom prst="roundRect">
            <a:avLst>
              <a:gd name="adj" fmla="val 4103"/>
            </a:avLst>
          </a:prstGeom>
          <a:solidFill>
            <a:srgbClr val="EAF2EC"/>
          </a:solidFill>
          <a:ln w="12700">
            <a:solidFill>
              <a:srgbClr val="1F4D3A"/>
            </a:solidFill>
            <a:prstDash val="dash"/>
          </a:ln>
        </p:spPr>
      </p:sp>
      <p:sp>
        <p:nvSpPr>
          <p:cNvPr id="49" name="círculo FaSnowflake"/>
          <p:cNvSpPr/>
          <p:nvPr/>
        </p:nvSpPr>
        <p:spPr>
          <a:xfrm>
            <a:off x="6382512" y="4572000"/>
            <a:ext cx="548640" cy="548640"/>
          </a:xfrm>
          <a:prstGeom prst="ellipse">
            <a:avLst/>
          </a:prstGeom>
          <a:solidFill>
            <a:srgbClr val="FFFFFF"/>
          </a:solidFill>
          <a:ln w="12700">
            <a:solidFill>
              <a:srgbClr val="FFFFFF"/>
            </a:solidFill>
            <a:prstDash val="solid"/>
          </a:ln>
        </p:spPr>
      </p:sp>
      <p:pic>
        <p:nvPicPr>
          <p:cNvPr id="50" name="Image 9" descr="FaSnowflake">    </p:cNvPr>
          <p:cNvPicPr>
            <a:picLocks noChangeAspect="1"/>
          </p:cNvPicPr>
          <p:nvPr/>
        </p:nvPicPr>
        <p:blipFill>
          <a:blip r:embed="rId10"/>
          <a:stretch>
            <a:fillRect/>
          </a:stretch>
        </p:blipFill>
        <p:spPr>
          <a:xfrm>
            <a:off x="6514186" y="4703674"/>
            <a:ext cx="285293" cy="285293"/>
          </a:xfrm>
          <a:prstGeom prst="rect">
            <a:avLst/>
          </a:prstGeom>
        </p:spPr>
      </p:pic>
      <p:sp>
        <p:nvSpPr>
          <p:cNvPr id="51" name="Text 39"/>
          <p:cNvSpPr txBox="1"/>
          <p:nvPr/>
        </p:nvSpPr>
        <p:spPr>
          <a:xfrm>
            <a:off x="7050024" y="4572000"/>
            <a:ext cx="1691640" cy="548640"/>
          </a:xfrm>
          <a:prstGeom prst="rect">
            <a:avLst/>
          </a:prstGeom>
          <a:noFill/>
          <a:ln/>
        </p:spPr>
        <p:txBody>
          <a:bodyPr wrap="square" lIns="0" tIns="0" rIns="0" bIns="0" rtlCol="0" anchor="ctr"/>
          <a:lstStyle/>
          <a:p>
            <a:pPr indent="0" marL="0">
              <a:buNone/>
            </a:pPr>
            <a:r>
              <a:rPr lang="en-US" sz="1600" b="1" dirty="0">
                <a:solidFill>
                  <a:srgbClr val="1F4D3A"/>
                </a:solidFill>
              </a:rPr>
              <a:t>Frío</a:t>
            </a:r>
            <a:endParaRPr lang="en-US" sz="1600" dirty="0"/>
          </a:p>
        </p:txBody>
      </p:sp>
      <p:sp>
        <p:nvSpPr>
          <p:cNvPr id="52" name="Text 40"/>
          <p:cNvSpPr txBox="1"/>
          <p:nvPr/>
        </p:nvSpPr>
        <p:spPr>
          <a:xfrm>
            <a:off x="6382512" y="5230368"/>
            <a:ext cx="2286000" cy="868680"/>
          </a:xfrm>
          <a:prstGeom prst="rect">
            <a:avLst/>
          </a:prstGeom>
          <a:noFill/>
          <a:ln/>
        </p:spPr>
        <p:txBody>
          <a:bodyPr wrap="square" lIns="0" tIns="0" rIns="0" bIns="0" rtlCol="0" anchor="t"/>
          <a:lstStyle/>
          <a:p>
            <a:pPr indent="0" marL="0">
              <a:buNone/>
            </a:pPr>
            <a:r>
              <a:rPr lang="en-US" sz="1200" dirty="0">
                <a:solidFill>
                  <a:srgbClr val="1E2B24"/>
                </a:solidFill>
              </a:rPr>
              <a:t>Cámaras de refrigerado y congelado; une planta, stock y despacho</a:t>
            </a:r>
            <a:endParaRPr lang="en-US" sz="1200" dirty="0"/>
          </a:p>
        </p:txBody>
      </p:sp>
      <p:sp>
        <p:nvSpPr>
          <p:cNvPr id="53" name="rama Exportación"/>
          <p:cNvSpPr/>
          <p:nvPr/>
        </p:nvSpPr>
        <p:spPr>
          <a:xfrm>
            <a:off x="8997696" y="4389120"/>
            <a:ext cx="2642616" cy="1783080"/>
          </a:xfrm>
          <a:prstGeom prst="roundRect">
            <a:avLst>
              <a:gd name="adj" fmla="val 4103"/>
            </a:avLst>
          </a:prstGeom>
          <a:solidFill>
            <a:srgbClr val="EAF2EC"/>
          </a:solidFill>
          <a:ln w="12700">
            <a:solidFill>
              <a:srgbClr val="1F4D3A"/>
            </a:solidFill>
            <a:prstDash val="dash"/>
          </a:ln>
        </p:spPr>
      </p:sp>
      <p:sp>
        <p:nvSpPr>
          <p:cNvPr id="54" name="círculo FaShip"/>
          <p:cNvSpPr/>
          <p:nvPr/>
        </p:nvSpPr>
        <p:spPr>
          <a:xfrm>
            <a:off x="9198864" y="4572000"/>
            <a:ext cx="548640" cy="548640"/>
          </a:xfrm>
          <a:prstGeom prst="ellipse">
            <a:avLst/>
          </a:prstGeom>
          <a:solidFill>
            <a:srgbClr val="FFFFFF"/>
          </a:solidFill>
          <a:ln w="12700">
            <a:solidFill>
              <a:srgbClr val="FFFFFF"/>
            </a:solidFill>
            <a:prstDash val="solid"/>
          </a:ln>
        </p:spPr>
      </p:sp>
      <p:pic>
        <p:nvPicPr>
          <p:cNvPr id="55" name="Image 10" descr="FaShip">    </p:cNvPr>
          <p:cNvPicPr>
            <a:picLocks noChangeAspect="1"/>
          </p:cNvPicPr>
          <p:nvPr/>
        </p:nvPicPr>
        <p:blipFill>
          <a:blip r:embed="rId11"/>
          <a:stretch>
            <a:fillRect/>
          </a:stretch>
        </p:blipFill>
        <p:spPr>
          <a:xfrm>
            <a:off x="9330538" y="4703674"/>
            <a:ext cx="285293" cy="285293"/>
          </a:xfrm>
          <a:prstGeom prst="rect">
            <a:avLst/>
          </a:prstGeom>
        </p:spPr>
      </p:pic>
      <p:sp>
        <p:nvSpPr>
          <p:cNvPr id="56" name="Text 43"/>
          <p:cNvSpPr txBox="1"/>
          <p:nvPr/>
        </p:nvSpPr>
        <p:spPr>
          <a:xfrm>
            <a:off x="9866376" y="4572000"/>
            <a:ext cx="1691640" cy="548640"/>
          </a:xfrm>
          <a:prstGeom prst="rect">
            <a:avLst/>
          </a:prstGeom>
          <a:noFill/>
          <a:ln/>
        </p:spPr>
        <p:txBody>
          <a:bodyPr wrap="square" lIns="0" tIns="0" rIns="0" bIns="0" rtlCol="0" anchor="ctr"/>
          <a:lstStyle/>
          <a:p>
            <a:pPr indent="0" marL="0">
              <a:buNone/>
            </a:pPr>
            <a:r>
              <a:rPr lang="en-US" sz="1600" b="1" dirty="0">
                <a:solidFill>
                  <a:srgbClr val="1F4D3A"/>
                </a:solidFill>
              </a:rPr>
              <a:t>Exportación</a:t>
            </a:r>
            <a:endParaRPr lang="en-US" sz="1600" dirty="0"/>
          </a:p>
        </p:txBody>
      </p:sp>
      <p:sp>
        <p:nvSpPr>
          <p:cNvPr id="57" name="Text 44"/>
          <p:cNvSpPr txBox="1"/>
          <p:nvPr/>
        </p:nvSpPr>
        <p:spPr>
          <a:xfrm>
            <a:off x="9198864" y="5230368"/>
            <a:ext cx="2286000" cy="868680"/>
          </a:xfrm>
          <a:prstGeom prst="rect">
            <a:avLst/>
          </a:prstGeom>
          <a:noFill/>
          <a:ln/>
        </p:spPr>
        <p:txBody>
          <a:bodyPr wrap="square" lIns="0" tIns="0" rIns="0" bIns="0" rtlCol="0" anchor="t"/>
          <a:lstStyle/>
          <a:p>
            <a:pPr indent="0" marL="0">
              <a:buNone/>
            </a:pPr>
            <a:r>
              <a:rPr lang="en-US" sz="1200" dirty="0">
                <a:solidFill>
                  <a:srgbClr val="1E2B24"/>
                </a:solidFill>
              </a:rPr>
              <a:t>Canal futuro; requiere habilitaciones de SENASA y mercados abiertos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Qué estudiamos</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tiqueta ESTIMACIÓN"/>
          <p:cNvSpPr txBox="1"/>
          <p:nvPr/>
        </p:nvSpPr>
        <p:spPr>
          <a:xfrm>
            <a:off x="9142171" y="603504"/>
            <a:ext cx="1252728" cy="274320"/>
          </a:xfrm>
          <a:prstGeom prst="roundRect">
            <a:avLst>
              <a:gd name="adj" fmla="val 50000"/>
            </a:avLst>
          </a:prstGeom>
          <a:solidFill>
            <a:srgbClr val="2F6690"/>
          </a:solidFill>
          <a:ln/>
        </p:spPr>
        <p:txBody>
          <a:bodyPr wrap="square" lIns="0" tIns="0" rIns="0" bIns="0" rtlCol="0" anchor="ctr"/>
          <a:lstStyle/>
          <a:p>
            <a:pPr algn="ctr" indent="0" marL="0">
              <a:buNone/>
            </a:pPr>
            <a:r>
              <a:rPr lang="en-US" sz="1050" b="1" spc="100" kern="0" dirty="0">
                <a:solidFill>
                  <a:srgbClr val="FFFFFF"/>
                </a:solidFill>
              </a:rPr>
              <a:t>ESTIMACIÓN</a:t>
            </a:r>
            <a:endParaRPr lang="en-US" sz="1050" dirty="0"/>
          </a:p>
        </p:txBody>
      </p:sp>
      <p:sp>
        <p:nvSpPr>
          <p:cNvPr id="5" name="tarjeta"/>
          <p:cNvSpPr/>
          <p:nvPr/>
        </p:nvSpPr>
        <p:spPr>
          <a:xfrm>
            <a:off x="548640" y="1325880"/>
            <a:ext cx="2651760" cy="1042416"/>
          </a:xfrm>
          <a:prstGeom prst="roundRect">
            <a:avLst>
              <a:gd name="adj" fmla="val 7018"/>
            </a:avLst>
          </a:prstGeom>
          <a:solidFill>
            <a:srgbClr val="EAF2EC"/>
          </a:solidFill>
          <a:ln w="9525">
            <a:solidFill>
              <a:srgbClr val="EAF2EC"/>
            </a:solidFill>
            <a:prstDash val="solid"/>
          </a:ln>
        </p:spPr>
      </p:sp>
      <p:sp>
        <p:nvSpPr>
          <p:cNvPr id="6" name="círculo FaChartLine"/>
          <p:cNvSpPr/>
          <p:nvPr/>
        </p:nvSpPr>
        <p:spPr>
          <a:xfrm>
            <a:off x="713232" y="1527048"/>
            <a:ext cx="640080" cy="640080"/>
          </a:xfrm>
          <a:prstGeom prst="ellipse">
            <a:avLst/>
          </a:prstGeom>
          <a:solidFill>
            <a:srgbClr val="1F4D3A"/>
          </a:solidFill>
          <a:ln w="12700">
            <a:solidFill>
              <a:srgbClr val="1F4D3A"/>
            </a:solidFill>
            <a:prstDash val="solid"/>
          </a:ln>
        </p:spPr>
      </p:sp>
      <p:pic>
        <p:nvPicPr>
          <p:cNvPr id="7" name="Image 0" descr="FaChartLine">    </p:cNvPr>
          <p:cNvPicPr>
            <a:picLocks noChangeAspect="1"/>
          </p:cNvPicPr>
          <p:nvPr/>
        </p:nvPicPr>
        <p:blipFill>
          <a:blip r:embed="rId1"/>
          <a:stretch>
            <a:fillRect/>
          </a:stretch>
        </p:blipFill>
        <p:spPr>
          <a:xfrm>
            <a:off x="866851" y="1680667"/>
            <a:ext cx="332842" cy="332842"/>
          </a:xfrm>
          <a:prstGeom prst="rect">
            <a:avLst/>
          </a:prstGeom>
        </p:spPr>
      </p:pic>
      <p:sp>
        <p:nvSpPr>
          <p:cNvPr id="8" name="Text 5"/>
          <p:cNvSpPr txBox="1"/>
          <p:nvPr/>
        </p:nvSpPr>
        <p:spPr>
          <a:xfrm>
            <a:off x="1481328" y="1453896"/>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Mercado y demanda</a:t>
            </a:r>
            <a:endParaRPr lang="en-US" sz="1400" dirty="0"/>
          </a:p>
        </p:txBody>
      </p:sp>
      <p:sp>
        <p:nvSpPr>
          <p:cNvPr id="9" name="Text 6"/>
          <p:cNvSpPr txBox="1"/>
          <p:nvPr/>
        </p:nvSpPr>
        <p:spPr>
          <a:xfrm>
            <a:off x="1481328" y="1938528"/>
            <a:ext cx="1627632" cy="365760"/>
          </a:xfrm>
          <a:prstGeom prst="rect">
            <a:avLst/>
          </a:prstGeom>
          <a:noFill/>
          <a:ln/>
        </p:spPr>
        <p:txBody>
          <a:bodyPr wrap="square" lIns="0" tIns="0" rIns="0" bIns="0" rtlCol="0" anchor="t"/>
          <a:lstStyle/>
          <a:p>
            <a:pPr indent="0" marL="0">
              <a:buNone/>
            </a:pPr>
            <a:r>
              <a:rPr lang="en-US" sz="1100" dirty="0">
                <a:solidFill>
                  <a:srgbClr val="5F6B66"/>
                </a:solidFill>
              </a:rPr>
              <a:t>Canales y categorías de demanda</a:t>
            </a:r>
            <a:endParaRPr lang="en-US" sz="1100" dirty="0"/>
          </a:p>
        </p:txBody>
      </p:sp>
      <p:sp>
        <p:nvSpPr>
          <p:cNvPr id="10" name="tarjeta"/>
          <p:cNvSpPr/>
          <p:nvPr/>
        </p:nvSpPr>
        <p:spPr>
          <a:xfrm>
            <a:off x="3362249" y="1325880"/>
            <a:ext cx="2651760" cy="1042416"/>
          </a:xfrm>
          <a:prstGeom prst="roundRect">
            <a:avLst>
              <a:gd name="adj" fmla="val 7018"/>
            </a:avLst>
          </a:prstGeom>
          <a:solidFill>
            <a:srgbClr val="EAF2EC"/>
          </a:solidFill>
          <a:ln w="9525">
            <a:solidFill>
              <a:srgbClr val="EAF2EC"/>
            </a:solidFill>
            <a:prstDash val="solid"/>
          </a:ln>
        </p:spPr>
      </p:sp>
      <p:sp>
        <p:nvSpPr>
          <p:cNvPr id="11" name="círculo GiBarn"/>
          <p:cNvSpPr/>
          <p:nvPr/>
        </p:nvSpPr>
        <p:spPr>
          <a:xfrm>
            <a:off x="3526841" y="1527048"/>
            <a:ext cx="640080" cy="640080"/>
          </a:xfrm>
          <a:prstGeom prst="ellipse">
            <a:avLst/>
          </a:prstGeom>
          <a:solidFill>
            <a:srgbClr val="1F4D3A"/>
          </a:solidFill>
          <a:ln w="12700">
            <a:solidFill>
              <a:srgbClr val="1F4D3A"/>
            </a:solidFill>
            <a:prstDash val="solid"/>
          </a:ln>
        </p:spPr>
      </p:sp>
      <p:pic>
        <p:nvPicPr>
          <p:cNvPr id="12" name="Image 1" descr="GiBarn">    </p:cNvPr>
          <p:cNvPicPr>
            <a:picLocks noChangeAspect="1"/>
          </p:cNvPicPr>
          <p:nvPr/>
        </p:nvPicPr>
        <p:blipFill>
          <a:blip r:embed="rId2"/>
          <a:stretch>
            <a:fillRect/>
          </a:stretch>
        </p:blipFill>
        <p:spPr>
          <a:xfrm>
            <a:off x="3680460" y="1680667"/>
            <a:ext cx="332842" cy="332842"/>
          </a:xfrm>
          <a:prstGeom prst="rect">
            <a:avLst/>
          </a:prstGeom>
        </p:spPr>
      </p:pic>
      <p:sp>
        <p:nvSpPr>
          <p:cNvPr id="13" name="Text 9"/>
          <p:cNvSpPr txBox="1"/>
          <p:nvPr/>
        </p:nvSpPr>
        <p:spPr>
          <a:xfrm>
            <a:off x="4294937" y="1453896"/>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Producción en granja</a:t>
            </a:r>
            <a:endParaRPr lang="en-US" sz="1400" dirty="0"/>
          </a:p>
        </p:txBody>
      </p:sp>
      <p:sp>
        <p:nvSpPr>
          <p:cNvPr id="14" name="Text 10"/>
          <p:cNvSpPr txBox="1"/>
          <p:nvPr/>
        </p:nvSpPr>
        <p:spPr>
          <a:xfrm>
            <a:off x="4294937" y="1938528"/>
            <a:ext cx="1627632" cy="365760"/>
          </a:xfrm>
          <a:prstGeom prst="rect">
            <a:avLst/>
          </a:prstGeom>
          <a:noFill/>
          <a:ln/>
        </p:spPr>
        <p:txBody>
          <a:bodyPr wrap="square" lIns="0" tIns="0" rIns="0" bIns="0" rtlCol="0" anchor="t"/>
          <a:lstStyle/>
          <a:p>
            <a:pPr indent="0" marL="0">
              <a:buNone/>
            </a:pPr>
            <a:r>
              <a:rPr lang="en-US" sz="1100" dirty="0">
                <a:solidFill>
                  <a:srgbClr val="5F6B66"/>
                </a:solidFill>
              </a:rPr>
              <a:t>Pollitos, galpones, alimento</a:t>
            </a:r>
            <a:endParaRPr lang="en-US" sz="1100" dirty="0"/>
          </a:p>
        </p:txBody>
      </p:sp>
      <p:sp>
        <p:nvSpPr>
          <p:cNvPr id="15" name="tarjeta"/>
          <p:cNvSpPr/>
          <p:nvPr/>
        </p:nvSpPr>
        <p:spPr>
          <a:xfrm>
            <a:off x="6175858" y="1325880"/>
            <a:ext cx="2651760" cy="1042416"/>
          </a:xfrm>
          <a:prstGeom prst="roundRect">
            <a:avLst>
              <a:gd name="adj" fmla="val 7018"/>
            </a:avLst>
          </a:prstGeom>
          <a:solidFill>
            <a:srgbClr val="EAF2EC"/>
          </a:solidFill>
          <a:ln w="9525">
            <a:solidFill>
              <a:srgbClr val="EAF2EC"/>
            </a:solidFill>
            <a:prstDash val="solid"/>
          </a:ln>
        </p:spPr>
      </p:sp>
      <p:sp>
        <p:nvSpPr>
          <p:cNvPr id="16" name="círculo GiChickenLeg"/>
          <p:cNvSpPr/>
          <p:nvPr/>
        </p:nvSpPr>
        <p:spPr>
          <a:xfrm>
            <a:off x="6340450" y="1527048"/>
            <a:ext cx="640080" cy="640080"/>
          </a:xfrm>
          <a:prstGeom prst="ellipse">
            <a:avLst/>
          </a:prstGeom>
          <a:solidFill>
            <a:srgbClr val="1F4D3A"/>
          </a:solidFill>
          <a:ln w="12700">
            <a:solidFill>
              <a:srgbClr val="1F4D3A"/>
            </a:solidFill>
            <a:prstDash val="solid"/>
          </a:ln>
        </p:spPr>
      </p:sp>
      <p:pic>
        <p:nvPicPr>
          <p:cNvPr id="17" name="Image 2" descr="GiChickenLeg">    </p:cNvPr>
          <p:cNvPicPr>
            <a:picLocks noChangeAspect="1"/>
          </p:cNvPicPr>
          <p:nvPr/>
        </p:nvPicPr>
        <p:blipFill>
          <a:blip r:embed="rId3"/>
          <a:stretch>
            <a:fillRect/>
          </a:stretch>
        </p:blipFill>
        <p:spPr>
          <a:xfrm>
            <a:off x="6494069" y="1680667"/>
            <a:ext cx="332842" cy="332842"/>
          </a:xfrm>
          <a:prstGeom prst="rect">
            <a:avLst/>
          </a:prstGeom>
        </p:spPr>
      </p:pic>
      <p:sp>
        <p:nvSpPr>
          <p:cNvPr id="18" name="Text 13"/>
          <p:cNvSpPr txBox="1"/>
          <p:nvPr/>
        </p:nvSpPr>
        <p:spPr>
          <a:xfrm>
            <a:off x="7108546" y="1453896"/>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Balance de masa</a:t>
            </a:r>
            <a:endParaRPr lang="en-US" sz="1400" dirty="0"/>
          </a:p>
        </p:txBody>
      </p:sp>
      <p:sp>
        <p:nvSpPr>
          <p:cNvPr id="19" name="Text 14"/>
          <p:cNvSpPr txBox="1"/>
          <p:nvPr/>
        </p:nvSpPr>
        <p:spPr>
          <a:xfrm>
            <a:off x="7108546" y="1938528"/>
            <a:ext cx="1627632" cy="365760"/>
          </a:xfrm>
          <a:prstGeom prst="rect">
            <a:avLst/>
          </a:prstGeom>
          <a:noFill/>
          <a:ln/>
        </p:spPr>
        <p:txBody>
          <a:bodyPr wrap="square" lIns="0" tIns="0" rIns="0" bIns="0" rtlCol="0" anchor="t"/>
          <a:lstStyle/>
          <a:p>
            <a:pPr indent="0" marL="0">
              <a:buNone/>
            </a:pPr>
            <a:r>
              <a:rPr lang="en-US" sz="1100" dirty="0">
                <a:solidFill>
                  <a:srgbClr val="5F6B66"/>
                </a:solidFill>
              </a:rPr>
              <a:t>Qué sale de cada pollo</a:t>
            </a:r>
            <a:endParaRPr lang="en-US" sz="1100" dirty="0"/>
          </a:p>
        </p:txBody>
      </p:sp>
      <p:sp>
        <p:nvSpPr>
          <p:cNvPr id="20" name="tarjeta"/>
          <p:cNvSpPr/>
          <p:nvPr/>
        </p:nvSpPr>
        <p:spPr>
          <a:xfrm>
            <a:off x="8989466" y="1325880"/>
            <a:ext cx="2651760" cy="1042416"/>
          </a:xfrm>
          <a:prstGeom prst="roundRect">
            <a:avLst>
              <a:gd name="adj" fmla="val 7018"/>
            </a:avLst>
          </a:prstGeom>
          <a:solidFill>
            <a:srgbClr val="EAF2EC"/>
          </a:solidFill>
          <a:ln w="9525">
            <a:solidFill>
              <a:srgbClr val="EAF2EC"/>
            </a:solidFill>
            <a:prstDash val="solid"/>
          </a:ln>
        </p:spPr>
      </p:sp>
      <p:sp>
        <p:nvSpPr>
          <p:cNvPr id="21" name="círculo GiFactory"/>
          <p:cNvSpPr/>
          <p:nvPr/>
        </p:nvSpPr>
        <p:spPr>
          <a:xfrm>
            <a:off x="9154058" y="1527048"/>
            <a:ext cx="640080" cy="640080"/>
          </a:xfrm>
          <a:prstGeom prst="ellipse">
            <a:avLst/>
          </a:prstGeom>
          <a:solidFill>
            <a:srgbClr val="1F4D3A"/>
          </a:solidFill>
          <a:ln w="12700">
            <a:solidFill>
              <a:srgbClr val="1F4D3A"/>
            </a:solidFill>
            <a:prstDash val="solid"/>
          </a:ln>
        </p:spPr>
      </p:sp>
      <p:pic>
        <p:nvPicPr>
          <p:cNvPr id="22" name="Image 3" descr="GiFactory">    </p:cNvPr>
          <p:cNvPicPr>
            <a:picLocks noChangeAspect="1"/>
          </p:cNvPicPr>
          <p:nvPr/>
        </p:nvPicPr>
        <p:blipFill>
          <a:blip r:embed="rId4"/>
          <a:stretch>
            <a:fillRect/>
          </a:stretch>
        </p:blipFill>
        <p:spPr>
          <a:xfrm>
            <a:off x="9307678" y="1680667"/>
            <a:ext cx="332842" cy="332842"/>
          </a:xfrm>
          <a:prstGeom prst="rect">
            <a:avLst/>
          </a:prstGeom>
        </p:spPr>
      </p:pic>
      <p:sp>
        <p:nvSpPr>
          <p:cNvPr id="23" name="Text 17"/>
          <p:cNvSpPr txBox="1"/>
          <p:nvPr/>
        </p:nvSpPr>
        <p:spPr>
          <a:xfrm>
            <a:off x="9922154" y="1453896"/>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Planta y proceso</a:t>
            </a:r>
            <a:endParaRPr lang="en-US" sz="1400" dirty="0"/>
          </a:p>
        </p:txBody>
      </p:sp>
      <p:sp>
        <p:nvSpPr>
          <p:cNvPr id="24" name="Text 18"/>
          <p:cNvSpPr txBox="1"/>
          <p:nvPr/>
        </p:nvSpPr>
        <p:spPr>
          <a:xfrm>
            <a:off x="9922154" y="1938528"/>
            <a:ext cx="1627632" cy="365760"/>
          </a:xfrm>
          <a:prstGeom prst="rect">
            <a:avLst/>
          </a:prstGeom>
          <a:noFill/>
          <a:ln/>
        </p:spPr>
        <p:txBody>
          <a:bodyPr wrap="square" lIns="0" tIns="0" rIns="0" bIns="0" rtlCol="0" anchor="t"/>
          <a:lstStyle/>
          <a:p>
            <a:pPr indent="0" marL="0">
              <a:buNone/>
            </a:pPr>
            <a:r>
              <a:rPr lang="en-US" sz="1100" dirty="0">
                <a:solidFill>
                  <a:srgbClr val="5F6B66"/>
                </a:solidFill>
              </a:rPr>
              <a:t>Etapas, capacidad, zonas</a:t>
            </a:r>
            <a:endParaRPr lang="en-US" sz="1100" dirty="0"/>
          </a:p>
        </p:txBody>
      </p:sp>
      <p:sp>
        <p:nvSpPr>
          <p:cNvPr id="25" name="tarjeta"/>
          <p:cNvSpPr/>
          <p:nvPr/>
        </p:nvSpPr>
        <p:spPr>
          <a:xfrm>
            <a:off x="548640" y="2487168"/>
            <a:ext cx="2651760" cy="1042416"/>
          </a:xfrm>
          <a:prstGeom prst="roundRect">
            <a:avLst>
              <a:gd name="adj" fmla="val 7018"/>
            </a:avLst>
          </a:prstGeom>
          <a:solidFill>
            <a:srgbClr val="EAF2EC"/>
          </a:solidFill>
          <a:ln w="9525">
            <a:solidFill>
              <a:srgbClr val="EAF2EC"/>
            </a:solidFill>
            <a:prstDash val="solid"/>
          </a:ln>
        </p:spPr>
      </p:sp>
      <p:sp>
        <p:nvSpPr>
          <p:cNvPr id="26" name="círculo FaTools"/>
          <p:cNvSpPr/>
          <p:nvPr/>
        </p:nvSpPr>
        <p:spPr>
          <a:xfrm>
            <a:off x="713232" y="2688336"/>
            <a:ext cx="640080" cy="640080"/>
          </a:xfrm>
          <a:prstGeom prst="ellipse">
            <a:avLst/>
          </a:prstGeom>
          <a:solidFill>
            <a:srgbClr val="1F4D3A"/>
          </a:solidFill>
          <a:ln w="12700">
            <a:solidFill>
              <a:srgbClr val="1F4D3A"/>
            </a:solidFill>
            <a:prstDash val="solid"/>
          </a:ln>
        </p:spPr>
      </p:sp>
      <p:pic>
        <p:nvPicPr>
          <p:cNvPr id="27" name="Image 4" descr="FaTools">    </p:cNvPr>
          <p:cNvPicPr>
            <a:picLocks noChangeAspect="1"/>
          </p:cNvPicPr>
          <p:nvPr/>
        </p:nvPicPr>
        <p:blipFill>
          <a:blip r:embed="rId5"/>
          <a:stretch>
            <a:fillRect/>
          </a:stretch>
        </p:blipFill>
        <p:spPr>
          <a:xfrm>
            <a:off x="866851" y="2841955"/>
            <a:ext cx="332842" cy="332842"/>
          </a:xfrm>
          <a:prstGeom prst="rect">
            <a:avLst/>
          </a:prstGeom>
        </p:spPr>
      </p:pic>
      <p:sp>
        <p:nvSpPr>
          <p:cNvPr id="28" name="Text 21"/>
          <p:cNvSpPr txBox="1"/>
          <p:nvPr/>
        </p:nvSpPr>
        <p:spPr>
          <a:xfrm>
            <a:off x="1481328" y="2615184"/>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Maquinaria</a:t>
            </a:r>
            <a:endParaRPr lang="en-US" sz="1400" dirty="0"/>
          </a:p>
        </p:txBody>
      </p:sp>
      <p:sp>
        <p:nvSpPr>
          <p:cNvPr id="29" name="Text 22"/>
          <p:cNvSpPr txBox="1"/>
          <p:nvPr/>
        </p:nvSpPr>
        <p:spPr>
          <a:xfrm>
            <a:off x="1481328" y="3099816"/>
            <a:ext cx="1627632" cy="365760"/>
          </a:xfrm>
          <a:prstGeom prst="rect">
            <a:avLst/>
          </a:prstGeom>
          <a:noFill/>
          <a:ln/>
        </p:spPr>
        <p:txBody>
          <a:bodyPr wrap="square" lIns="0" tIns="0" rIns="0" bIns="0" rtlCol="0" anchor="t"/>
          <a:lstStyle/>
          <a:p>
            <a:pPr indent="0" marL="0">
              <a:buNone/>
            </a:pPr>
            <a:r>
              <a:rPr lang="en-US" sz="1100" dirty="0">
                <a:solidFill>
                  <a:srgbClr val="5F6B66"/>
                </a:solidFill>
              </a:rPr>
              <a:t>Equipos conceptuales, sin proveedor</a:t>
            </a:r>
            <a:endParaRPr lang="en-US" sz="1100" dirty="0"/>
          </a:p>
        </p:txBody>
      </p:sp>
      <p:sp>
        <p:nvSpPr>
          <p:cNvPr id="30" name="tarjeta"/>
          <p:cNvSpPr/>
          <p:nvPr/>
        </p:nvSpPr>
        <p:spPr>
          <a:xfrm>
            <a:off x="3362249" y="2487168"/>
            <a:ext cx="2651760" cy="1042416"/>
          </a:xfrm>
          <a:prstGeom prst="roundRect">
            <a:avLst>
              <a:gd name="adj" fmla="val 7018"/>
            </a:avLst>
          </a:prstGeom>
          <a:solidFill>
            <a:srgbClr val="EAF2EC"/>
          </a:solidFill>
          <a:ln w="9525">
            <a:solidFill>
              <a:srgbClr val="EAF2EC"/>
            </a:solidFill>
            <a:prstDash val="solid"/>
          </a:ln>
        </p:spPr>
      </p:sp>
      <p:sp>
        <p:nvSpPr>
          <p:cNvPr id="31" name="círculo FaWater"/>
          <p:cNvSpPr/>
          <p:nvPr/>
        </p:nvSpPr>
        <p:spPr>
          <a:xfrm>
            <a:off x="3526841" y="2688336"/>
            <a:ext cx="640080" cy="640080"/>
          </a:xfrm>
          <a:prstGeom prst="ellipse">
            <a:avLst/>
          </a:prstGeom>
          <a:solidFill>
            <a:srgbClr val="1F4D3A"/>
          </a:solidFill>
          <a:ln w="12700">
            <a:solidFill>
              <a:srgbClr val="1F4D3A"/>
            </a:solidFill>
            <a:prstDash val="solid"/>
          </a:ln>
        </p:spPr>
      </p:sp>
      <p:pic>
        <p:nvPicPr>
          <p:cNvPr id="32" name="Image 5" descr="FaWater">    </p:cNvPr>
          <p:cNvPicPr>
            <a:picLocks noChangeAspect="1"/>
          </p:cNvPicPr>
          <p:nvPr/>
        </p:nvPicPr>
        <p:blipFill>
          <a:blip r:embed="rId6"/>
          <a:stretch>
            <a:fillRect/>
          </a:stretch>
        </p:blipFill>
        <p:spPr>
          <a:xfrm>
            <a:off x="3680460" y="2841955"/>
            <a:ext cx="332842" cy="332842"/>
          </a:xfrm>
          <a:prstGeom prst="rect">
            <a:avLst/>
          </a:prstGeom>
        </p:spPr>
      </p:pic>
      <p:sp>
        <p:nvSpPr>
          <p:cNvPr id="33" name="Text 25"/>
          <p:cNvSpPr txBox="1"/>
          <p:nvPr/>
        </p:nvSpPr>
        <p:spPr>
          <a:xfrm>
            <a:off x="4294937" y="2615184"/>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Agua y efluentes</a:t>
            </a:r>
            <a:endParaRPr lang="en-US" sz="1400" dirty="0"/>
          </a:p>
        </p:txBody>
      </p:sp>
      <p:sp>
        <p:nvSpPr>
          <p:cNvPr id="34" name="Text 26"/>
          <p:cNvSpPr txBox="1"/>
          <p:nvPr/>
        </p:nvSpPr>
        <p:spPr>
          <a:xfrm>
            <a:off x="4294937" y="3099816"/>
            <a:ext cx="1627632" cy="365760"/>
          </a:xfrm>
          <a:prstGeom prst="rect">
            <a:avLst/>
          </a:prstGeom>
          <a:noFill/>
          <a:ln/>
        </p:spPr>
        <p:txBody>
          <a:bodyPr wrap="square" lIns="0" tIns="0" rIns="0" bIns="0" rtlCol="0" anchor="t"/>
          <a:lstStyle/>
          <a:p>
            <a:pPr indent="0" marL="0">
              <a:buNone/>
            </a:pPr>
            <a:r>
              <a:rPr lang="en-US" sz="1100" dirty="0">
                <a:solidFill>
                  <a:srgbClr val="5F6B66"/>
                </a:solidFill>
              </a:rPr>
              <a:t>Consumo, vuelco, tratamiento</a:t>
            </a:r>
            <a:endParaRPr lang="en-US" sz="1100" dirty="0"/>
          </a:p>
        </p:txBody>
      </p:sp>
      <p:sp>
        <p:nvSpPr>
          <p:cNvPr id="35" name="tarjeta"/>
          <p:cNvSpPr/>
          <p:nvPr/>
        </p:nvSpPr>
        <p:spPr>
          <a:xfrm>
            <a:off x="6175858" y="2487168"/>
            <a:ext cx="2651760" cy="1042416"/>
          </a:xfrm>
          <a:prstGeom prst="roundRect">
            <a:avLst>
              <a:gd name="adj" fmla="val 7018"/>
            </a:avLst>
          </a:prstGeom>
          <a:solidFill>
            <a:srgbClr val="EAF2EC"/>
          </a:solidFill>
          <a:ln w="9525">
            <a:solidFill>
              <a:srgbClr val="EAF2EC"/>
            </a:solidFill>
            <a:prstDash val="solid"/>
          </a:ln>
        </p:spPr>
      </p:sp>
      <p:sp>
        <p:nvSpPr>
          <p:cNvPr id="36" name="círculo FaBolt"/>
          <p:cNvSpPr/>
          <p:nvPr/>
        </p:nvSpPr>
        <p:spPr>
          <a:xfrm>
            <a:off x="6340450" y="2688336"/>
            <a:ext cx="640080" cy="640080"/>
          </a:xfrm>
          <a:prstGeom prst="ellipse">
            <a:avLst/>
          </a:prstGeom>
          <a:solidFill>
            <a:srgbClr val="1F4D3A"/>
          </a:solidFill>
          <a:ln w="12700">
            <a:solidFill>
              <a:srgbClr val="1F4D3A"/>
            </a:solidFill>
            <a:prstDash val="solid"/>
          </a:ln>
        </p:spPr>
      </p:sp>
      <p:pic>
        <p:nvPicPr>
          <p:cNvPr id="37" name="Image 6" descr="FaBolt">    </p:cNvPr>
          <p:cNvPicPr>
            <a:picLocks noChangeAspect="1"/>
          </p:cNvPicPr>
          <p:nvPr/>
        </p:nvPicPr>
        <p:blipFill>
          <a:blip r:embed="rId7"/>
          <a:stretch>
            <a:fillRect/>
          </a:stretch>
        </p:blipFill>
        <p:spPr>
          <a:xfrm>
            <a:off x="6494069" y="2841955"/>
            <a:ext cx="332842" cy="332842"/>
          </a:xfrm>
          <a:prstGeom prst="rect">
            <a:avLst/>
          </a:prstGeom>
        </p:spPr>
      </p:pic>
      <p:sp>
        <p:nvSpPr>
          <p:cNvPr id="38" name="Text 29"/>
          <p:cNvSpPr txBox="1"/>
          <p:nvPr/>
        </p:nvSpPr>
        <p:spPr>
          <a:xfrm>
            <a:off x="7108546" y="2615184"/>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Energía y frío</a:t>
            </a:r>
            <a:endParaRPr lang="en-US" sz="1400" dirty="0"/>
          </a:p>
        </p:txBody>
      </p:sp>
      <p:sp>
        <p:nvSpPr>
          <p:cNvPr id="39" name="Text 30"/>
          <p:cNvSpPr txBox="1"/>
          <p:nvPr/>
        </p:nvSpPr>
        <p:spPr>
          <a:xfrm>
            <a:off x="7108546" y="3099816"/>
            <a:ext cx="1627632" cy="365760"/>
          </a:xfrm>
          <a:prstGeom prst="rect">
            <a:avLst/>
          </a:prstGeom>
          <a:noFill/>
          <a:ln/>
        </p:spPr>
        <p:txBody>
          <a:bodyPr wrap="square" lIns="0" tIns="0" rIns="0" bIns="0" rtlCol="0" anchor="t"/>
          <a:lstStyle/>
          <a:p>
            <a:pPr indent="0" marL="0">
              <a:buNone/>
            </a:pPr>
            <a:r>
              <a:rPr lang="en-US" sz="1100" dirty="0">
                <a:solidFill>
                  <a:srgbClr val="5F6B66"/>
                </a:solidFill>
              </a:rPr>
              <a:t>Electricidad, gas, cámaras</a:t>
            </a:r>
            <a:endParaRPr lang="en-US" sz="1100" dirty="0"/>
          </a:p>
        </p:txBody>
      </p:sp>
      <p:sp>
        <p:nvSpPr>
          <p:cNvPr id="40" name="tarjeta"/>
          <p:cNvSpPr/>
          <p:nvPr/>
        </p:nvSpPr>
        <p:spPr>
          <a:xfrm>
            <a:off x="8989466" y="2487168"/>
            <a:ext cx="2651760" cy="1042416"/>
          </a:xfrm>
          <a:prstGeom prst="roundRect">
            <a:avLst>
              <a:gd name="adj" fmla="val 7018"/>
            </a:avLst>
          </a:prstGeom>
          <a:solidFill>
            <a:srgbClr val="EAF2EC"/>
          </a:solidFill>
          <a:ln w="9525">
            <a:solidFill>
              <a:srgbClr val="EAF2EC"/>
            </a:solidFill>
            <a:prstDash val="solid"/>
          </a:ln>
        </p:spPr>
      </p:sp>
      <p:sp>
        <p:nvSpPr>
          <p:cNvPr id="41" name="círculo FaDraftingCompass"/>
          <p:cNvSpPr/>
          <p:nvPr/>
        </p:nvSpPr>
        <p:spPr>
          <a:xfrm>
            <a:off x="9154058" y="2688336"/>
            <a:ext cx="640080" cy="640080"/>
          </a:xfrm>
          <a:prstGeom prst="ellipse">
            <a:avLst/>
          </a:prstGeom>
          <a:solidFill>
            <a:srgbClr val="1F4D3A"/>
          </a:solidFill>
          <a:ln w="12700">
            <a:solidFill>
              <a:srgbClr val="1F4D3A"/>
            </a:solidFill>
            <a:prstDash val="solid"/>
          </a:ln>
        </p:spPr>
      </p:sp>
      <p:pic>
        <p:nvPicPr>
          <p:cNvPr id="42" name="Image 7" descr="FaDraftingCompass">    </p:cNvPr>
          <p:cNvPicPr>
            <a:picLocks noChangeAspect="1"/>
          </p:cNvPicPr>
          <p:nvPr/>
        </p:nvPicPr>
        <p:blipFill>
          <a:blip r:embed="rId8"/>
          <a:stretch>
            <a:fillRect/>
          </a:stretch>
        </p:blipFill>
        <p:spPr>
          <a:xfrm>
            <a:off x="9307678" y="2841955"/>
            <a:ext cx="332842" cy="332842"/>
          </a:xfrm>
          <a:prstGeom prst="rect">
            <a:avLst/>
          </a:prstGeom>
        </p:spPr>
      </p:pic>
      <p:sp>
        <p:nvSpPr>
          <p:cNvPr id="43" name="Text 33"/>
          <p:cNvSpPr txBox="1"/>
          <p:nvPr/>
        </p:nvSpPr>
        <p:spPr>
          <a:xfrm>
            <a:off x="9922154" y="2615184"/>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Layout y terreno</a:t>
            </a:r>
            <a:endParaRPr lang="en-US" sz="1400" dirty="0"/>
          </a:p>
        </p:txBody>
      </p:sp>
      <p:sp>
        <p:nvSpPr>
          <p:cNvPr id="44" name="Text 34"/>
          <p:cNvSpPr txBox="1"/>
          <p:nvPr/>
        </p:nvSpPr>
        <p:spPr>
          <a:xfrm>
            <a:off x="9922154" y="3099816"/>
            <a:ext cx="1627632" cy="365760"/>
          </a:xfrm>
          <a:prstGeom prst="rect">
            <a:avLst/>
          </a:prstGeom>
          <a:noFill/>
          <a:ln/>
        </p:spPr>
        <p:txBody>
          <a:bodyPr wrap="square" lIns="0" tIns="0" rIns="0" bIns="0" rtlCol="0" anchor="t"/>
          <a:lstStyle/>
          <a:p>
            <a:pPr indent="0" marL="0">
              <a:buNone/>
            </a:pPr>
            <a:r>
              <a:rPr lang="en-US" sz="1100" dirty="0">
                <a:solidFill>
                  <a:srgbClr val="5F6B66"/>
                </a:solidFill>
              </a:rPr>
              <a:t>Áreas, zonas, expansión</a:t>
            </a:r>
            <a:endParaRPr lang="en-US" sz="1100" dirty="0"/>
          </a:p>
        </p:txBody>
      </p:sp>
      <p:sp>
        <p:nvSpPr>
          <p:cNvPr id="45" name="tarjeta"/>
          <p:cNvSpPr/>
          <p:nvPr/>
        </p:nvSpPr>
        <p:spPr>
          <a:xfrm>
            <a:off x="548640" y="3648456"/>
            <a:ext cx="2651760" cy="1042416"/>
          </a:xfrm>
          <a:prstGeom prst="roundRect">
            <a:avLst>
              <a:gd name="adj" fmla="val 7018"/>
            </a:avLst>
          </a:prstGeom>
          <a:solidFill>
            <a:srgbClr val="EAF2EC"/>
          </a:solidFill>
          <a:ln w="9525">
            <a:solidFill>
              <a:srgbClr val="EAF2EC"/>
            </a:solidFill>
            <a:prstDash val="solid"/>
          </a:ln>
        </p:spPr>
      </p:sp>
      <p:sp>
        <p:nvSpPr>
          <p:cNvPr id="46" name="círculo FaTruck"/>
          <p:cNvSpPr/>
          <p:nvPr/>
        </p:nvSpPr>
        <p:spPr>
          <a:xfrm>
            <a:off x="713232" y="3849624"/>
            <a:ext cx="640080" cy="640080"/>
          </a:xfrm>
          <a:prstGeom prst="ellipse">
            <a:avLst/>
          </a:prstGeom>
          <a:solidFill>
            <a:srgbClr val="1F4D3A"/>
          </a:solidFill>
          <a:ln w="12700">
            <a:solidFill>
              <a:srgbClr val="1F4D3A"/>
            </a:solidFill>
            <a:prstDash val="solid"/>
          </a:ln>
        </p:spPr>
      </p:sp>
      <p:pic>
        <p:nvPicPr>
          <p:cNvPr id="47" name="Image 8" descr="FaTruck">    </p:cNvPr>
          <p:cNvPicPr>
            <a:picLocks noChangeAspect="1"/>
          </p:cNvPicPr>
          <p:nvPr/>
        </p:nvPicPr>
        <p:blipFill>
          <a:blip r:embed="rId9"/>
          <a:stretch>
            <a:fillRect/>
          </a:stretch>
        </p:blipFill>
        <p:spPr>
          <a:xfrm>
            <a:off x="866851" y="4003243"/>
            <a:ext cx="332842" cy="332842"/>
          </a:xfrm>
          <a:prstGeom prst="rect">
            <a:avLst/>
          </a:prstGeom>
        </p:spPr>
      </p:pic>
      <p:sp>
        <p:nvSpPr>
          <p:cNvPr id="48" name="Text 37"/>
          <p:cNvSpPr txBox="1"/>
          <p:nvPr/>
        </p:nvSpPr>
        <p:spPr>
          <a:xfrm>
            <a:off x="1481328" y="3776472"/>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Logística</a:t>
            </a:r>
            <a:endParaRPr lang="en-US" sz="1400" dirty="0"/>
          </a:p>
        </p:txBody>
      </p:sp>
      <p:sp>
        <p:nvSpPr>
          <p:cNvPr id="49" name="Text 38"/>
          <p:cNvSpPr txBox="1"/>
          <p:nvPr/>
        </p:nvSpPr>
        <p:spPr>
          <a:xfrm>
            <a:off x="1481328" y="4261104"/>
            <a:ext cx="1627632" cy="365760"/>
          </a:xfrm>
          <a:prstGeom prst="rect">
            <a:avLst/>
          </a:prstGeom>
          <a:noFill/>
          <a:ln/>
        </p:spPr>
        <p:txBody>
          <a:bodyPr wrap="square" lIns="0" tIns="0" rIns="0" bIns="0" rtlCol="0" anchor="t"/>
          <a:lstStyle/>
          <a:p>
            <a:pPr indent="0" marL="0">
              <a:buNone/>
            </a:pPr>
            <a:r>
              <a:rPr lang="en-US" sz="1100" dirty="0">
                <a:solidFill>
                  <a:srgbClr val="5F6B66"/>
                </a:solidFill>
              </a:rPr>
              <a:t>Aves vivas, frío, distribución</a:t>
            </a:r>
            <a:endParaRPr lang="en-US" sz="1100" dirty="0"/>
          </a:p>
        </p:txBody>
      </p:sp>
      <p:sp>
        <p:nvSpPr>
          <p:cNvPr id="50" name="tarjeta"/>
          <p:cNvSpPr/>
          <p:nvPr/>
        </p:nvSpPr>
        <p:spPr>
          <a:xfrm>
            <a:off x="3362249" y="3648456"/>
            <a:ext cx="2651760" cy="1042416"/>
          </a:xfrm>
          <a:prstGeom prst="roundRect">
            <a:avLst>
              <a:gd name="adj" fmla="val 7018"/>
            </a:avLst>
          </a:prstGeom>
          <a:solidFill>
            <a:srgbClr val="EAF2EC"/>
          </a:solidFill>
          <a:ln w="9525">
            <a:solidFill>
              <a:srgbClr val="EAF2EC"/>
            </a:solidFill>
            <a:prstDash val="solid"/>
          </a:ln>
        </p:spPr>
      </p:sp>
      <p:sp>
        <p:nvSpPr>
          <p:cNvPr id="51" name="círculo FaMapMarkedAlt"/>
          <p:cNvSpPr/>
          <p:nvPr/>
        </p:nvSpPr>
        <p:spPr>
          <a:xfrm>
            <a:off x="3526841" y="3849624"/>
            <a:ext cx="640080" cy="640080"/>
          </a:xfrm>
          <a:prstGeom prst="ellipse">
            <a:avLst/>
          </a:prstGeom>
          <a:solidFill>
            <a:srgbClr val="1F4D3A"/>
          </a:solidFill>
          <a:ln w="12700">
            <a:solidFill>
              <a:srgbClr val="1F4D3A"/>
            </a:solidFill>
            <a:prstDash val="solid"/>
          </a:ln>
        </p:spPr>
      </p:sp>
      <p:pic>
        <p:nvPicPr>
          <p:cNvPr id="52" name="Image 9" descr="FaMapMarkedAlt">    </p:cNvPr>
          <p:cNvPicPr>
            <a:picLocks noChangeAspect="1"/>
          </p:cNvPicPr>
          <p:nvPr/>
        </p:nvPicPr>
        <p:blipFill>
          <a:blip r:embed="rId10"/>
          <a:stretch>
            <a:fillRect/>
          </a:stretch>
        </p:blipFill>
        <p:spPr>
          <a:xfrm>
            <a:off x="3680460" y="4003243"/>
            <a:ext cx="332842" cy="332842"/>
          </a:xfrm>
          <a:prstGeom prst="rect">
            <a:avLst/>
          </a:prstGeom>
        </p:spPr>
      </p:pic>
      <p:sp>
        <p:nvSpPr>
          <p:cNvPr id="53" name="Text 41"/>
          <p:cNvSpPr txBox="1"/>
          <p:nvPr/>
        </p:nvSpPr>
        <p:spPr>
          <a:xfrm>
            <a:off x="4294937" y="3776472"/>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Localización</a:t>
            </a:r>
            <a:endParaRPr lang="en-US" sz="1400" dirty="0"/>
          </a:p>
        </p:txBody>
      </p:sp>
      <p:sp>
        <p:nvSpPr>
          <p:cNvPr id="54" name="Text 42"/>
          <p:cNvSpPr txBox="1"/>
          <p:nvPr/>
        </p:nvSpPr>
        <p:spPr>
          <a:xfrm>
            <a:off x="4294937" y="4261104"/>
            <a:ext cx="1627632" cy="365760"/>
          </a:xfrm>
          <a:prstGeom prst="rect">
            <a:avLst/>
          </a:prstGeom>
          <a:noFill/>
          <a:ln/>
        </p:spPr>
        <p:txBody>
          <a:bodyPr wrap="square" lIns="0" tIns="0" rIns="0" bIns="0" rtlCol="0" anchor="t"/>
          <a:lstStyle/>
          <a:p>
            <a:pPr indent="0" marL="0">
              <a:buNone/>
            </a:pPr>
            <a:r>
              <a:rPr lang="en-US" sz="1100" dirty="0">
                <a:solidFill>
                  <a:srgbClr val="5F6B66"/>
                </a:solidFill>
              </a:rPr>
              <a:t>Regiones y condiciones del terreno</a:t>
            </a:r>
            <a:endParaRPr lang="en-US" sz="1100" dirty="0"/>
          </a:p>
        </p:txBody>
      </p:sp>
      <p:sp>
        <p:nvSpPr>
          <p:cNvPr id="55" name="tarjeta"/>
          <p:cNvSpPr/>
          <p:nvPr/>
        </p:nvSpPr>
        <p:spPr>
          <a:xfrm>
            <a:off x="6175858" y="3648456"/>
            <a:ext cx="2651760" cy="1042416"/>
          </a:xfrm>
          <a:prstGeom prst="roundRect">
            <a:avLst>
              <a:gd name="adj" fmla="val 7018"/>
            </a:avLst>
          </a:prstGeom>
          <a:solidFill>
            <a:srgbClr val="EAF2EC"/>
          </a:solidFill>
          <a:ln w="9525">
            <a:solidFill>
              <a:srgbClr val="EAF2EC"/>
            </a:solidFill>
            <a:prstDash val="solid"/>
          </a:ln>
        </p:spPr>
      </p:sp>
      <p:sp>
        <p:nvSpPr>
          <p:cNvPr id="56" name="círculo FaUsers"/>
          <p:cNvSpPr/>
          <p:nvPr/>
        </p:nvSpPr>
        <p:spPr>
          <a:xfrm>
            <a:off x="6340450" y="3849624"/>
            <a:ext cx="640080" cy="640080"/>
          </a:xfrm>
          <a:prstGeom prst="ellipse">
            <a:avLst/>
          </a:prstGeom>
          <a:solidFill>
            <a:srgbClr val="1F4D3A"/>
          </a:solidFill>
          <a:ln w="12700">
            <a:solidFill>
              <a:srgbClr val="1F4D3A"/>
            </a:solidFill>
            <a:prstDash val="solid"/>
          </a:ln>
        </p:spPr>
      </p:sp>
      <p:pic>
        <p:nvPicPr>
          <p:cNvPr id="57" name="Image 10" descr="FaUsers">    </p:cNvPr>
          <p:cNvPicPr>
            <a:picLocks noChangeAspect="1"/>
          </p:cNvPicPr>
          <p:nvPr/>
        </p:nvPicPr>
        <p:blipFill>
          <a:blip r:embed="rId11"/>
          <a:stretch>
            <a:fillRect/>
          </a:stretch>
        </p:blipFill>
        <p:spPr>
          <a:xfrm>
            <a:off x="6494069" y="4003243"/>
            <a:ext cx="332842" cy="332842"/>
          </a:xfrm>
          <a:prstGeom prst="rect">
            <a:avLst/>
          </a:prstGeom>
        </p:spPr>
      </p:pic>
      <p:sp>
        <p:nvSpPr>
          <p:cNvPr id="58" name="Text 45"/>
          <p:cNvSpPr txBox="1"/>
          <p:nvPr/>
        </p:nvSpPr>
        <p:spPr>
          <a:xfrm>
            <a:off x="7108546" y="3776472"/>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Recursos humanos</a:t>
            </a:r>
            <a:endParaRPr lang="en-US" sz="1400" dirty="0"/>
          </a:p>
        </p:txBody>
      </p:sp>
      <p:sp>
        <p:nvSpPr>
          <p:cNvPr id="59" name="Text 46"/>
          <p:cNvSpPr txBox="1"/>
          <p:nvPr/>
        </p:nvSpPr>
        <p:spPr>
          <a:xfrm>
            <a:off x="7108546" y="4261104"/>
            <a:ext cx="1627632" cy="365760"/>
          </a:xfrm>
          <a:prstGeom prst="rect">
            <a:avLst/>
          </a:prstGeom>
          <a:noFill/>
          <a:ln/>
        </p:spPr>
        <p:txBody>
          <a:bodyPr wrap="square" lIns="0" tIns="0" rIns="0" bIns="0" rtlCol="0" anchor="t"/>
          <a:lstStyle/>
          <a:p>
            <a:pPr indent="0" marL="0">
              <a:buNone/>
            </a:pPr>
            <a:r>
              <a:rPr lang="en-US" sz="1100" dirty="0">
                <a:solidFill>
                  <a:srgbClr val="5F6B66"/>
                </a:solidFill>
              </a:rPr>
              <a:t>Puestos, turnos, dotación</a:t>
            </a:r>
            <a:endParaRPr lang="en-US" sz="1100" dirty="0"/>
          </a:p>
        </p:txBody>
      </p:sp>
      <p:sp>
        <p:nvSpPr>
          <p:cNvPr id="60" name="tarjeta"/>
          <p:cNvSpPr/>
          <p:nvPr/>
        </p:nvSpPr>
        <p:spPr>
          <a:xfrm>
            <a:off x="8989466" y="3648456"/>
            <a:ext cx="2651760" cy="1042416"/>
          </a:xfrm>
          <a:prstGeom prst="roundRect">
            <a:avLst>
              <a:gd name="adj" fmla="val 7018"/>
            </a:avLst>
          </a:prstGeom>
          <a:solidFill>
            <a:srgbClr val="EAF2EC"/>
          </a:solidFill>
          <a:ln w="9525">
            <a:solidFill>
              <a:srgbClr val="EAF2EC"/>
            </a:solidFill>
            <a:prstDash val="solid"/>
          </a:ln>
        </p:spPr>
      </p:sp>
      <p:sp>
        <p:nvSpPr>
          <p:cNvPr id="61" name="círculo GiCorn"/>
          <p:cNvSpPr/>
          <p:nvPr/>
        </p:nvSpPr>
        <p:spPr>
          <a:xfrm>
            <a:off x="9154058" y="3849624"/>
            <a:ext cx="640080" cy="640080"/>
          </a:xfrm>
          <a:prstGeom prst="ellipse">
            <a:avLst/>
          </a:prstGeom>
          <a:solidFill>
            <a:srgbClr val="1F4D3A"/>
          </a:solidFill>
          <a:ln w="12700">
            <a:solidFill>
              <a:srgbClr val="1F4D3A"/>
            </a:solidFill>
            <a:prstDash val="solid"/>
          </a:ln>
        </p:spPr>
      </p:sp>
      <p:pic>
        <p:nvPicPr>
          <p:cNvPr id="62" name="Image 11" descr="GiCorn">    </p:cNvPr>
          <p:cNvPicPr>
            <a:picLocks noChangeAspect="1"/>
          </p:cNvPicPr>
          <p:nvPr/>
        </p:nvPicPr>
        <p:blipFill>
          <a:blip r:embed="rId12"/>
          <a:stretch>
            <a:fillRect/>
          </a:stretch>
        </p:blipFill>
        <p:spPr>
          <a:xfrm>
            <a:off x="9307678" y="4003243"/>
            <a:ext cx="332842" cy="332842"/>
          </a:xfrm>
          <a:prstGeom prst="rect">
            <a:avLst/>
          </a:prstGeom>
        </p:spPr>
      </p:pic>
      <p:sp>
        <p:nvSpPr>
          <p:cNvPr id="63" name="Text 49"/>
          <p:cNvSpPr txBox="1"/>
          <p:nvPr/>
        </p:nvSpPr>
        <p:spPr>
          <a:xfrm>
            <a:off x="9922154" y="3776472"/>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Alimento e incubación</a:t>
            </a:r>
            <a:endParaRPr lang="en-US" sz="1400" dirty="0"/>
          </a:p>
        </p:txBody>
      </p:sp>
      <p:sp>
        <p:nvSpPr>
          <p:cNvPr id="64" name="Text 50"/>
          <p:cNvSpPr txBox="1"/>
          <p:nvPr/>
        </p:nvSpPr>
        <p:spPr>
          <a:xfrm>
            <a:off x="9922154" y="4261104"/>
            <a:ext cx="1627632" cy="365760"/>
          </a:xfrm>
          <a:prstGeom prst="rect">
            <a:avLst/>
          </a:prstGeom>
          <a:noFill/>
          <a:ln/>
        </p:spPr>
        <p:txBody>
          <a:bodyPr wrap="square" lIns="0" tIns="0" rIns="0" bIns="0" rtlCol="0" anchor="t"/>
          <a:lstStyle/>
          <a:p>
            <a:pPr indent="0" marL="0">
              <a:buNone/>
            </a:pPr>
            <a:r>
              <a:rPr lang="en-US" sz="1100" dirty="0">
                <a:solidFill>
                  <a:srgbClr val="5F6B66"/>
                </a:solidFill>
              </a:rPr>
              <a:t>Comprar, tercerizar o fabricar</a:t>
            </a:r>
            <a:endParaRPr lang="en-US" sz="1100" dirty="0"/>
          </a:p>
        </p:txBody>
      </p:sp>
      <p:sp>
        <p:nvSpPr>
          <p:cNvPr id="65" name="tarjeta"/>
          <p:cNvSpPr/>
          <p:nvPr/>
        </p:nvSpPr>
        <p:spPr>
          <a:xfrm>
            <a:off x="548640" y="4809744"/>
            <a:ext cx="2651760" cy="1042416"/>
          </a:xfrm>
          <a:prstGeom prst="roundRect">
            <a:avLst>
              <a:gd name="adj" fmla="val 7018"/>
            </a:avLst>
          </a:prstGeom>
          <a:solidFill>
            <a:srgbClr val="EAF2EC"/>
          </a:solidFill>
          <a:ln w="9525">
            <a:solidFill>
              <a:srgbClr val="EAF2EC"/>
            </a:solidFill>
            <a:prstDash val="solid"/>
          </a:ln>
        </p:spPr>
      </p:sp>
      <p:sp>
        <p:nvSpPr>
          <p:cNvPr id="66" name="círculo FaHardHat"/>
          <p:cNvSpPr/>
          <p:nvPr/>
        </p:nvSpPr>
        <p:spPr>
          <a:xfrm>
            <a:off x="713232" y="5010912"/>
            <a:ext cx="640080" cy="640080"/>
          </a:xfrm>
          <a:prstGeom prst="ellipse">
            <a:avLst/>
          </a:prstGeom>
          <a:solidFill>
            <a:srgbClr val="1F4D3A"/>
          </a:solidFill>
          <a:ln w="12700">
            <a:solidFill>
              <a:srgbClr val="1F4D3A"/>
            </a:solidFill>
            <a:prstDash val="solid"/>
          </a:ln>
        </p:spPr>
      </p:sp>
      <p:pic>
        <p:nvPicPr>
          <p:cNvPr id="67" name="Image 12" descr="FaHardHat">    </p:cNvPr>
          <p:cNvPicPr>
            <a:picLocks noChangeAspect="1"/>
          </p:cNvPicPr>
          <p:nvPr/>
        </p:nvPicPr>
        <p:blipFill>
          <a:blip r:embed="rId13"/>
          <a:stretch>
            <a:fillRect/>
          </a:stretch>
        </p:blipFill>
        <p:spPr>
          <a:xfrm>
            <a:off x="866851" y="5164531"/>
            <a:ext cx="332842" cy="332842"/>
          </a:xfrm>
          <a:prstGeom prst="rect">
            <a:avLst/>
          </a:prstGeom>
        </p:spPr>
      </p:pic>
      <p:sp>
        <p:nvSpPr>
          <p:cNvPr id="68" name="Text 53"/>
          <p:cNvSpPr txBox="1"/>
          <p:nvPr/>
        </p:nvSpPr>
        <p:spPr>
          <a:xfrm>
            <a:off x="1481328" y="4937760"/>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Inversión (CAPEX)</a:t>
            </a:r>
            <a:endParaRPr lang="en-US" sz="1400" dirty="0"/>
          </a:p>
        </p:txBody>
      </p:sp>
      <p:sp>
        <p:nvSpPr>
          <p:cNvPr id="69" name="Text 54"/>
          <p:cNvSpPr txBox="1"/>
          <p:nvPr/>
        </p:nvSpPr>
        <p:spPr>
          <a:xfrm>
            <a:off x="1481328" y="5422392"/>
            <a:ext cx="1627632" cy="365760"/>
          </a:xfrm>
          <a:prstGeom prst="rect">
            <a:avLst/>
          </a:prstGeom>
          <a:noFill/>
          <a:ln/>
        </p:spPr>
        <p:txBody>
          <a:bodyPr wrap="square" lIns="0" tIns="0" rIns="0" bIns="0" rtlCol="0" anchor="t"/>
          <a:lstStyle/>
          <a:p>
            <a:pPr indent="0" marL="0">
              <a:buNone/>
            </a:pPr>
            <a:r>
              <a:rPr lang="en-US" sz="1100" dirty="0">
                <a:solidFill>
                  <a:srgbClr val="5F6B66"/>
                </a:solidFill>
              </a:rPr>
              <a:t>Qué hay que comprar y construir</a:t>
            </a:r>
            <a:endParaRPr lang="en-US" sz="1100" dirty="0"/>
          </a:p>
        </p:txBody>
      </p:sp>
      <p:sp>
        <p:nvSpPr>
          <p:cNvPr id="70" name="tarjeta"/>
          <p:cNvSpPr/>
          <p:nvPr/>
        </p:nvSpPr>
        <p:spPr>
          <a:xfrm>
            <a:off x="3362249" y="4809744"/>
            <a:ext cx="2651760" cy="1042416"/>
          </a:xfrm>
          <a:prstGeom prst="roundRect">
            <a:avLst>
              <a:gd name="adj" fmla="val 7018"/>
            </a:avLst>
          </a:prstGeom>
          <a:solidFill>
            <a:srgbClr val="EAF2EC"/>
          </a:solidFill>
          <a:ln w="9525">
            <a:solidFill>
              <a:srgbClr val="EAF2EC"/>
            </a:solidFill>
            <a:prstDash val="solid"/>
          </a:ln>
        </p:spPr>
      </p:sp>
      <p:sp>
        <p:nvSpPr>
          <p:cNvPr id="71" name="círculo FaFileInvoiceDollar"/>
          <p:cNvSpPr/>
          <p:nvPr/>
        </p:nvSpPr>
        <p:spPr>
          <a:xfrm>
            <a:off x="3526841" y="5010912"/>
            <a:ext cx="640080" cy="640080"/>
          </a:xfrm>
          <a:prstGeom prst="ellipse">
            <a:avLst/>
          </a:prstGeom>
          <a:solidFill>
            <a:srgbClr val="1F4D3A"/>
          </a:solidFill>
          <a:ln w="12700">
            <a:solidFill>
              <a:srgbClr val="1F4D3A"/>
            </a:solidFill>
            <a:prstDash val="solid"/>
          </a:ln>
        </p:spPr>
      </p:sp>
      <p:pic>
        <p:nvPicPr>
          <p:cNvPr id="72" name="Image 13" descr="FaFileInvoiceDollar">    </p:cNvPr>
          <p:cNvPicPr>
            <a:picLocks noChangeAspect="1"/>
          </p:cNvPicPr>
          <p:nvPr/>
        </p:nvPicPr>
        <p:blipFill>
          <a:blip r:embed="rId14"/>
          <a:stretch>
            <a:fillRect/>
          </a:stretch>
        </p:blipFill>
        <p:spPr>
          <a:xfrm>
            <a:off x="3680460" y="5164531"/>
            <a:ext cx="332842" cy="332842"/>
          </a:xfrm>
          <a:prstGeom prst="rect">
            <a:avLst/>
          </a:prstGeom>
        </p:spPr>
      </p:pic>
      <p:sp>
        <p:nvSpPr>
          <p:cNvPr id="73" name="Text 57"/>
          <p:cNvSpPr txBox="1"/>
          <p:nvPr/>
        </p:nvSpPr>
        <p:spPr>
          <a:xfrm>
            <a:off x="4294937" y="4937760"/>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Costos (OPEX)</a:t>
            </a:r>
            <a:endParaRPr lang="en-US" sz="1400" dirty="0"/>
          </a:p>
        </p:txBody>
      </p:sp>
      <p:sp>
        <p:nvSpPr>
          <p:cNvPr id="74" name="Text 58"/>
          <p:cNvSpPr txBox="1"/>
          <p:nvPr/>
        </p:nvSpPr>
        <p:spPr>
          <a:xfrm>
            <a:off x="4294937" y="5422392"/>
            <a:ext cx="1627632" cy="365760"/>
          </a:xfrm>
          <a:prstGeom prst="rect">
            <a:avLst/>
          </a:prstGeom>
          <a:noFill/>
          <a:ln/>
        </p:spPr>
        <p:txBody>
          <a:bodyPr wrap="square" lIns="0" tIns="0" rIns="0" bIns="0" rtlCol="0" anchor="t"/>
          <a:lstStyle/>
          <a:p>
            <a:pPr indent="0" marL="0">
              <a:buNone/>
            </a:pPr>
            <a:r>
              <a:rPr lang="en-US" sz="1100" dirty="0">
                <a:solidFill>
                  <a:srgbClr val="5F6B66"/>
                </a:solidFill>
              </a:rPr>
              <a:t>Qué cuesta operar; capital de trabajo</a:t>
            </a:r>
            <a:endParaRPr lang="en-US" sz="1100" dirty="0"/>
          </a:p>
        </p:txBody>
      </p:sp>
      <p:sp>
        <p:nvSpPr>
          <p:cNvPr id="75" name="tarjeta"/>
          <p:cNvSpPr/>
          <p:nvPr/>
        </p:nvSpPr>
        <p:spPr>
          <a:xfrm>
            <a:off x="6175858" y="4809744"/>
            <a:ext cx="2651760" cy="1042416"/>
          </a:xfrm>
          <a:prstGeom prst="roundRect">
            <a:avLst>
              <a:gd name="adj" fmla="val 7018"/>
            </a:avLst>
          </a:prstGeom>
          <a:solidFill>
            <a:srgbClr val="EAF2EC"/>
          </a:solidFill>
          <a:ln w="9525">
            <a:solidFill>
              <a:srgbClr val="EAF2EC"/>
            </a:solidFill>
            <a:prstDash val="solid"/>
          </a:ln>
        </p:spPr>
      </p:sp>
      <p:sp>
        <p:nvSpPr>
          <p:cNvPr id="76" name="círculo FaCalculator"/>
          <p:cNvSpPr/>
          <p:nvPr/>
        </p:nvSpPr>
        <p:spPr>
          <a:xfrm>
            <a:off x="6340450" y="5010912"/>
            <a:ext cx="640080" cy="640080"/>
          </a:xfrm>
          <a:prstGeom prst="ellipse">
            <a:avLst/>
          </a:prstGeom>
          <a:solidFill>
            <a:srgbClr val="1F4D3A"/>
          </a:solidFill>
          <a:ln w="12700">
            <a:solidFill>
              <a:srgbClr val="1F4D3A"/>
            </a:solidFill>
            <a:prstDash val="solid"/>
          </a:ln>
        </p:spPr>
      </p:sp>
      <p:pic>
        <p:nvPicPr>
          <p:cNvPr id="77" name="Image 14" descr="FaCalculator">    </p:cNvPr>
          <p:cNvPicPr>
            <a:picLocks noChangeAspect="1"/>
          </p:cNvPicPr>
          <p:nvPr/>
        </p:nvPicPr>
        <p:blipFill>
          <a:blip r:embed="rId15"/>
          <a:stretch>
            <a:fillRect/>
          </a:stretch>
        </p:blipFill>
        <p:spPr>
          <a:xfrm>
            <a:off x="6494069" y="5164531"/>
            <a:ext cx="332842" cy="332842"/>
          </a:xfrm>
          <a:prstGeom prst="rect">
            <a:avLst/>
          </a:prstGeom>
        </p:spPr>
      </p:pic>
      <p:sp>
        <p:nvSpPr>
          <p:cNvPr id="78" name="Text 61"/>
          <p:cNvSpPr txBox="1"/>
          <p:nvPr/>
        </p:nvSpPr>
        <p:spPr>
          <a:xfrm>
            <a:off x="7108546" y="4937760"/>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Finanzas y riesgos</a:t>
            </a:r>
            <a:endParaRPr lang="en-US" sz="1400" dirty="0"/>
          </a:p>
        </p:txBody>
      </p:sp>
      <p:sp>
        <p:nvSpPr>
          <p:cNvPr id="79" name="Text 62"/>
          <p:cNvSpPr txBox="1"/>
          <p:nvPr/>
        </p:nvSpPr>
        <p:spPr>
          <a:xfrm>
            <a:off x="7108546" y="5422392"/>
            <a:ext cx="1627632" cy="365760"/>
          </a:xfrm>
          <a:prstGeom prst="rect">
            <a:avLst/>
          </a:prstGeom>
          <a:noFill/>
          <a:ln/>
        </p:spPr>
        <p:txBody>
          <a:bodyPr wrap="square" lIns="0" tIns="0" rIns="0" bIns="0" rtlCol="0" anchor="t"/>
          <a:lstStyle/>
          <a:p>
            <a:pPr indent="0" marL="0">
              <a:buNone/>
            </a:pPr>
            <a:r>
              <a:rPr lang="en-US" sz="1100" dirty="0">
                <a:solidFill>
                  <a:srgbClr val="5F6B66"/>
                </a:solidFill>
              </a:rPr>
              <a:t>Rentabilidad, stress, optimizador</a:t>
            </a:r>
            <a:endParaRPr lang="en-US" sz="1100" dirty="0"/>
          </a:p>
        </p:txBody>
      </p:sp>
      <p:sp>
        <p:nvSpPr>
          <p:cNvPr id="80" name="tarjeta"/>
          <p:cNvSpPr/>
          <p:nvPr/>
        </p:nvSpPr>
        <p:spPr>
          <a:xfrm>
            <a:off x="8989466" y="4809744"/>
            <a:ext cx="2651760" cy="1042416"/>
          </a:xfrm>
          <a:prstGeom prst="roundRect">
            <a:avLst>
              <a:gd name="adj" fmla="val 7018"/>
            </a:avLst>
          </a:prstGeom>
          <a:solidFill>
            <a:srgbClr val="FBF1DC"/>
          </a:solidFill>
          <a:ln w="9525">
            <a:solidFill>
              <a:srgbClr val="FBF1DC"/>
            </a:solidFill>
            <a:prstDash val="solid"/>
          </a:ln>
        </p:spPr>
      </p:sp>
      <p:sp>
        <p:nvSpPr>
          <p:cNvPr id="81" name="círculo FaLaptop"/>
          <p:cNvSpPr/>
          <p:nvPr/>
        </p:nvSpPr>
        <p:spPr>
          <a:xfrm>
            <a:off x="9154058" y="5010912"/>
            <a:ext cx="640080" cy="640080"/>
          </a:xfrm>
          <a:prstGeom prst="ellipse">
            <a:avLst/>
          </a:prstGeom>
          <a:solidFill>
            <a:srgbClr val="E3A12F"/>
          </a:solidFill>
          <a:ln w="12700">
            <a:solidFill>
              <a:srgbClr val="E3A12F"/>
            </a:solidFill>
            <a:prstDash val="solid"/>
          </a:ln>
        </p:spPr>
      </p:sp>
      <p:pic>
        <p:nvPicPr>
          <p:cNvPr id="82" name="Image 15" descr="FaLaptop">    </p:cNvPr>
          <p:cNvPicPr>
            <a:picLocks noChangeAspect="1"/>
          </p:cNvPicPr>
          <p:nvPr/>
        </p:nvPicPr>
        <p:blipFill>
          <a:blip r:embed="rId16"/>
          <a:stretch>
            <a:fillRect/>
          </a:stretch>
        </p:blipFill>
        <p:spPr>
          <a:xfrm>
            <a:off x="9307678" y="5164531"/>
            <a:ext cx="332842" cy="332842"/>
          </a:xfrm>
          <a:prstGeom prst="rect">
            <a:avLst/>
          </a:prstGeom>
        </p:spPr>
      </p:pic>
      <p:sp>
        <p:nvSpPr>
          <p:cNvPr id="83" name="Text 65"/>
          <p:cNvSpPr txBox="1"/>
          <p:nvPr/>
        </p:nvSpPr>
        <p:spPr>
          <a:xfrm>
            <a:off x="9922154" y="4937760"/>
            <a:ext cx="1627632" cy="502920"/>
          </a:xfrm>
          <a:prstGeom prst="rect">
            <a:avLst/>
          </a:prstGeom>
          <a:noFill/>
          <a:ln/>
        </p:spPr>
        <p:txBody>
          <a:bodyPr wrap="square" lIns="0" tIns="0" rIns="0" bIns="0" rtlCol="0" anchor="ctr"/>
          <a:lstStyle/>
          <a:p>
            <a:pPr indent="0" marL="0">
              <a:buNone/>
            </a:pPr>
            <a:r>
              <a:rPr lang="en-US" sz="1400" b="1" dirty="0">
                <a:solidFill>
                  <a:srgbClr val="1F4D3A"/>
                </a:solidFill>
              </a:rPr>
              <a:t>App V1</a:t>
            </a:r>
            <a:endParaRPr lang="en-US" sz="1400" dirty="0"/>
          </a:p>
        </p:txBody>
      </p:sp>
      <p:sp>
        <p:nvSpPr>
          <p:cNvPr id="84" name="Text 66"/>
          <p:cNvSpPr txBox="1"/>
          <p:nvPr/>
        </p:nvSpPr>
        <p:spPr>
          <a:xfrm>
            <a:off x="9922154" y="5422392"/>
            <a:ext cx="1627632" cy="365760"/>
          </a:xfrm>
          <a:prstGeom prst="rect">
            <a:avLst/>
          </a:prstGeom>
          <a:noFill/>
          <a:ln/>
        </p:spPr>
        <p:txBody>
          <a:bodyPr wrap="square" lIns="0" tIns="0" rIns="0" bIns="0" rtlCol="0" anchor="t"/>
          <a:lstStyle/>
          <a:p>
            <a:pPr indent="0" marL="0">
              <a:buNone/>
            </a:pPr>
            <a:r>
              <a:rPr lang="en-US" sz="1100" dirty="0">
                <a:solidFill>
                  <a:srgbClr val="5F6B66"/>
                </a:solidFill>
              </a:rPr>
              <a:t>Todo lo anterior, en una pantalla</a:t>
            </a:r>
            <a:endParaRPr lang="en-US" sz="1100" dirty="0"/>
          </a:p>
        </p:txBody>
      </p:sp>
      <p:sp>
        <p:nvSpPr>
          <p:cNvPr id="85" name="Text 67"/>
          <p:cNvSpPr txBox="1"/>
          <p:nvPr/>
        </p:nvSpPr>
        <p:spPr>
          <a:xfrm>
            <a:off x="548640" y="6035040"/>
            <a:ext cx="11091672" cy="320040"/>
          </a:xfrm>
          <a:prstGeom prst="rect">
            <a:avLst/>
          </a:prstGeom>
          <a:noFill/>
          <a:ln/>
        </p:spPr>
        <p:txBody>
          <a:bodyPr wrap="square" lIns="0" tIns="0" rIns="0" bIns="0" rtlCol="0" anchor="t"/>
          <a:lstStyle/>
          <a:p>
            <a:pPr algn="ctr" indent="0" marL="0">
              <a:buNone/>
            </a:pPr>
            <a:r>
              <a:rPr lang="en-US" sz="1400" b="1" dirty="0">
                <a:solidFill>
                  <a:srgbClr val="5F6B66"/>
                </a:solidFill>
              </a:rPr>
              <a:t>25 módulos terminados como modelo · ninguno validado todavía con datos de campo</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Demanda: posible no es asegurada</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scalón ESCENARIO"/>
          <p:cNvSpPr/>
          <p:nvPr/>
        </p:nvSpPr>
        <p:spPr>
          <a:xfrm>
            <a:off x="548640" y="4800600"/>
            <a:ext cx="1371600" cy="1188720"/>
          </a:xfrm>
          <a:prstGeom prst="roundRect">
            <a:avLst>
              <a:gd name="adj" fmla="val 4615"/>
            </a:avLst>
          </a:prstGeom>
          <a:solidFill>
            <a:srgbClr val="6B4FA0"/>
          </a:solidFill>
          <a:ln w="12700">
            <a:solidFill>
              <a:srgbClr val="6B4FA0"/>
            </a:solidFill>
            <a:prstDash val="solid"/>
          </a:ln>
        </p:spPr>
      </p:sp>
      <p:sp>
        <p:nvSpPr>
          <p:cNvPr id="5" name="Text 3"/>
          <p:cNvSpPr txBox="1"/>
          <p:nvPr/>
        </p:nvSpPr>
        <p:spPr>
          <a:xfrm>
            <a:off x="594360" y="4910328"/>
            <a:ext cx="1280160" cy="320040"/>
          </a:xfrm>
          <a:prstGeom prst="rect">
            <a:avLst/>
          </a:prstGeom>
          <a:noFill/>
          <a:ln/>
        </p:spPr>
        <p:txBody>
          <a:bodyPr wrap="square" lIns="0" tIns="0" rIns="0" bIns="0" rtlCol="0" anchor="t"/>
          <a:lstStyle/>
          <a:p>
            <a:pPr algn="ctr" indent="0" marL="0">
              <a:buNone/>
            </a:pPr>
            <a:r>
              <a:rPr lang="en-US" sz="1300" b="1" dirty="0">
                <a:solidFill>
                  <a:srgbClr val="FFFFFF"/>
                </a:solidFill>
              </a:rPr>
              <a:t>ESCENARIO</a:t>
            </a:r>
            <a:endParaRPr lang="en-US" sz="1300" dirty="0"/>
          </a:p>
        </p:txBody>
      </p:sp>
      <p:sp>
        <p:nvSpPr>
          <p:cNvPr id="6" name="Text 4"/>
          <p:cNvSpPr txBox="1"/>
          <p:nvPr/>
        </p:nvSpPr>
        <p:spPr>
          <a:xfrm>
            <a:off x="640080" y="5257800"/>
            <a:ext cx="1188720" cy="685800"/>
          </a:xfrm>
          <a:prstGeom prst="rect">
            <a:avLst/>
          </a:prstGeom>
          <a:noFill/>
          <a:ln/>
        </p:spPr>
        <p:txBody>
          <a:bodyPr wrap="square" lIns="0" tIns="0" rIns="0" bIns="0" rtlCol="0" anchor="t"/>
          <a:lstStyle/>
          <a:p>
            <a:pPr algn="ctr" indent="0" marL="0">
              <a:buNone/>
            </a:pPr>
            <a:r>
              <a:rPr lang="en-US" sz="1100" dirty="0">
                <a:solidFill>
                  <a:srgbClr val="FFFFFF"/>
                </a:solidFill>
              </a:rPr>
              <a:t>Hipótesis para simular</a:t>
            </a:r>
            <a:endParaRPr lang="en-US" sz="1100" dirty="0"/>
          </a:p>
        </p:txBody>
      </p:sp>
      <p:sp>
        <p:nvSpPr>
          <p:cNvPr id="7" name="escalón POTENCIAL"/>
          <p:cNvSpPr/>
          <p:nvPr/>
        </p:nvSpPr>
        <p:spPr>
          <a:xfrm>
            <a:off x="2029968" y="4233672"/>
            <a:ext cx="1371600" cy="1755648"/>
          </a:xfrm>
          <a:prstGeom prst="roundRect">
            <a:avLst>
              <a:gd name="adj" fmla="val 4000"/>
            </a:avLst>
          </a:prstGeom>
          <a:solidFill>
            <a:srgbClr val="8A6FB8"/>
          </a:solidFill>
          <a:ln w="12700">
            <a:solidFill>
              <a:srgbClr val="8A6FB8"/>
            </a:solidFill>
            <a:prstDash val="solid"/>
          </a:ln>
        </p:spPr>
      </p:sp>
      <p:sp>
        <p:nvSpPr>
          <p:cNvPr id="8" name="Text 6"/>
          <p:cNvSpPr txBox="1"/>
          <p:nvPr/>
        </p:nvSpPr>
        <p:spPr>
          <a:xfrm>
            <a:off x="2075688" y="4343400"/>
            <a:ext cx="1280160" cy="320040"/>
          </a:xfrm>
          <a:prstGeom prst="rect">
            <a:avLst/>
          </a:prstGeom>
          <a:noFill/>
          <a:ln/>
        </p:spPr>
        <p:txBody>
          <a:bodyPr wrap="square" lIns="0" tIns="0" rIns="0" bIns="0" rtlCol="0" anchor="t"/>
          <a:lstStyle/>
          <a:p>
            <a:pPr algn="ctr" indent="0" marL="0">
              <a:buNone/>
            </a:pPr>
            <a:r>
              <a:rPr lang="en-US" sz="1300" b="1" dirty="0">
                <a:solidFill>
                  <a:srgbClr val="FFFFFF"/>
                </a:solidFill>
              </a:rPr>
              <a:t>POTENCIAL</a:t>
            </a:r>
            <a:endParaRPr lang="en-US" sz="1300" dirty="0"/>
          </a:p>
        </p:txBody>
      </p:sp>
      <p:sp>
        <p:nvSpPr>
          <p:cNvPr id="9" name="Text 7"/>
          <p:cNvSpPr txBox="1"/>
          <p:nvPr/>
        </p:nvSpPr>
        <p:spPr>
          <a:xfrm>
            <a:off x="2121408" y="4690872"/>
            <a:ext cx="1188720" cy="685800"/>
          </a:xfrm>
          <a:prstGeom prst="rect">
            <a:avLst/>
          </a:prstGeom>
          <a:noFill/>
          <a:ln/>
        </p:spPr>
        <p:txBody>
          <a:bodyPr wrap="square" lIns="0" tIns="0" rIns="0" bIns="0" rtlCol="0" anchor="t"/>
          <a:lstStyle/>
          <a:p>
            <a:pPr algn="ctr" indent="0" marL="0">
              <a:buNone/>
            </a:pPr>
            <a:r>
              <a:rPr lang="en-US" sz="1100" dirty="0">
                <a:solidFill>
                  <a:srgbClr val="FFFFFF"/>
                </a:solidFill>
              </a:rPr>
              <a:t>Canal posible, sin compromiso</a:t>
            </a:r>
            <a:endParaRPr lang="en-US" sz="1100" dirty="0"/>
          </a:p>
        </p:txBody>
      </p:sp>
      <p:sp>
        <p:nvSpPr>
          <p:cNvPr id="10" name="escalón INTERESADA"/>
          <p:cNvSpPr/>
          <p:nvPr/>
        </p:nvSpPr>
        <p:spPr>
          <a:xfrm>
            <a:off x="3511296" y="3666744"/>
            <a:ext cx="1371600" cy="2322576"/>
          </a:xfrm>
          <a:prstGeom prst="roundRect">
            <a:avLst>
              <a:gd name="adj" fmla="val 4000"/>
            </a:avLst>
          </a:prstGeom>
          <a:solidFill>
            <a:srgbClr val="8C8C5A"/>
          </a:solidFill>
          <a:ln w="12700">
            <a:solidFill>
              <a:srgbClr val="8C8C5A"/>
            </a:solidFill>
            <a:prstDash val="solid"/>
          </a:ln>
        </p:spPr>
      </p:sp>
      <p:sp>
        <p:nvSpPr>
          <p:cNvPr id="11" name="Text 9"/>
          <p:cNvSpPr txBox="1"/>
          <p:nvPr/>
        </p:nvSpPr>
        <p:spPr>
          <a:xfrm>
            <a:off x="3557016" y="3776472"/>
            <a:ext cx="1280160" cy="320040"/>
          </a:xfrm>
          <a:prstGeom prst="rect">
            <a:avLst/>
          </a:prstGeom>
          <a:noFill/>
          <a:ln/>
        </p:spPr>
        <p:txBody>
          <a:bodyPr wrap="square" lIns="0" tIns="0" rIns="0" bIns="0" rtlCol="0" anchor="t"/>
          <a:lstStyle/>
          <a:p>
            <a:pPr algn="ctr" indent="0" marL="0">
              <a:buNone/>
            </a:pPr>
            <a:r>
              <a:rPr lang="en-US" sz="1300" b="1" dirty="0">
                <a:solidFill>
                  <a:srgbClr val="FFFFFF"/>
                </a:solidFill>
              </a:rPr>
              <a:t>INTERESADA</a:t>
            </a:r>
            <a:endParaRPr lang="en-US" sz="1300" dirty="0"/>
          </a:p>
        </p:txBody>
      </p:sp>
      <p:sp>
        <p:nvSpPr>
          <p:cNvPr id="12" name="Text 10"/>
          <p:cNvSpPr txBox="1"/>
          <p:nvPr/>
        </p:nvSpPr>
        <p:spPr>
          <a:xfrm>
            <a:off x="3602736" y="4123944"/>
            <a:ext cx="1188720" cy="685800"/>
          </a:xfrm>
          <a:prstGeom prst="rect">
            <a:avLst/>
          </a:prstGeom>
          <a:noFill/>
          <a:ln/>
        </p:spPr>
        <p:txBody>
          <a:bodyPr wrap="square" lIns="0" tIns="0" rIns="0" bIns="0" rtlCol="0" anchor="t"/>
          <a:lstStyle/>
          <a:p>
            <a:pPr algn="ctr" indent="0" marL="0">
              <a:buNone/>
            </a:pPr>
            <a:r>
              <a:rPr lang="en-US" sz="1100" dirty="0">
                <a:solidFill>
                  <a:srgbClr val="FFFFFF"/>
                </a:solidFill>
              </a:rPr>
              <a:t>Interés sin volumen firme</a:t>
            </a:r>
            <a:endParaRPr lang="en-US" sz="1100" dirty="0"/>
          </a:p>
        </p:txBody>
      </p:sp>
      <p:sp>
        <p:nvSpPr>
          <p:cNvPr id="13" name="escalón NEGOCIADA"/>
          <p:cNvSpPr/>
          <p:nvPr/>
        </p:nvSpPr>
        <p:spPr>
          <a:xfrm>
            <a:off x="4992624" y="3099816"/>
            <a:ext cx="1371600" cy="2889504"/>
          </a:xfrm>
          <a:prstGeom prst="roundRect">
            <a:avLst>
              <a:gd name="adj" fmla="val 4000"/>
            </a:avLst>
          </a:prstGeom>
          <a:solidFill>
            <a:srgbClr val="5E9470"/>
          </a:solidFill>
          <a:ln w="12700">
            <a:solidFill>
              <a:srgbClr val="5E9470"/>
            </a:solidFill>
            <a:prstDash val="solid"/>
          </a:ln>
        </p:spPr>
      </p:sp>
      <p:sp>
        <p:nvSpPr>
          <p:cNvPr id="14" name="Text 12"/>
          <p:cNvSpPr txBox="1"/>
          <p:nvPr/>
        </p:nvSpPr>
        <p:spPr>
          <a:xfrm>
            <a:off x="5038344" y="3209544"/>
            <a:ext cx="1280160" cy="320040"/>
          </a:xfrm>
          <a:prstGeom prst="rect">
            <a:avLst/>
          </a:prstGeom>
          <a:noFill/>
          <a:ln/>
        </p:spPr>
        <p:txBody>
          <a:bodyPr wrap="square" lIns="0" tIns="0" rIns="0" bIns="0" rtlCol="0" anchor="t"/>
          <a:lstStyle/>
          <a:p>
            <a:pPr algn="ctr" indent="0" marL="0">
              <a:buNone/>
            </a:pPr>
            <a:r>
              <a:rPr lang="en-US" sz="1300" b="1" dirty="0">
                <a:solidFill>
                  <a:srgbClr val="FFFFFF"/>
                </a:solidFill>
              </a:rPr>
              <a:t>NEGOCIADA</a:t>
            </a:r>
            <a:endParaRPr lang="en-US" sz="1300" dirty="0"/>
          </a:p>
        </p:txBody>
      </p:sp>
      <p:sp>
        <p:nvSpPr>
          <p:cNvPr id="15" name="Text 13"/>
          <p:cNvSpPr txBox="1"/>
          <p:nvPr/>
        </p:nvSpPr>
        <p:spPr>
          <a:xfrm>
            <a:off x="5084064" y="3557016"/>
            <a:ext cx="1188720" cy="685800"/>
          </a:xfrm>
          <a:prstGeom prst="rect">
            <a:avLst/>
          </a:prstGeom>
          <a:noFill/>
          <a:ln/>
        </p:spPr>
        <p:txBody>
          <a:bodyPr wrap="square" lIns="0" tIns="0" rIns="0" bIns="0" rtlCol="0" anchor="t"/>
          <a:lstStyle/>
          <a:p>
            <a:pPr algn="ctr" indent="0" marL="0">
              <a:buNone/>
            </a:pPr>
            <a:r>
              <a:rPr lang="en-US" sz="1100" dirty="0">
                <a:solidFill>
                  <a:srgbClr val="FFFFFF"/>
                </a:solidFill>
              </a:rPr>
              <a:t>Volumen y precio en conversación</a:t>
            </a:r>
            <a:endParaRPr lang="en-US" sz="1100" dirty="0"/>
          </a:p>
        </p:txBody>
      </p:sp>
      <p:sp>
        <p:nvSpPr>
          <p:cNvPr id="16" name="escalón ASEGURADA"/>
          <p:cNvSpPr/>
          <p:nvPr/>
        </p:nvSpPr>
        <p:spPr>
          <a:xfrm>
            <a:off x="6473952" y="2532888"/>
            <a:ext cx="1371600" cy="3456432"/>
          </a:xfrm>
          <a:prstGeom prst="roundRect">
            <a:avLst>
              <a:gd name="adj" fmla="val 4000"/>
            </a:avLst>
          </a:prstGeom>
          <a:solidFill>
            <a:srgbClr val="2E7D4F"/>
          </a:solidFill>
          <a:ln w="12700">
            <a:solidFill>
              <a:srgbClr val="2E7D4F"/>
            </a:solidFill>
            <a:prstDash val="solid"/>
          </a:ln>
        </p:spPr>
      </p:sp>
      <p:sp>
        <p:nvSpPr>
          <p:cNvPr id="17" name="Text 15"/>
          <p:cNvSpPr txBox="1"/>
          <p:nvPr/>
        </p:nvSpPr>
        <p:spPr>
          <a:xfrm>
            <a:off x="6519672" y="2642616"/>
            <a:ext cx="1280160" cy="320040"/>
          </a:xfrm>
          <a:prstGeom prst="rect">
            <a:avLst/>
          </a:prstGeom>
          <a:noFill/>
          <a:ln/>
        </p:spPr>
        <p:txBody>
          <a:bodyPr wrap="square" lIns="0" tIns="0" rIns="0" bIns="0" rtlCol="0" anchor="t"/>
          <a:lstStyle/>
          <a:p>
            <a:pPr algn="ctr" indent="0" marL="0">
              <a:buNone/>
            </a:pPr>
            <a:r>
              <a:rPr lang="en-US" sz="1300" b="1" dirty="0">
                <a:solidFill>
                  <a:srgbClr val="FFFFFF"/>
                </a:solidFill>
              </a:rPr>
              <a:t>ASEGURADA</a:t>
            </a:r>
            <a:endParaRPr lang="en-US" sz="1300" dirty="0"/>
          </a:p>
        </p:txBody>
      </p:sp>
      <p:sp>
        <p:nvSpPr>
          <p:cNvPr id="18" name="Text 16"/>
          <p:cNvSpPr txBox="1"/>
          <p:nvPr/>
        </p:nvSpPr>
        <p:spPr>
          <a:xfrm>
            <a:off x="6565392" y="2990088"/>
            <a:ext cx="1188720" cy="685800"/>
          </a:xfrm>
          <a:prstGeom prst="rect">
            <a:avLst/>
          </a:prstGeom>
          <a:noFill/>
          <a:ln/>
        </p:spPr>
        <p:txBody>
          <a:bodyPr wrap="square" lIns="0" tIns="0" rIns="0" bIns="0" rtlCol="0" anchor="t"/>
          <a:lstStyle/>
          <a:p>
            <a:pPr algn="ctr" indent="0" marL="0">
              <a:buNone/>
            </a:pPr>
            <a:r>
              <a:rPr lang="en-US" sz="1100" dirty="0">
                <a:solidFill>
                  <a:srgbClr val="FFFFFF"/>
                </a:solidFill>
              </a:rPr>
              <a:t>Contrato o compra documentada</a:t>
            </a:r>
            <a:endParaRPr lang="en-US" sz="1100" dirty="0"/>
          </a:p>
        </p:txBody>
      </p:sp>
      <p:sp>
        <p:nvSpPr>
          <p:cNvPr id="19" name="Text 17"/>
          <p:cNvSpPr txBox="1"/>
          <p:nvPr/>
        </p:nvSpPr>
        <p:spPr>
          <a:xfrm>
            <a:off x="1709928" y="2148840"/>
            <a:ext cx="2011680" cy="685800"/>
          </a:xfrm>
          <a:prstGeom prst="roundRect">
            <a:avLst>
              <a:gd name="adj" fmla="val 13333"/>
            </a:avLst>
          </a:prstGeom>
          <a:solidFill>
            <a:srgbClr val="FBF1DC"/>
          </a:solidFill>
          <a:ln w="15875">
            <a:solidFill>
              <a:srgbClr val="E3A12F"/>
            </a:solidFill>
          </a:ln>
        </p:spPr>
        <p:txBody>
          <a:bodyPr wrap="square" lIns="0" tIns="0" rIns="0" bIns="0" rtlCol="0" anchor="ctr"/>
          <a:lstStyle/>
          <a:p>
            <a:pPr algn="ctr" indent="0" marL="0">
              <a:buNone/>
            </a:pPr>
            <a:r>
              <a:rPr lang="en-US" sz="1300" b="1" dirty="0">
                <a:solidFill>
                  <a:srgbClr val="1F4D3A"/>
                </a:solidFill>
              </a:rPr>
              <a:t>Los ~90 supermercados están acá hoy</a:t>
            </a:r>
            <a:endParaRPr lang="en-US" sz="1300" dirty="0"/>
          </a:p>
        </p:txBody>
      </p:sp>
      <p:sp>
        <p:nvSpPr>
          <p:cNvPr id="20" name="Shape 18"/>
          <p:cNvSpPr/>
          <p:nvPr/>
        </p:nvSpPr>
        <p:spPr>
          <a:xfrm>
            <a:off x="2715768" y="2852928"/>
            <a:ext cx="91" cy="1335024"/>
          </a:xfrm>
          <a:prstGeom prst="line">
            <a:avLst/>
          </a:prstGeom>
          <a:noFill/>
          <a:ln w="25400">
            <a:solidFill>
              <a:srgbClr val="E3A12F"/>
            </a:solidFill>
            <a:prstDash val="solid"/>
            <a:tailEnd type="triangle"/>
          </a:ln>
        </p:spPr>
      </p:sp>
      <p:sp>
        <p:nvSpPr>
          <p:cNvPr id="21" name="Text 19"/>
          <p:cNvSpPr txBox="1"/>
          <p:nvPr/>
        </p:nvSpPr>
        <p:spPr>
          <a:xfrm>
            <a:off x="548640" y="6035040"/>
            <a:ext cx="7223760" cy="274320"/>
          </a:xfrm>
          <a:prstGeom prst="rect">
            <a:avLst/>
          </a:prstGeom>
          <a:noFill/>
          <a:ln/>
        </p:spPr>
        <p:txBody>
          <a:bodyPr wrap="square" lIns="0" tIns="0" rIns="0" bIns="0" rtlCol="0" anchor="t"/>
          <a:lstStyle/>
          <a:p>
            <a:pPr algn="r" indent="0" marL="0">
              <a:buNone/>
            </a:pPr>
            <a:r>
              <a:rPr lang="en-US" sz="1100" dirty="0">
                <a:solidFill>
                  <a:srgbClr val="5F6B66"/>
                </a:solidFill>
              </a:rPr>
              <a:t>más respaldo  →</a:t>
            </a:r>
            <a:endParaRPr lang="en-US" sz="1100" dirty="0"/>
          </a:p>
        </p:txBody>
      </p:sp>
      <p:sp>
        <p:nvSpPr>
          <p:cNvPr id="22" name="tarjeta"/>
          <p:cNvSpPr/>
          <p:nvPr/>
        </p:nvSpPr>
        <p:spPr>
          <a:xfrm>
            <a:off x="8092440" y="1371600"/>
            <a:ext cx="3547872" cy="1965960"/>
          </a:xfrm>
          <a:prstGeom prst="roundRect">
            <a:avLst>
              <a:gd name="adj" fmla="val 3721"/>
            </a:avLst>
          </a:prstGeom>
          <a:solidFill>
            <a:srgbClr val="F8E3E1"/>
          </a:solidFill>
          <a:ln w="9525">
            <a:solidFill>
              <a:srgbClr val="F8E3E1"/>
            </a:solidFill>
            <a:prstDash val="solid"/>
          </a:ln>
        </p:spPr>
      </p:sp>
      <p:sp>
        <p:nvSpPr>
          <p:cNvPr id="23" name="Text 21"/>
          <p:cNvSpPr txBox="1"/>
          <p:nvPr/>
        </p:nvSpPr>
        <p:spPr>
          <a:xfrm>
            <a:off x="8321040" y="1463040"/>
            <a:ext cx="3108960" cy="914400"/>
          </a:xfrm>
          <a:prstGeom prst="rect">
            <a:avLst/>
          </a:prstGeom>
          <a:noFill/>
          <a:ln/>
        </p:spPr>
        <p:txBody>
          <a:bodyPr wrap="square" lIns="0" tIns="0" rIns="0" bIns="0" rtlCol="0" anchor="t"/>
          <a:lstStyle/>
          <a:p>
            <a:pPr indent="0" marL="0">
              <a:buNone/>
            </a:pPr>
            <a:r>
              <a:rPr lang="en-US" sz="5400" b="1" dirty="0">
                <a:solidFill>
                  <a:srgbClr val="B3261E"/>
                </a:solidFill>
              </a:rPr>
              <a:t>≈ 0</a:t>
            </a:r>
            <a:endParaRPr lang="en-US" sz="5400" dirty="0"/>
          </a:p>
        </p:txBody>
      </p:sp>
      <p:sp>
        <p:nvSpPr>
          <p:cNvPr id="24" name="Text 22"/>
          <p:cNvSpPr txBox="1"/>
          <p:nvPr/>
        </p:nvSpPr>
        <p:spPr>
          <a:xfrm>
            <a:off x="8321040" y="2423160"/>
            <a:ext cx="3108960" cy="731520"/>
          </a:xfrm>
          <a:prstGeom prst="rect">
            <a:avLst/>
          </a:prstGeom>
          <a:noFill/>
          <a:ln/>
        </p:spPr>
        <p:txBody>
          <a:bodyPr wrap="square" lIns="0" tIns="0" rIns="0" bIns="0" rtlCol="0" anchor="t"/>
          <a:lstStyle/>
          <a:p>
            <a:pPr indent="0" marL="0">
              <a:buNone/>
            </a:pPr>
            <a:r>
              <a:rPr lang="en-US" sz="1400" dirty="0">
                <a:solidFill>
                  <a:srgbClr val="1E2B24"/>
                </a:solidFill>
              </a:rPr>
              <a:t>demanda documentada hoy (asegurada o negociada)</a:t>
            </a:r>
            <a:endParaRPr lang="en-US" sz="1400" dirty="0"/>
          </a:p>
        </p:txBody>
      </p:sp>
      <p:sp>
        <p:nvSpPr>
          <p:cNvPr id="25" name="Text 23"/>
          <p:cNvSpPr txBox="1"/>
          <p:nvPr/>
        </p:nvSpPr>
        <p:spPr>
          <a:xfrm>
            <a:off x="8092440" y="3566160"/>
            <a:ext cx="3547872" cy="26517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E2B24"/>
                </a:solidFill>
              </a:rPr>
              <a:t>Con datos reales, el motor solo «vende» lo ASEGURADO.</a:t>
            </a:r>
            <a:endParaRPr lang="en-US" sz="1400" dirty="0"/>
          </a:p>
          <a:p>
            <a:pPr marL="203200" indent="-203200">
              <a:spcAft>
                <a:spcPts val="600"/>
              </a:spcAft>
              <a:buSzPct val="100000"/>
              <a:buChar char="•"/>
            </a:pPr>
            <a:r>
              <a:rPr lang="en-US" sz="1400" dirty="0">
                <a:solidFill>
                  <a:srgbClr val="1E2B24"/>
                </a:solidFill>
              </a:rPr>
              <a:t>Todo lo demás se puede simular, siempre rotulado ESCENARIO.</a:t>
            </a:r>
            <a:endParaRPr lang="en-US" sz="1400" dirty="0"/>
          </a:p>
          <a:p>
            <a:pPr marL="203200" indent="-203200">
              <a:spcAft>
                <a:spcPts val="600"/>
              </a:spcAft>
              <a:buSzPct val="100000"/>
              <a:buChar char="•"/>
            </a:pPr>
            <a:r>
              <a:rPr lang="en-US" sz="1400" dirty="0">
                <a:solidFill>
                  <a:srgbClr val="1E2B24"/>
                </a:solidFill>
              </a:rPr>
              <a:t>Los supermercados pueden ser cliente ancla, pero no definen ni limitan la escala de la empresa.</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Cinco formas de armar el negocio: C0 a CF</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alternativa C0"/>
          <p:cNvSpPr/>
          <p:nvPr/>
        </p:nvSpPr>
        <p:spPr>
          <a:xfrm>
            <a:off x="548640" y="1325880"/>
            <a:ext cx="2103120" cy="406908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5" name="código C0"/>
          <p:cNvSpPr/>
          <p:nvPr/>
        </p:nvSpPr>
        <p:spPr>
          <a:xfrm>
            <a:off x="731520" y="1508760"/>
            <a:ext cx="731520" cy="731520"/>
          </a:xfrm>
          <a:prstGeom prst="ellipse">
            <a:avLst/>
          </a:prstGeom>
          <a:solidFill>
            <a:srgbClr val="DCEBE1"/>
          </a:solidFill>
          <a:ln w="12700">
            <a:solidFill>
              <a:srgbClr val="DCEBE1"/>
            </a:solidFill>
            <a:prstDash val="solid"/>
          </a:ln>
        </p:spPr>
      </p:sp>
      <p:sp>
        <p:nvSpPr>
          <p:cNvPr id="6" name="Text 4"/>
          <p:cNvSpPr txBox="1"/>
          <p:nvPr/>
        </p:nvSpPr>
        <p:spPr>
          <a:xfrm>
            <a:off x="731520" y="1508760"/>
            <a:ext cx="731520" cy="731520"/>
          </a:xfrm>
          <a:prstGeom prst="rect">
            <a:avLst/>
          </a:prstGeom>
          <a:noFill/>
          <a:ln/>
        </p:spPr>
        <p:txBody>
          <a:bodyPr wrap="square" lIns="0" tIns="0" rIns="0" bIns="0" rtlCol="0" anchor="ctr"/>
          <a:lstStyle/>
          <a:p>
            <a:pPr algn="ctr" indent="0" marL="0">
              <a:buNone/>
            </a:pPr>
            <a:r>
              <a:rPr lang="en-US" sz="2200" b="1" dirty="0">
                <a:solidFill>
                  <a:srgbClr val="1F4D3A"/>
                </a:solidFill>
              </a:rPr>
              <a:t>C0</a:t>
            </a:r>
            <a:endParaRPr lang="en-US" sz="2200" dirty="0"/>
          </a:p>
        </p:txBody>
      </p:sp>
      <p:sp>
        <p:nvSpPr>
          <p:cNvPr id="7" name="Text 5"/>
          <p:cNvSpPr txBox="1"/>
          <p:nvPr/>
        </p:nvSpPr>
        <p:spPr>
          <a:xfrm>
            <a:off x="731520" y="2331720"/>
            <a:ext cx="1737360" cy="548640"/>
          </a:xfrm>
          <a:prstGeom prst="rect">
            <a:avLst/>
          </a:prstGeom>
          <a:noFill/>
          <a:ln/>
        </p:spPr>
        <p:txBody>
          <a:bodyPr wrap="square" lIns="0" tIns="0" rIns="0" bIns="0" rtlCol="0" anchor="ctr"/>
          <a:lstStyle/>
          <a:p>
            <a:pPr indent="0" marL="0">
              <a:buNone/>
            </a:pPr>
            <a:r>
              <a:rPr lang="en-US" sz="1500" b="1" dirty="0">
                <a:solidFill>
                  <a:srgbClr val="1F4D3A"/>
                </a:solidFill>
              </a:rPr>
              <a:t>Arranque liviano</a:t>
            </a:r>
            <a:endParaRPr lang="en-US" sz="1500" dirty="0"/>
          </a:p>
        </p:txBody>
      </p:sp>
      <p:sp>
        <p:nvSpPr>
          <p:cNvPr id="8" name="Text 6"/>
          <p:cNvSpPr txBox="1"/>
          <p:nvPr/>
        </p:nvSpPr>
        <p:spPr>
          <a:xfrm>
            <a:off x="731520" y="2880360"/>
            <a:ext cx="1737360" cy="1051560"/>
          </a:xfrm>
          <a:prstGeom prst="rect">
            <a:avLst/>
          </a:prstGeom>
          <a:noFill/>
          <a:ln/>
        </p:spPr>
        <p:txBody>
          <a:bodyPr wrap="square" lIns="0" tIns="0" rIns="0" bIns="0" rtlCol="0" anchor="t"/>
          <a:lstStyle/>
          <a:p>
            <a:pPr indent="0" marL="0">
              <a:buNone/>
            </a:pPr>
            <a:r>
              <a:rPr lang="en-US" sz="1150" dirty="0">
                <a:solidFill>
                  <a:srgbClr val="1E2B24"/>
                </a:solidFill>
              </a:rPr>
              <a:t>Compramos pollitos; otro frigorífico faena por nosotros (façon); crían productores integrados.</a:t>
            </a:r>
            <a:endParaRPr lang="en-US" sz="1150" dirty="0"/>
          </a:p>
        </p:txBody>
      </p:sp>
      <p:sp>
        <p:nvSpPr>
          <p:cNvPr id="9" name="Text 7"/>
          <p:cNvSpPr txBox="1"/>
          <p:nvPr/>
        </p:nvSpPr>
        <p:spPr>
          <a:xfrm>
            <a:off x="731520" y="3977640"/>
            <a:ext cx="1737360" cy="1325880"/>
          </a:xfrm>
          <a:prstGeom prst="rect">
            <a:avLst/>
          </a:prstGeom>
          <a:noFill/>
          <a:ln/>
        </p:spPr>
        <p:txBody>
          <a:bodyPr wrap="square" lIns="0" tIns="0" rIns="0" bIns="0" rtlCol="0" anchor="t"/>
          <a:lstStyle/>
          <a:p>
            <a:pPr indent="0" marL="0">
              <a:spcAft>
                <a:spcPts val="200"/>
              </a:spcAft>
              <a:buNone/>
            </a:pPr>
            <a:r>
              <a:rPr lang="en-US" sz="1150" b="1" dirty="0">
                <a:solidFill>
                  <a:srgbClr val="5F6B66"/>
                </a:solidFill>
              </a:rPr>
              <a:t>Faena: </a:t>
            </a:r>
            <a:pPr indent="0" marL="0">
              <a:spcAft>
                <a:spcPts val="200"/>
              </a:spcAft>
              <a:buNone/>
            </a:pPr>
            <a:r>
              <a:rPr lang="en-US" sz="1150" dirty="0">
                <a:solidFill>
                  <a:srgbClr val="1E2B24"/>
                </a:solidFill>
              </a:rPr>
              <a:t>tercero</a:t>
            </a:r>
            <a:endParaRPr lang="en-US" sz="1150" dirty="0"/>
          </a:p>
          <a:p>
            <a:pPr indent="0" marL="0">
              <a:spcAft>
                <a:spcPts val="200"/>
              </a:spcAft>
              <a:buNone/>
            </a:pPr>
            <a:r>
              <a:rPr lang="en-US" sz="1150" b="1" dirty="0">
                <a:solidFill>
                  <a:srgbClr val="5F6B66"/>
                </a:solidFill>
              </a:rPr>
              <a:t>Granjas: </a:t>
            </a:r>
            <a:pPr indent="0" marL="0">
              <a:spcAft>
                <a:spcPts val="200"/>
              </a:spcAft>
              <a:buNone/>
            </a:pPr>
            <a:r>
              <a:rPr lang="en-US" sz="1150" dirty="0">
                <a:solidFill>
                  <a:srgbClr val="1E2B24"/>
                </a:solidFill>
              </a:rPr>
              <a:t>integradas</a:t>
            </a:r>
            <a:endParaRPr lang="en-US" sz="1150" dirty="0"/>
          </a:p>
          <a:p>
            <a:pPr indent="0" marL="0">
              <a:spcAft>
                <a:spcPts val="200"/>
              </a:spcAft>
              <a:buNone/>
            </a:pPr>
            <a:r>
              <a:rPr lang="en-US" sz="1150" b="1" dirty="0">
                <a:solidFill>
                  <a:srgbClr val="5F6B66"/>
                </a:solidFill>
              </a:rPr>
              <a:t>Pollito: </a:t>
            </a:r>
            <a:pPr indent="0" marL="0">
              <a:spcAft>
                <a:spcPts val="200"/>
              </a:spcAft>
              <a:buNone/>
            </a:pPr>
            <a:r>
              <a:rPr lang="en-US" sz="1150" dirty="0">
                <a:solidFill>
                  <a:srgbClr val="1E2B24"/>
                </a:solidFill>
              </a:rPr>
              <a:t>comprado</a:t>
            </a:r>
            <a:endParaRPr lang="en-US" sz="1150" dirty="0"/>
          </a:p>
          <a:p>
            <a:pPr indent="0" marL="0">
              <a:spcAft>
                <a:spcPts val="200"/>
              </a:spcAft>
              <a:buNone/>
            </a:pPr>
            <a:r>
              <a:rPr lang="en-US" sz="1150" b="1" dirty="0">
                <a:solidFill>
                  <a:srgbClr val="5F6B66"/>
                </a:solidFill>
              </a:rPr>
              <a:t>Alimento: </a:t>
            </a:r>
            <a:pPr indent="0" marL="0">
              <a:spcAft>
                <a:spcPts val="200"/>
              </a:spcAft>
              <a:buNone/>
            </a:pPr>
            <a:r>
              <a:rPr lang="en-US" sz="1150" dirty="0">
                <a:solidFill>
                  <a:srgbClr val="1E2B24"/>
                </a:solidFill>
              </a:rPr>
              <a:t>a façon</a:t>
            </a:r>
            <a:endParaRPr lang="en-US" sz="1150" dirty="0"/>
          </a:p>
          <a:p>
            <a:pPr indent="0" marL="0">
              <a:spcAft>
                <a:spcPts val="200"/>
              </a:spcAft>
              <a:buNone/>
            </a:pPr>
            <a:r>
              <a:rPr lang="en-US" sz="1150" b="1" dirty="0">
                <a:solidFill>
                  <a:srgbClr val="5F6B66"/>
                </a:solidFill>
              </a:rPr>
              <a:t>Flota y frío: </a:t>
            </a:r>
            <a:pPr indent="0" marL="0">
              <a:spcAft>
                <a:spcPts val="200"/>
              </a:spcAft>
              <a:buNone/>
            </a:pPr>
            <a:r>
              <a:rPr lang="en-US" sz="1150" dirty="0">
                <a:solidFill>
                  <a:srgbClr val="1E2B24"/>
                </a:solidFill>
              </a:rPr>
              <a:t>terceros</a:t>
            </a:r>
            <a:endParaRPr lang="en-US" sz="1150" dirty="0"/>
          </a:p>
        </p:txBody>
      </p:sp>
      <p:sp>
        <p:nvSpPr>
          <p:cNvPr id="10" name="alternativa C1"/>
          <p:cNvSpPr/>
          <p:nvPr/>
        </p:nvSpPr>
        <p:spPr>
          <a:xfrm>
            <a:off x="2795778" y="1325880"/>
            <a:ext cx="2103120" cy="406908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1" name="código C1"/>
          <p:cNvSpPr/>
          <p:nvPr/>
        </p:nvSpPr>
        <p:spPr>
          <a:xfrm>
            <a:off x="2978658" y="1508760"/>
            <a:ext cx="731520" cy="731520"/>
          </a:xfrm>
          <a:prstGeom prst="ellipse">
            <a:avLst/>
          </a:prstGeom>
          <a:solidFill>
            <a:srgbClr val="C7DDCF"/>
          </a:solidFill>
          <a:ln w="12700">
            <a:solidFill>
              <a:srgbClr val="C7DDCF"/>
            </a:solidFill>
            <a:prstDash val="solid"/>
          </a:ln>
        </p:spPr>
      </p:sp>
      <p:sp>
        <p:nvSpPr>
          <p:cNvPr id="12" name="Text 10"/>
          <p:cNvSpPr txBox="1"/>
          <p:nvPr/>
        </p:nvSpPr>
        <p:spPr>
          <a:xfrm>
            <a:off x="2978658" y="1508760"/>
            <a:ext cx="731520" cy="731520"/>
          </a:xfrm>
          <a:prstGeom prst="rect">
            <a:avLst/>
          </a:prstGeom>
          <a:noFill/>
          <a:ln/>
        </p:spPr>
        <p:txBody>
          <a:bodyPr wrap="square" lIns="0" tIns="0" rIns="0" bIns="0" rtlCol="0" anchor="ctr"/>
          <a:lstStyle/>
          <a:p>
            <a:pPr algn="ctr" indent="0" marL="0">
              <a:buNone/>
            </a:pPr>
            <a:r>
              <a:rPr lang="en-US" sz="2200" b="1" dirty="0">
                <a:solidFill>
                  <a:srgbClr val="1F4D3A"/>
                </a:solidFill>
              </a:rPr>
              <a:t>C1</a:t>
            </a:r>
            <a:endParaRPr lang="en-US" sz="2200" dirty="0"/>
          </a:p>
        </p:txBody>
      </p:sp>
      <p:sp>
        <p:nvSpPr>
          <p:cNvPr id="13" name="Text 11"/>
          <p:cNvSpPr txBox="1"/>
          <p:nvPr/>
        </p:nvSpPr>
        <p:spPr>
          <a:xfrm>
            <a:off x="2978658" y="2331720"/>
            <a:ext cx="1737360" cy="548640"/>
          </a:xfrm>
          <a:prstGeom prst="rect">
            <a:avLst/>
          </a:prstGeom>
          <a:noFill/>
          <a:ln/>
        </p:spPr>
        <p:txBody>
          <a:bodyPr wrap="square" lIns="0" tIns="0" rIns="0" bIns="0" rtlCol="0" anchor="ctr"/>
          <a:lstStyle/>
          <a:p>
            <a:pPr indent="0" marL="0">
              <a:buNone/>
            </a:pPr>
            <a:r>
              <a:rPr lang="en-US" sz="1500" b="1" dirty="0">
                <a:solidFill>
                  <a:srgbClr val="1F4D3A"/>
                </a:solidFill>
              </a:rPr>
              <a:t>Planta de faena propia</a:t>
            </a:r>
            <a:endParaRPr lang="en-US" sz="1500" dirty="0"/>
          </a:p>
        </p:txBody>
      </p:sp>
      <p:sp>
        <p:nvSpPr>
          <p:cNvPr id="14" name="Text 12"/>
          <p:cNvSpPr txBox="1"/>
          <p:nvPr/>
        </p:nvSpPr>
        <p:spPr>
          <a:xfrm>
            <a:off x="2978658" y="2880360"/>
            <a:ext cx="1737360" cy="1051560"/>
          </a:xfrm>
          <a:prstGeom prst="rect">
            <a:avLst/>
          </a:prstGeom>
          <a:noFill/>
          <a:ln/>
        </p:spPr>
        <p:txBody>
          <a:bodyPr wrap="square" lIns="0" tIns="0" rIns="0" bIns="0" rtlCol="0" anchor="t"/>
          <a:lstStyle/>
          <a:p>
            <a:pPr indent="0" marL="0">
              <a:buNone/>
            </a:pPr>
            <a:r>
              <a:rPr lang="en-US" sz="1150" dirty="0">
                <a:solidFill>
                  <a:srgbClr val="1E2B24"/>
                </a:solidFill>
              </a:rPr>
              <a:t>Frigorífico propio; pollito y alimento comprados; granjas de productores integrados.</a:t>
            </a:r>
            <a:endParaRPr lang="en-US" sz="1150" dirty="0"/>
          </a:p>
        </p:txBody>
      </p:sp>
      <p:sp>
        <p:nvSpPr>
          <p:cNvPr id="15" name="Text 13"/>
          <p:cNvSpPr txBox="1"/>
          <p:nvPr/>
        </p:nvSpPr>
        <p:spPr>
          <a:xfrm>
            <a:off x="2978658" y="3977640"/>
            <a:ext cx="1737360" cy="1325880"/>
          </a:xfrm>
          <a:prstGeom prst="rect">
            <a:avLst/>
          </a:prstGeom>
          <a:noFill/>
          <a:ln/>
        </p:spPr>
        <p:txBody>
          <a:bodyPr wrap="square" lIns="0" tIns="0" rIns="0" bIns="0" rtlCol="0" anchor="t"/>
          <a:lstStyle/>
          <a:p>
            <a:pPr indent="0" marL="0">
              <a:spcAft>
                <a:spcPts val="200"/>
              </a:spcAft>
              <a:buNone/>
            </a:pPr>
            <a:r>
              <a:rPr lang="en-US" sz="1150" b="1" dirty="0">
                <a:solidFill>
                  <a:srgbClr val="5F6B66"/>
                </a:solidFill>
              </a:rPr>
              <a:t>Faena: </a:t>
            </a:r>
            <a:pPr indent="0" marL="0">
              <a:spcAft>
                <a:spcPts val="200"/>
              </a:spcAft>
              <a:buNone/>
            </a:pPr>
            <a:r>
              <a:rPr lang="en-US" sz="1150" dirty="0">
                <a:solidFill>
                  <a:srgbClr val="1E2B24"/>
                </a:solidFill>
              </a:rPr>
              <a:t>propia</a:t>
            </a:r>
            <a:endParaRPr lang="en-US" sz="1150" dirty="0"/>
          </a:p>
          <a:p>
            <a:pPr indent="0" marL="0">
              <a:spcAft>
                <a:spcPts val="200"/>
              </a:spcAft>
              <a:buNone/>
            </a:pPr>
            <a:r>
              <a:rPr lang="en-US" sz="1150" b="1" dirty="0">
                <a:solidFill>
                  <a:srgbClr val="5F6B66"/>
                </a:solidFill>
              </a:rPr>
              <a:t>Granjas: </a:t>
            </a:r>
            <a:pPr indent="0" marL="0">
              <a:spcAft>
                <a:spcPts val="200"/>
              </a:spcAft>
              <a:buNone/>
            </a:pPr>
            <a:r>
              <a:rPr lang="en-US" sz="1150" dirty="0">
                <a:solidFill>
                  <a:srgbClr val="1E2B24"/>
                </a:solidFill>
              </a:rPr>
              <a:t>integradas</a:t>
            </a:r>
            <a:endParaRPr lang="en-US" sz="1150" dirty="0"/>
          </a:p>
          <a:p>
            <a:pPr indent="0" marL="0">
              <a:spcAft>
                <a:spcPts val="200"/>
              </a:spcAft>
              <a:buNone/>
            </a:pPr>
            <a:r>
              <a:rPr lang="en-US" sz="1150" b="1" dirty="0">
                <a:solidFill>
                  <a:srgbClr val="5F6B66"/>
                </a:solidFill>
              </a:rPr>
              <a:t>Pollito: </a:t>
            </a:r>
            <a:pPr indent="0" marL="0">
              <a:spcAft>
                <a:spcPts val="200"/>
              </a:spcAft>
              <a:buNone/>
            </a:pPr>
            <a:r>
              <a:rPr lang="en-US" sz="1150" dirty="0">
                <a:solidFill>
                  <a:srgbClr val="1E2B24"/>
                </a:solidFill>
              </a:rPr>
              <a:t>comprado</a:t>
            </a:r>
            <a:endParaRPr lang="en-US" sz="1150" dirty="0"/>
          </a:p>
          <a:p>
            <a:pPr indent="0" marL="0">
              <a:spcAft>
                <a:spcPts val="200"/>
              </a:spcAft>
              <a:buNone/>
            </a:pPr>
            <a:r>
              <a:rPr lang="en-US" sz="1150" b="1" dirty="0">
                <a:solidFill>
                  <a:srgbClr val="5F6B66"/>
                </a:solidFill>
              </a:rPr>
              <a:t>Alimento: </a:t>
            </a:r>
            <a:pPr indent="0" marL="0">
              <a:spcAft>
                <a:spcPts val="200"/>
              </a:spcAft>
              <a:buNone/>
            </a:pPr>
            <a:r>
              <a:rPr lang="en-US" sz="1150" dirty="0">
                <a:solidFill>
                  <a:srgbClr val="1E2B24"/>
                </a:solidFill>
              </a:rPr>
              <a:t>comprado</a:t>
            </a:r>
            <a:endParaRPr lang="en-US" sz="1150" dirty="0"/>
          </a:p>
          <a:p>
            <a:pPr indent="0" marL="0">
              <a:spcAft>
                <a:spcPts val="200"/>
              </a:spcAft>
              <a:buNone/>
            </a:pPr>
            <a:r>
              <a:rPr lang="en-US" sz="1150" b="1" dirty="0">
                <a:solidFill>
                  <a:srgbClr val="5F6B66"/>
                </a:solidFill>
              </a:rPr>
              <a:t>Flota: </a:t>
            </a:r>
            <a:pPr indent="0" marL="0">
              <a:spcAft>
                <a:spcPts val="200"/>
              </a:spcAft>
              <a:buNone/>
            </a:pPr>
            <a:r>
              <a:rPr lang="en-US" sz="1150" dirty="0">
                <a:solidFill>
                  <a:srgbClr val="1E2B24"/>
                </a:solidFill>
              </a:rPr>
              <a:t>terceros</a:t>
            </a:r>
            <a:endParaRPr lang="en-US" sz="1150" dirty="0"/>
          </a:p>
        </p:txBody>
      </p:sp>
      <p:sp>
        <p:nvSpPr>
          <p:cNvPr id="16" name="alternativa C2"/>
          <p:cNvSpPr/>
          <p:nvPr/>
        </p:nvSpPr>
        <p:spPr>
          <a:xfrm>
            <a:off x="5042916" y="1325880"/>
            <a:ext cx="2103120" cy="406908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7" name="código C2"/>
          <p:cNvSpPr/>
          <p:nvPr/>
        </p:nvSpPr>
        <p:spPr>
          <a:xfrm>
            <a:off x="5225796" y="1508760"/>
            <a:ext cx="731520" cy="731520"/>
          </a:xfrm>
          <a:prstGeom prst="ellipse">
            <a:avLst/>
          </a:prstGeom>
          <a:solidFill>
            <a:srgbClr val="AFCDB9"/>
          </a:solidFill>
          <a:ln w="12700">
            <a:solidFill>
              <a:srgbClr val="AFCDB9"/>
            </a:solidFill>
            <a:prstDash val="solid"/>
          </a:ln>
        </p:spPr>
      </p:sp>
      <p:sp>
        <p:nvSpPr>
          <p:cNvPr id="18" name="Text 16"/>
          <p:cNvSpPr txBox="1"/>
          <p:nvPr/>
        </p:nvSpPr>
        <p:spPr>
          <a:xfrm>
            <a:off x="5225796" y="1508760"/>
            <a:ext cx="731520" cy="731520"/>
          </a:xfrm>
          <a:prstGeom prst="rect">
            <a:avLst/>
          </a:prstGeom>
          <a:noFill/>
          <a:ln/>
        </p:spPr>
        <p:txBody>
          <a:bodyPr wrap="square" lIns="0" tIns="0" rIns="0" bIns="0" rtlCol="0" anchor="ctr"/>
          <a:lstStyle/>
          <a:p>
            <a:pPr algn="ctr" indent="0" marL="0">
              <a:buNone/>
            </a:pPr>
            <a:r>
              <a:rPr lang="en-US" sz="2200" b="1" dirty="0">
                <a:solidFill>
                  <a:srgbClr val="1F4D3A"/>
                </a:solidFill>
              </a:rPr>
              <a:t>C2</a:t>
            </a:r>
            <a:endParaRPr lang="en-US" sz="2200" dirty="0"/>
          </a:p>
        </p:txBody>
      </p:sp>
      <p:sp>
        <p:nvSpPr>
          <p:cNvPr id="19" name="Text 17"/>
          <p:cNvSpPr txBox="1"/>
          <p:nvPr/>
        </p:nvSpPr>
        <p:spPr>
          <a:xfrm>
            <a:off x="5225796" y="2331720"/>
            <a:ext cx="1737360" cy="548640"/>
          </a:xfrm>
          <a:prstGeom prst="rect">
            <a:avLst/>
          </a:prstGeom>
          <a:noFill/>
          <a:ln/>
        </p:spPr>
        <p:txBody>
          <a:bodyPr wrap="square" lIns="0" tIns="0" rIns="0" bIns="0" rtlCol="0" anchor="ctr"/>
          <a:lstStyle/>
          <a:p>
            <a:pPr indent="0" marL="0">
              <a:buNone/>
            </a:pPr>
            <a:r>
              <a:rPr lang="en-US" sz="1500" b="1" dirty="0">
                <a:solidFill>
                  <a:srgbClr val="1F4D3A"/>
                </a:solidFill>
              </a:rPr>
              <a:t>Integración selectiva</a:t>
            </a:r>
            <a:endParaRPr lang="en-US" sz="1500" dirty="0"/>
          </a:p>
        </p:txBody>
      </p:sp>
      <p:sp>
        <p:nvSpPr>
          <p:cNvPr id="20" name="Text 18"/>
          <p:cNvSpPr txBox="1"/>
          <p:nvPr/>
        </p:nvSpPr>
        <p:spPr>
          <a:xfrm>
            <a:off x="5225796" y="2880360"/>
            <a:ext cx="1737360" cy="1051560"/>
          </a:xfrm>
          <a:prstGeom prst="rect">
            <a:avLst/>
          </a:prstGeom>
          <a:noFill/>
          <a:ln/>
        </p:spPr>
        <p:txBody>
          <a:bodyPr wrap="square" lIns="0" tIns="0" rIns="0" bIns="0" rtlCol="0" anchor="t"/>
          <a:lstStyle/>
          <a:p>
            <a:pPr indent="0" marL="0">
              <a:buNone/>
            </a:pPr>
            <a:r>
              <a:rPr lang="en-US" sz="1150" dirty="0">
                <a:solidFill>
                  <a:srgbClr val="1E2B24"/>
                </a:solidFill>
              </a:rPr>
              <a:t>Frigorífico propio y una parte de las granjas propias (25 % en el caso de referencia).</a:t>
            </a:r>
            <a:endParaRPr lang="en-US" sz="1150" dirty="0"/>
          </a:p>
        </p:txBody>
      </p:sp>
      <p:sp>
        <p:nvSpPr>
          <p:cNvPr id="21" name="Text 19"/>
          <p:cNvSpPr txBox="1"/>
          <p:nvPr/>
        </p:nvSpPr>
        <p:spPr>
          <a:xfrm>
            <a:off x="5225796" y="3977640"/>
            <a:ext cx="1737360" cy="1325880"/>
          </a:xfrm>
          <a:prstGeom prst="rect">
            <a:avLst/>
          </a:prstGeom>
          <a:noFill/>
          <a:ln/>
        </p:spPr>
        <p:txBody>
          <a:bodyPr wrap="square" lIns="0" tIns="0" rIns="0" bIns="0" rtlCol="0" anchor="t"/>
          <a:lstStyle/>
          <a:p>
            <a:pPr indent="0" marL="0">
              <a:spcAft>
                <a:spcPts val="200"/>
              </a:spcAft>
              <a:buNone/>
            </a:pPr>
            <a:r>
              <a:rPr lang="en-US" sz="1150" b="1" dirty="0">
                <a:solidFill>
                  <a:srgbClr val="5F6B66"/>
                </a:solidFill>
              </a:rPr>
              <a:t>Faena: </a:t>
            </a:r>
            <a:pPr indent="0" marL="0">
              <a:spcAft>
                <a:spcPts val="200"/>
              </a:spcAft>
              <a:buNone/>
            </a:pPr>
            <a:r>
              <a:rPr lang="en-US" sz="1150" dirty="0">
                <a:solidFill>
                  <a:srgbClr val="1E2B24"/>
                </a:solidFill>
              </a:rPr>
              <a:t>propia</a:t>
            </a:r>
            <a:endParaRPr lang="en-US" sz="1150" dirty="0"/>
          </a:p>
          <a:p>
            <a:pPr indent="0" marL="0">
              <a:spcAft>
                <a:spcPts val="200"/>
              </a:spcAft>
              <a:buNone/>
            </a:pPr>
            <a:r>
              <a:rPr lang="en-US" sz="1150" b="1" dirty="0">
                <a:solidFill>
                  <a:srgbClr val="5F6B66"/>
                </a:solidFill>
              </a:rPr>
              <a:t>Granjas: </a:t>
            </a:r>
            <a:pPr indent="0" marL="0">
              <a:spcAft>
                <a:spcPts val="200"/>
              </a:spcAft>
              <a:buNone/>
            </a:pPr>
            <a:r>
              <a:rPr lang="en-US" sz="1150" dirty="0">
                <a:solidFill>
                  <a:srgbClr val="1E2B24"/>
                </a:solidFill>
              </a:rPr>
              <a:t>mixtas</a:t>
            </a:r>
            <a:endParaRPr lang="en-US" sz="1150" dirty="0"/>
          </a:p>
          <a:p>
            <a:pPr indent="0" marL="0">
              <a:spcAft>
                <a:spcPts val="200"/>
              </a:spcAft>
              <a:buNone/>
            </a:pPr>
            <a:r>
              <a:rPr lang="en-US" sz="1150" b="1" dirty="0">
                <a:solidFill>
                  <a:srgbClr val="5F6B66"/>
                </a:solidFill>
              </a:rPr>
              <a:t>Pollito: </a:t>
            </a:r>
            <a:pPr indent="0" marL="0">
              <a:spcAft>
                <a:spcPts val="200"/>
              </a:spcAft>
              <a:buNone/>
            </a:pPr>
            <a:r>
              <a:rPr lang="en-US" sz="1150" dirty="0">
                <a:solidFill>
                  <a:srgbClr val="1E2B24"/>
                </a:solidFill>
              </a:rPr>
              <a:t>comprado</a:t>
            </a:r>
            <a:endParaRPr lang="en-US" sz="1150" dirty="0"/>
          </a:p>
          <a:p>
            <a:pPr indent="0" marL="0">
              <a:spcAft>
                <a:spcPts val="200"/>
              </a:spcAft>
              <a:buNone/>
            </a:pPr>
            <a:r>
              <a:rPr lang="en-US" sz="1150" b="1" dirty="0">
                <a:solidFill>
                  <a:srgbClr val="5F6B66"/>
                </a:solidFill>
              </a:rPr>
              <a:t>Alimento: </a:t>
            </a:r>
            <a:pPr indent="0" marL="0">
              <a:spcAft>
                <a:spcPts val="200"/>
              </a:spcAft>
              <a:buNone/>
            </a:pPr>
            <a:r>
              <a:rPr lang="en-US" sz="1150" dirty="0">
                <a:solidFill>
                  <a:srgbClr val="1E2B24"/>
                </a:solidFill>
              </a:rPr>
              <a:t>a façon</a:t>
            </a:r>
            <a:endParaRPr lang="en-US" sz="1150" dirty="0"/>
          </a:p>
          <a:p>
            <a:pPr indent="0" marL="0">
              <a:spcAft>
                <a:spcPts val="200"/>
              </a:spcAft>
              <a:buNone/>
            </a:pPr>
            <a:r>
              <a:rPr lang="en-US" sz="1150" b="1" dirty="0">
                <a:solidFill>
                  <a:srgbClr val="5F6B66"/>
                </a:solidFill>
              </a:rPr>
              <a:t>Flota: </a:t>
            </a:r>
            <a:pPr indent="0" marL="0">
              <a:spcAft>
                <a:spcPts val="200"/>
              </a:spcAft>
              <a:buNone/>
            </a:pPr>
            <a:r>
              <a:rPr lang="en-US" sz="1150" dirty="0">
                <a:solidFill>
                  <a:srgbClr val="1E2B24"/>
                </a:solidFill>
              </a:rPr>
              <a:t>mixta</a:t>
            </a:r>
            <a:endParaRPr lang="en-US" sz="1150" dirty="0"/>
          </a:p>
        </p:txBody>
      </p:sp>
      <p:sp>
        <p:nvSpPr>
          <p:cNvPr id="22" name="alternativa C3"/>
          <p:cNvSpPr/>
          <p:nvPr/>
        </p:nvSpPr>
        <p:spPr>
          <a:xfrm>
            <a:off x="7290054" y="1325880"/>
            <a:ext cx="2103120" cy="406908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3" name="código C3"/>
          <p:cNvSpPr/>
          <p:nvPr/>
        </p:nvSpPr>
        <p:spPr>
          <a:xfrm>
            <a:off x="7472934" y="1508760"/>
            <a:ext cx="731520" cy="731520"/>
          </a:xfrm>
          <a:prstGeom prst="ellipse">
            <a:avLst/>
          </a:prstGeom>
          <a:solidFill>
            <a:srgbClr val="8DB89C"/>
          </a:solidFill>
          <a:ln w="12700">
            <a:solidFill>
              <a:srgbClr val="8DB89C"/>
            </a:solidFill>
            <a:prstDash val="solid"/>
          </a:ln>
        </p:spPr>
      </p:sp>
      <p:sp>
        <p:nvSpPr>
          <p:cNvPr id="24" name="Text 22"/>
          <p:cNvSpPr txBox="1"/>
          <p:nvPr/>
        </p:nvSpPr>
        <p:spPr>
          <a:xfrm>
            <a:off x="7472934" y="1508760"/>
            <a:ext cx="731520" cy="731520"/>
          </a:xfrm>
          <a:prstGeom prst="rect">
            <a:avLst/>
          </a:prstGeom>
          <a:noFill/>
          <a:ln/>
        </p:spPr>
        <p:txBody>
          <a:bodyPr wrap="square" lIns="0" tIns="0" rIns="0" bIns="0" rtlCol="0" anchor="ctr"/>
          <a:lstStyle/>
          <a:p>
            <a:pPr algn="ctr" indent="0" marL="0">
              <a:buNone/>
            </a:pPr>
            <a:r>
              <a:rPr lang="en-US" sz="2200" b="1" dirty="0">
                <a:solidFill>
                  <a:srgbClr val="1F4D3A"/>
                </a:solidFill>
              </a:rPr>
              <a:t>C3</a:t>
            </a:r>
            <a:endParaRPr lang="en-US" sz="2200" dirty="0"/>
          </a:p>
        </p:txBody>
      </p:sp>
      <p:sp>
        <p:nvSpPr>
          <p:cNvPr id="25" name="Text 23"/>
          <p:cNvSpPr txBox="1"/>
          <p:nvPr/>
        </p:nvSpPr>
        <p:spPr>
          <a:xfrm>
            <a:off x="7472934" y="2331720"/>
            <a:ext cx="1737360" cy="548640"/>
          </a:xfrm>
          <a:prstGeom prst="rect">
            <a:avLst/>
          </a:prstGeom>
          <a:noFill/>
          <a:ln/>
        </p:spPr>
        <p:txBody>
          <a:bodyPr wrap="square" lIns="0" tIns="0" rIns="0" bIns="0" rtlCol="0" anchor="ctr"/>
          <a:lstStyle/>
          <a:p>
            <a:pPr indent="0" marL="0">
              <a:buNone/>
            </a:pPr>
            <a:r>
              <a:rPr lang="en-US" sz="1500" b="1" dirty="0">
                <a:solidFill>
                  <a:srgbClr val="1F4D3A"/>
                </a:solidFill>
              </a:rPr>
              <a:t>Mayor integración</a:t>
            </a:r>
            <a:endParaRPr lang="en-US" sz="1500" dirty="0"/>
          </a:p>
        </p:txBody>
      </p:sp>
      <p:sp>
        <p:nvSpPr>
          <p:cNvPr id="26" name="Text 24"/>
          <p:cNvSpPr txBox="1"/>
          <p:nvPr/>
        </p:nvSpPr>
        <p:spPr>
          <a:xfrm>
            <a:off x="7472934" y="2880360"/>
            <a:ext cx="1737360" cy="1051560"/>
          </a:xfrm>
          <a:prstGeom prst="rect">
            <a:avLst/>
          </a:prstGeom>
          <a:noFill/>
          <a:ln/>
        </p:spPr>
        <p:txBody>
          <a:bodyPr wrap="square" lIns="0" tIns="0" rIns="0" bIns="0" rtlCol="0" anchor="t"/>
          <a:lstStyle/>
          <a:p>
            <a:pPr indent="0" marL="0">
              <a:buNone/>
            </a:pPr>
            <a:r>
              <a:rPr lang="en-US" sz="1150" dirty="0">
                <a:solidFill>
                  <a:srgbClr val="1E2B24"/>
                </a:solidFill>
              </a:rPr>
              <a:t>Frigorífico, granjas, incubadora y planta de alimento propios.</a:t>
            </a:r>
            <a:endParaRPr lang="en-US" sz="1150" dirty="0"/>
          </a:p>
        </p:txBody>
      </p:sp>
      <p:sp>
        <p:nvSpPr>
          <p:cNvPr id="27" name="Text 25"/>
          <p:cNvSpPr txBox="1"/>
          <p:nvPr/>
        </p:nvSpPr>
        <p:spPr>
          <a:xfrm>
            <a:off x="7472934" y="3977640"/>
            <a:ext cx="1737360" cy="1325880"/>
          </a:xfrm>
          <a:prstGeom prst="rect">
            <a:avLst/>
          </a:prstGeom>
          <a:noFill/>
          <a:ln/>
        </p:spPr>
        <p:txBody>
          <a:bodyPr wrap="square" lIns="0" tIns="0" rIns="0" bIns="0" rtlCol="0" anchor="t"/>
          <a:lstStyle/>
          <a:p>
            <a:pPr indent="0" marL="0">
              <a:spcAft>
                <a:spcPts val="200"/>
              </a:spcAft>
              <a:buNone/>
            </a:pPr>
            <a:r>
              <a:rPr lang="en-US" sz="1150" b="1" dirty="0">
                <a:solidFill>
                  <a:srgbClr val="5F6B66"/>
                </a:solidFill>
              </a:rPr>
              <a:t>Faena: </a:t>
            </a:r>
            <a:pPr indent="0" marL="0">
              <a:spcAft>
                <a:spcPts val="200"/>
              </a:spcAft>
              <a:buNone/>
            </a:pPr>
            <a:r>
              <a:rPr lang="en-US" sz="1150" dirty="0">
                <a:solidFill>
                  <a:srgbClr val="1E2B24"/>
                </a:solidFill>
              </a:rPr>
              <a:t>propia</a:t>
            </a:r>
            <a:endParaRPr lang="en-US" sz="1150" dirty="0"/>
          </a:p>
          <a:p>
            <a:pPr indent="0" marL="0">
              <a:spcAft>
                <a:spcPts val="200"/>
              </a:spcAft>
              <a:buNone/>
            </a:pPr>
            <a:r>
              <a:rPr lang="en-US" sz="1150" b="1" dirty="0">
                <a:solidFill>
                  <a:srgbClr val="5F6B66"/>
                </a:solidFill>
              </a:rPr>
              <a:t>Granjas: </a:t>
            </a:r>
            <a:pPr indent="0" marL="0">
              <a:spcAft>
                <a:spcPts val="200"/>
              </a:spcAft>
              <a:buNone/>
            </a:pPr>
            <a:r>
              <a:rPr lang="en-US" sz="1150" dirty="0">
                <a:solidFill>
                  <a:srgbClr val="1E2B24"/>
                </a:solidFill>
              </a:rPr>
              <a:t>propias</a:t>
            </a:r>
            <a:endParaRPr lang="en-US" sz="1150" dirty="0"/>
          </a:p>
          <a:p>
            <a:pPr indent="0" marL="0">
              <a:spcAft>
                <a:spcPts val="200"/>
              </a:spcAft>
              <a:buNone/>
            </a:pPr>
            <a:r>
              <a:rPr lang="en-US" sz="1150" b="1" dirty="0">
                <a:solidFill>
                  <a:srgbClr val="5F6B66"/>
                </a:solidFill>
              </a:rPr>
              <a:t>Pollito: </a:t>
            </a:r>
            <a:pPr indent="0" marL="0">
              <a:spcAft>
                <a:spcPts val="200"/>
              </a:spcAft>
              <a:buNone/>
            </a:pPr>
            <a:r>
              <a:rPr lang="en-US" sz="1150" dirty="0">
                <a:solidFill>
                  <a:srgbClr val="1E2B24"/>
                </a:solidFill>
              </a:rPr>
              <a:t>incubadora propia</a:t>
            </a:r>
            <a:endParaRPr lang="en-US" sz="1150" dirty="0"/>
          </a:p>
          <a:p>
            <a:pPr indent="0" marL="0">
              <a:spcAft>
                <a:spcPts val="200"/>
              </a:spcAft>
              <a:buNone/>
            </a:pPr>
            <a:r>
              <a:rPr lang="en-US" sz="1150" b="1" dirty="0">
                <a:solidFill>
                  <a:srgbClr val="5F6B66"/>
                </a:solidFill>
              </a:rPr>
              <a:t>Alimento: </a:t>
            </a:r>
            <a:pPr indent="0" marL="0">
              <a:spcAft>
                <a:spcPts val="200"/>
              </a:spcAft>
              <a:buNone/>
            </a:pPr>
            <a:r>
              <a:rPr lang="en-US" sz="1150" dirty="0">
                <a:solidFill>
                  <a:srgbClr val="1E2B24"/>
                </a:solidFill>
              </a:rPr>
              <a:t>planta propia</a:t>
            </a:r>
            <a:endParaRPr lang="en-US" sz="1150" dirty="0"/>
          </a:p>
          <a:p>
            <a:pPr indent="0" marL="0">
              <a:spcAft>
                <a:spcPts val="200"/>
              </a:spcAft>
              <a:buNone/>
            </a:pPr>
            <a:r>
              <a:rPr lang="en-US" sz="1150" b="1" dirty="0">
                <a:solidFill>
                  <a:srgbClr val="5F6B66"/>
                </a:solidFill>
              </a:rPr>
              <a:t>Flota: </a:t>
            </a:r>
            <a:pPr indent="0" marL="0">
              <a:spcAft>
                <a:spcPts val="200"/>
              </a:spcAft>
              <a:buNone/>
            </a:pPr>
            <a:r>
              <a:rPr lang="en-US" sz="1150" dirty="0">
                <a:solidFill>
                  <a:srgbClr val="1E2B24"/>
                </a:solidFill>
              </a:rPr>
              <a:t>propia</a:t>
            </a:r>
            <a:endParaRPr lang="en-US" sz="1150" dirty="0"/>
          </a:p>
        </p:txBody>
      </p:sp>
      <p:sp>
        <p:nvSpPr>
          <p:cNvPr id="28" name="alternativa CF"/>
          <p:cNvSpPr/>
          <p:nvPr/>
        </p:nvSpPr>
        <p:spPr>
          <a:xfrm>
            <a:off x="9537192" y="1325880"/>
            <a:ext cx="2103120" cy="406908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9" name="código CF"/>
          <p:cNvSpPr/>
          <p:nvPr/>
        </p:nvSpPr>
        <p:spPr>
          <a:xfrm>
            <a:off x="9720072" y="1508760"/>
            <a:ext cx="731520" cy="731520"/>
          </a:xfrm>
          <a:prstGeom prst="ellipse">
            <a:avLst/>
          </a:prstGeom>
          <a:solidFill>
            <a:srgbClr val="6E9F80"/>
          </a:solidFill>
          <a:ln w="12700">
            <a:solidFill>
              <a:srgbClr val="6E9F80"/>
            </a:solidFill>
            <a:prstDash val="solid"/>
          </a:ln>
        </p:spPr>
      </p:sp>
      <p:sp>
        <p:nvSpPr>
          <p:cNvPr id="30" name="Text 28"/>
          <p:cNvSpPr txBox="1"/>
          <p:nvPr/>
        </p:nvSpPr>
        <p:spPr>
          <a:xfrm>
            <a:off x="9720072" y="1508760"/>
            <a:ext cx="731520" cy="731520"/>
          </a:xfrm>
          <a:prstGeom prst="rect">
            <a:avLst/>
          </a:prstGeom>
          <a:noFill/>
          <a:ln/>
        </p:spPr>
        <p:txBody>
          <a:bodyPr wrap="square" lIns="0" tIns="0" rIns="0" bIns="0" rtlCol="0" anchor="ctr"/>
          <a:lstStyle/>
          <a:p>
            <a:pPr algn="ctr" indent="0" marL="0">
              <a:buNone/>
            </a:pPr>
            <a:r>
              <a:rPr lang="en-US" sz="2200" b="1" dirty="0">
                <a:solidFill>
                  <a:srgbClr val="1F4D3A"/>
                </a:solidFill>
              </a:rPr>
              <a:t>CF</a:t>
            </a:r>
            <a:endParaRPr lang="en-US" sz="2200" dirty="0"/>
          </a:p>
        </p:txBody>
      </p:sp>
      <p:sp>
        <p:nvSpPr>
          <p:cNvPr id="31" name="Text 29"/>
          <p:cNvSpPr txBox="1"/>
          <p:nvPr/>
        </p:nvSpPr>
        <p:spPr>
          <a:xfrm>
            <a:off x="9720072" y="2331720"/>
            <a:ext cx="1737360" cy="548640"/>
          </a:xfrm>
          <a:prstGeom prst="rect">
            <a:avLst/>
          </a:prstGeom>
          <a:noFill/>
          <a:ln/>
        </p:spPr>
        <p:txBody>
          <a:bodyPr wrap="square" lIns="0" tIns="0" rIns="0" bIns="0" rtlCol="0" anchor="ctr"/>
          <a:lstStyle/>
          <a:p>
            <a:pPr indent="0" marL="0">
              <a:buNone/>
            </a:pPr>
            <a:r>
              <a:rPr lang="en-US" sz="1500" b="1" dirty="0">
                <a:solidFill>
                  <a:srgbClr val="1F4D3A"/>
                </a:solidFill>
              </a:rPr>
              <a:t>Arquitectura futura</a:t>
            </a:r>
            <a:endParaRPr lang="en-US" sz="1500" dirty="0"/>
          </a:p>
        </p:txBody>
      </p:sp>
      <p:sp>
        <p:nvSpPr>
          <p:cNvPr id="32" name="Text 30"/>
          <p:cNvSpPr txBox="1"/>
          <p:nvPr/>
        </p:nvSpPr>
        <p:spPr>
          <a:xfrm>
            <a:off x="9720072" y="2880360"/>
            <a:ext cx="1737360" cy="1051560"/>
          </a:xfrm>
          <a:prstGeom prst="rect">
            <a:avLst/>
          </a:prstGeom>
          <a:noFill/>
          <a:ln/>
        </p:spPr>
        <p:txBody>
          <a:bodyPr wrap="square" lIns="0" tIns="0" rIns="0" bIns="0" rtlCol="0" anchor="t"/>
          <a:lstStyle/>
          <a:p>
            <a:pPr indent="0" marL="0">
              <a:buNone/>
            </a:pPr>
            <a:r>
              <a:rPr lang="en-US" sz="1150" dirty="0">
                <a:solidFill>
                  <a:srgbClr val="1E2B24"/>
                </a:solidFill>
              </a:rPr>
              <a:t>Como C3, más reproductoras y rendering propios. Es una etapa posterior.</a:t>
            </a:r>
            <a:endParaRPr lang="en-US" sz="1150" dirty="0"/>
          </a:p>
        </p:txBody>
      </p:sp>
      <p:sp>
        <p:nvSpPr>
          <p:cNvPr id="33" name="Text 31"/>
          <p:cNvSpPr txBox="1"/>
          <p:nvPr/>
        </p:nvSpPr>
        <p:spPr>
          <a:xfrm>
            <a:off x="9720072" y="3977640"/>
            <a:ext cx="1737360" cy="1325880"/>
          </a:xfrm>
          <a:prstGeom prst="rect">
            <a:avLst/>
          </a:prstGeom>
          <a:noFill/>
          <a:ln/>
        </p:spPr>
        <p:txBody>
          <a:bodyPr wrap="square" lIns="0" tIns="0" rIns="0" bIns="0" rtlCol="0" anchor="t"/>
          <a:lstStyle/>
          <a:p>
            <a:pPr indent="0" marL="0">
              <a:spcAft>
                <a:spcPts val="200"/>
              </a:spcAft>
              <a:buNone/>
            </a:pPr>
            <a:r>
              <a:rPr lang="en-US" sz="1150" b="1" dirty="0">
                <a:solidFill>
                  <a:srgbClr val="5F6B66"/>
                </a:solidFill>
              </a:rPr>
              <a:t>Todo lo de C3</a:t>
            </a:r>
            <a:endParaRPr lang="en-US" sz="1150" dirty="0"/>
          </a:p>
          <a:p>
            <a:pPr indent="0" marL="0">
              <a:spcAft>
                <a:spcPts val="200"/>
              </a:spcAft>
              <a:buNone/>
            </a:pPr>
            <a:r>
              <a:rPr lang="en-US" sz="1150" b="1" dirty="0">
                <a:solidFill>
                  <a:srgbClr val="5F6B66"/>
                </a:solidFill>
              </a:rPr>
              <a:t>Reproductoras: </a:t>
            </a:r>
            <a:pPr indent="0" marL="0">
              <a:spcAft>
                <a:spcPts val="200"/>
              </a:spcAft>
              <a:buNone/>
            </a:pPr>
            <a:r>
              <a:rPr lang="en-US" sz="1150" dirty="0">
                <a:solidFill>
                  <a:srgbClr val="1E2B24"/>
                </a:solidFill>
              </a:rPr>
              <a:t>futuro</a:t>
            </a:r>
            <a:endParaRPr lang="en-US" sz="1150" dirty="0"/>
          </a:p>
          <a:p>
            <a:pPr indent="0" marL="0">
              <a:spcAft>
                <a:spcPts val="200"/>
              </a:spcAft>
              <a:buNone/>
            </a:pPr>
            <a:r>
              <a:rPr lang="en-US" sz="1150" b="1" dirty="0">
                <a:solidFill>
                  <a:srgbClr val="5F6B66"/>
                </a:solidFill>
              </a:rPr>
              <a:t>Rendering: </a:t>
            </a:r>
            <a:pPr indent="0" marL="0">
              <a:spcAft>
                <a:spcPts val="200"/>
              </a:spcAft>
              <a:buNone/>
            </a:pPr>
            <a:r>
              <a:rPr lang="en-US" sz="1150" dirty="0">
                <a:solidFill>
                  <a:srgbClr val="1E2B24"/>
                </a:solidFill>
              </a:rPr>
              <a:t>futuro</a:t>
            </a:r>
            <a:endParaRPr lang="en-US" sz="1150" dirty="0"/>
          </a:p>
        </p:txBody>
      </p:sp>
      <p:sp>
        <p:nvSpPr>
          <p:cNvPr id="34" name="Shape 32"/>
          <p:cNvSpPr/>
          <p:nvPr/>
        </p:nvSpPr>
        <p:spPr>
          <a:xfrm>
            <a:off x="1097280" y="5669280"/>
            <a:ext cx="9994392" cy="91"/>
          </a:xfrm>
          <a:prstGeom prst="line">
            <a:avLst/>
          </a:prstGeom>
          <a:noFill/>
          <a:ln w="15875">
            <a:solidFill>
              <a:srgbClr val="5F6B66"/>
            </a:solidFill>
            <a:prstDash val="solid"/>
          </a:ln>
        </p:spPr>
      </p:sp>
      <p:sp>
        <p:nvSpPr>
          <p:cNvPr id="35" name="Shape 33"/>
          <p:cNvSpPr/>
          <p:nvPr/>
        </p:nvSpPr>
        <p:spPr>
          <a:xfrm flipH="1">
            <a:off x="685800" y="5669280"/>
            <a:ext cx="1600200" cy="91"/>
          </a:xfrm>
          <a:prstGeom prst="line">
            <a:avLst/>
          </a:prstGeom>
          <a:noFill/>
          <a:ln w="15875">
            <a:solidFill>
              <a:srgbClr val="5F6B66"/>
            </a:solidFill>
            <a:prstDash val="solid"/>
            <a:tailEnd type="triangle"/>
          </a:ln>
        </p:spPr>
      </p:sp>
      <p:sp>
        <p:nvSpPr>
          <p:cNvPr id="36" name="Shape 34"/>
          <p:cNvSpPr/>
          <p:nvPr/>
        </p:nvSpPr>
        <p:spPr>
          <a:xfrm>
            <a:off x="9875520" y="5669280"/>
            <a:ext cx="1645920" cy="91"/>
          </a:xfrm>
          <a:prstGeom prst="line">
            <a:avLst/>
          </a:prstGeom>
          <a:noFill/>
          <a:ln w="15875">
            <a:solidFill>
              <a:srgbClr val="5F6B66"/>
            </a:solidFill>
            <a:prstDash val="solid"/>
            <a:tailEnd type="triangle"/>
          </a:ln>
        </p:spPr>
      </p:sp>
      <p:sp>
        <p:nvSpPr>
          <p:cNvPr id="37" name="Text 35"/>
          <p:cNvSpPr txBox="1"/>
          <p:nvPr/>
        </p:nvSpPr>
        <p:spPr>
          <a:xfrm>
            <a:off x="548640" y="5779008"/>
            <a:ext cx="5029200" cy="274320"/>
          </a:xfrm>
          <a:prstGeom prst="rect">
            <a:avLst/>
          </a:prstGeom>
          <a:noFill/>
          <a:ln/>
        </p:spPr>
        <p:txBody>
          <a:bodyPr wrap="square" lIns="0" tIns="0" rIns="0" bIns="0" rtlCol="0" anchor="t"/>
          <a:lstStyle/>
          <a:p>
            <a:pPr indent="0" marL="0">
              <a:buNone/>
            </a:pPr>
            <a:r>
              <a:rPr lang="en-US" sz="1200" dirty="0">
                <a:solidFill>
                  <a:srgbClr val="5F6B66"/>
                </a:solidFill>
              </a:rPr>
              <a:t>menos inversión propia, más dependencia de terceros</a:t>
            </a:r>
            <a:endParaRPr lang="en-US" sz="1200" dirty="0"/>
          </a:p>
        </p:txBody>
      </p:sp>
      <p:sp>
        <p:nvSpPr>
          <p:cNvPr id="38" name="Text 36"/>
          <p:cNvSpPr txBox="1"/>
          <p:nvPr/>
        </p:nvSpPr>
        <p:spPr>
          <a:xfrm>
            <a:off x="6611112" y="5779008"/>
            <a:ext cx="5029200" cy="274320"/>
          </a:xfrm>
          <a:prstGeom prst="rect">
            <a:avLst/>
          </a:prstGeom>
          <a:noFill/>
          <a:ln/>
        </p:spPr>
        <p:txBody>
          <a:bodyPr wrap="square" lIns="0" tIns="0" rIns="0" bIns="0" rtlCol="0" anchor="t"/>
          <a:lstStyle/>
          <a:p>
            <a:pPr algn="r" indent="0" marL="0">
              <a:buNone/>
            </a:pPr>
            <a:r>
              <a:rPr lang="en-US" sz="1200" dirty="0">
                <a:solidFill>
                  <a:srgbClr val="5F6B66"/>
                </a:solidFill>
              </a:rPr>
              <a:t>más inversión propia, más control y complejidad</a:t>
            </a:r>
            <a:endParaRPr lang="en-US" sz="1200" dirty="0"/>
          </a:p>
        </p:txBody>
      </p:sp>
      <p:sp>
        <p:nvSpPr>
          <p:cNvPr id="39" name="Text 37"/>
          <p:cNvSpPr txBox="1"/>
          <p:nvPr/>
        </p:nvSpPr>
        <p:spPr>
          <a:xfrm>
            <a:off x="548640" y="6053328"/>
            <a:ext cx="11091672" cy="292608"/>
          </a:xfrm>
          <a:prstGeom prst="rect">
            <a:avLst/>
          </a:prstGeom>
          <a:noFill/>
          <a:ln/>
        </p:spPr>
        <p:txBody>
          <a:bodyPr wrap="square" lIns="0" tIns="0" rIns="0" bIns="0" rtlCol="0" anchor="t"/>
          <a:lstStyle/>
          <a:p>
            <a:pPr algn="ctr" indent="0" marL="0">
              <a:buNone/>
            </a:pPr>
            <a:r>
              <a:rPr lang="en-US" sz="1300" b="1" dirty="0">
                <a:solidFill>
                  <a:srgbClr val="C8641E"/>
                </a:solidFill>
              </a:rPr>
              <a:t>Ninguna está elegida · hoy ninguna es costeable: faltan precios y cotizaciones</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Cuatro escalas de referencia</a:t>
            </a:r>
            <a:endParaRPr lang="en-US" sz="3200" dirty="0"/>
          </a:p>
        </p:txBody>
      </p:sp>
      <p:sp>
        <p:nvSpPr>
          <p:cNvPr id="3" name="etiqueta ESTIMACIÓN"/>
          <p:cNvSpPr txBox="1"/>
          <p:nvPr/>
        </p:nvSpPr>
        <p:spPr>
          <a:xfrm>
            <a:off x="10390327" y="603504"/>
            <a:ext cx="1252728" cy="274320"/>
          </a:xfrm>
          <a:prstGeom prst="roundRect">
            <a:avLst>
              <a:gd name="adj" fmla="val 50000"/>
            </a:avLst>
          </a:prstGeom>
          <a:solidFill>
            <a:srgbClr val="2F6690"/>
          </a:solidFill>
          <a:ln/>
        </p:spPr>
        <p:txBody>
          <a:bodyPr wrap="square" lIns="0" tIns="0" rIns="0" bIns="0" rtlCol="0" anchor="ctr"/>
          <a:lstStyle/>
          <a:p>
            <a:pPr algn="ctr" indent="0" marL="0">
              <a:buNone/>
            </a:pPr>
            <a:r>
              <a:rPr lang="en-US" sz="1050" b="1" spc="100" kern="0" dirty="0">
                <a:solidFill>
                  <a:srgbClr val="FFFFFF"/>
                </a:solidFill>
              </a:rPr>
              <a:t>ESTIMACIÓN</a:t>
            </a:r>
            <a:endParaRPr lang="en-US" sz="1050" dirty="0"/>
          </a:p>
        </p:txBody>
      </p:sp>
      <p:sp>
        <p:nvSpPr>
          <p:cNvPr id="4" name="escala 2.500"/>
          <p:cNvSpPr/>
          <p:nvPr/>
        </p:nvSpPr>
        <p:spPr>
          <a:xfrm>
            <a:off x="548640" y="1325880"/>
            <a:ext cx="2615184" cy="3566160"/>
          </a:xfrm>
          <a:prstGeom prst="roundRect">
            <a:avLst>
              <a:gd name="adj" fmla="val 2797"/>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777240" y="1417320"/>
            <a:ext cx="2157984" cy="685800"/>
          </a:xfrm>
          <a:prstGeom prst="rect">
            <a:avLst/>
          </a:prstGeom>
          <a:noFill/>
          <a:ln/>
        </p:spPr>
        <p:txBody>
          <a:bodyPr wrap="square" lIns="0" tIns="0" rIns="0" bIns="0" rtlCol="0" anchor="t"/>
          <a:lstStyle/>
          <a:p>
            <a:pPr indent="0" marL="0">
              <a:buNone/>
            </a:pPr>
            <a:r>
              <a:rPr lang="en-US" sz="3600" b="1" dirty="0">
                <a:solidFill>
                  <a:srgbClr val="1F4D3A"/>
                </a:solidFill>
              </a:rPr>
              <a:t>2.500</a:t>
            </a:r>
            <a:endParaRPr lang="en-US" sz="3600" dirty="0"/>
          </a:p>
        </p:txBody>
      </p:sp>
      <p:sp>
        <p:nvSpPr>
          <p:cNvPr id="6" name="Text 4"/>
          <p:cNvSpPr txBox="1"/>
          <p:nvPr/>
        </p:nvSpPr>
        <p:spPr>
          <a:xfrm>
            <a:off x="777240" y="2075688"/>
            <a:ext cx="2157984" cy="274320"/>
          </a:xfrm>
          <a:prstGeom prst="rect">
            <a:avLst/>
          </a:prstGeom>
          <a:noFill/>
          <a:ln/>
        </p:spPr>
        <p:txBody>
          <a:bodyPr wrap="square" lIns="0" tIns="0" rIns="0" bIns="0" rtlCol="0" anchor="t"/>
          <a:lstStyle/>
          <a:p>
            <a:pPr indent="0" marL="0">
              <a:buNone/>
            </a:pPr>
            <a:r>
              <a:rPr lang="en-US" sz="1200" dirty="0">
                <a:solidFill>
                  <a:srgbClr val="5F6B66"/>
                </a:solidFill>
              </a:rPr>
              <a:t>aves por día de faena</a:t>
            </a:r>
            <a:endParaRPr lang="en-US" sz="1200" dirty="0"/>
          </a:p>
        </p:txBody>
      </p:sp>
      <p:sp>
        <p:nvSpPr>
          <p:cNvPr id="7" name="Text 5"/>
          <p:cNvSpPr txBox="1"/>
          <p:nvPr/>
        </p:nvSpPr>
        <p:spPr>
          <a:xfrm>
            <a:off x="777240" y="2487168"/>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625.000</a:t>
            </a:r>
            <a:endParaRPr lang="en-US" sz="1500" dirty="0"/>
          </a:p>
          <a:p>
            <a:pPr indent="0" marL="0">
              <a:buNone/>
            </a:pPr>
            <a:r>
              <a:rPr lang="en-US" sz="1100" dirty="0">
                <a:solidFill>
                  <a:srgbClr val="5F6B66"/>
                </a:solidFill>
              </a:rPr>
              <a:t>aves por año</a:t>
            </a:r>
            <a:endParaRPr lang="en-US" sz="1500" dirty="0"/>
          </a:p>
        </p:txBody>
      </p:sp>
      <p:sp>
        <p:nvSpPr>
          <p:cNvPr id="8" name="Text 6"/>
          <p:cNvSpPr txBox="1"/>
          <p:nvPr/>
        </p:nvSpPr>
        <p:spPr>
          <a:xfrm>
            <a:off x="777240" y="3054096"/>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13.200</a:t>
            </a:r>
            <a:endParaRPr lang="en-US" sz="1500" dirty="0"/>
          </a:p>
          <a:p>
            <a:pPr indent="0" marL="0">
              <a:buNone/>
            </a:pPr>
            <a:r>
              <a:rPr lang="en-US" sz="1100" dirty="0">
                <a:solidFill>
                  <a:srgbClr val="5F6B66"/>
                </a:solidFill>
              </a:rPr>
              <a:t>pollitos por semana</a:t>
            </a:r>
            <a:endParaRPr lang="en-US" sz="1500" dirty="0"/>
          </a:p>
        </p:txBody>
      </p:sp>
      <p:sp>
        <p:nvSpPr>
          <p:cNvPr id="9" name="Text 7"/>
          <p:cNvSpPr txBox="1"/>
          <p:nvPr/>
        </p:nvSpPr>
        <p:spPr>
          <a:xfrm>
            <a:off x="777240" y="3621024"/>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3.100 t</a:t>
            </a:r>
            <a:endParaRPr lang="en-US" sz="1500" dirty="0"/>
          </a:p>
          <a:p>
            <a:pPr indent="0" marL="0">
              <a:buNone/>
            </a:pPr>
            <a:r>
              <a:rPr lang="en-US" sz="1100" dirty="0">
                <a:solidFill>
                  <a:srgbClr val="5F6B66"/>
                </a:solidFill>
              </a:rPr>
              <a:t>de alimento por año</a:t>
            </a:r>
            <a:endParaRPr lang="en-US" sz="1500" dirty="0"/>
          </a:p>
        </p:txBody>
      </p:sp>
      <p:sp>
        <p:nvSpPr>
          <p:cNvPr id="10" name="Text 8"/>
          <p:cNvSpPr txBox="1"/>
          <p:nvPr/>
        </p:nvSpPr>
        <p:spPr>
          <a:xfrm>
            <a:off x="658368" y="4224528"/>
            <a:ext cx="2395728" cy="603504"/>
          </a:xfrm>
          <a:prstGeom prst="roundRect">
            <a:avLst>
              <a:gd name="adj" fmla="val 9091"/>
            </a:avLst>
          </a:prstGeom>
          <a:solidFill>
            <a:srgbClr val="E4EEF5"/>
          </a:solidFill>
          <a:ln/>
        </p:spPr>
        <p:txBody>
          <a:bodyPr wrap="square" lIns="50800" tIns="50800" rIns="50800" bIns="50800" rtlCol="0" anchor="t"/>
          <a:lstStyle/>
          <a:p>
            <a:pPr indent="0" marL="0">
              <a:buNone/>
            </a:pPr>
            <a:r>
              <a:rPr lang="en-US" sz="1200" b="1" dirty="0">
                <a:solidFill>
                  <a:srgbClr val="1E2B24"/>
                </a:solidFill>
              </a:rPr>
              <a:t>Para llenarla: ≈ 4,1 t/día vendidas</a:t>
            </a:r>
            <a:endParaRPr lang="en-US" sz="1200" dirty="0"/>
          </a:p>
          <a:p>
            <a:pPr indent="0" marL="0">
              <a:buNone/>
            </a:pPr>
            <a:r>
              <a:rPr lang="en-US" sz="1100" dirty="0">
                <a:solidFill>
                  <a:srgbClr val="5F6B66"/>
                </a:solidFill>
              </a:rPr>
              <a:t>≈ 46 kg/local/día con 90 locales</a:t>
            </a:r>
            <a:endParaRPr lang="en-US" sz="1200" dirty="0"/>
          </a:p>
        </p:txBody>
      </p:sp>
      <p:sp>
        <p:nvSpPr>
          <p:cNvPr id="11" name="escala 5.000"/>
          <p:cNvSpPr/>
          <p:nvPr/>
        </p:nvSpPr>
        <p:spPr>
          <a:xfrm>
            <a:off x="3374136" y="1325880"/>
            <a:ext cx="2615184" cy="3566160"/>
          </a:xfrm>
          <a:prstGeom prst="roundRect">
            <a:avLst>
              <a:gd name="adj" fmla="val 2797"/>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2" name="Text 10"/>
          <p:cNvSpPr txBox="1"/>
          <p:nvPr/>
        </p:nvSpPr>
        <p:spPr>
          <a:xfrm>
            <a:off x="3602736" y="1417320"/>
            <a:ext cx="2157984" cy="685800"/>
          </a:xfrm>
          <a:prstGeom prst="rect">
            <a:avLst/>
          </a:prstGeom>
          <a:noFill/>
          <a:ln/>
        </p:spPr>
        <p:txBody>
          <a:bodyPr wrap="square" lIns="0" tIns="0" rIns="0" bIns="0" rtlCol="0" anchor="t"/>
          <a:lstStyle/>
          <a:p>
            <a:pPr indent="0" marL="0">
              <a:buNone/>
            </a:pPr>
            <a:r>
              <a:rPr lang="en-US" sz="3600" b="1" dirty="0">
                <a:solidFill>
                  <a:srgbClr val="1F4D3A"/>
                </a:solidFill>
              </a:rPr>
              <a:t>5.000</a:t>
            </a:r>
            <a:endParaRPr lang="en-US" sz="3600" dirty="0"/>
          </a:p>
        </p:txBody>
      </p:sp>
      <p:sp>
        <p:nvSpPr>
          <p:cNvPr id="13" name="Text 11"/>
          <p:cNvSpPr txBox="1"/>
          <p:nvPr/>
        </p:nvSpPr>
        <p:spPr>
          <a:xfrm>
            <a:off x="3602736" y="2075688"/>
            <a:ext cx="2157984" cy="274320"/>
          </a:xfrm>
          <a:prstGeom prst="rect">
            <a:avLst/>
          </a:prstGeom>
          <a:noFill/>
          <a:ln/>
        </p:spPr>
        <p:txBody>
          <a:bodyPr wrap="square" lIns="0" tIns="0" rIns="0" bIns="0" rtlCol="0" anchor="t"/>
          <a:lstStyle/>
          <a:p>
            <a:pPr indent="0" marL="0">
              <a:buNone/>
            </a:pPr>
            <a:r>
              <a:rPr lang="en-US" sz="1200" dirty="0">
                <a:solidFill>
                  <a:srgbClr val="5F6B66"/>
                </a:solidFill>
              </a:rPr>
              <a:t>aves por día de faena</a:t>
            </a:r>
            <a:endParaRPr lang="en-US" sz="1200" dirty="0"/>
          </a:p>
        </p:txBody>
      </p:sp>
      <p:sp>
        <p:nvSpPr>
          <p:cNvPr id="14" name="Text 12"/>
          <p:cNvSpPr txBox="1"/>
          <p:nvPr/>
        </p:nvSpPr>
        <p:spPr>
          <a:xfrm>
            <a:off x="3602736" y="2487168"/>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1,25 millones</a:t>
            </a:r>
            <a:endParaRPr lang="en-US" sz="1500" dirty="0"/>
          </a:p>
          <a:p>
            <a:pPr indent="0" marL="0">
              <a:buNone/>
            </a:pPr>
            <a:r>
              <a:rPr lang="en-US" sz="1100" dirty="0">
                <a:solidFill>
                  <a:srgbClr val="5F6B66"/>
                </a:solidFill>
              </a:rPr>
              <a:t>aves por año</a:t>
            </a:r>
            <a:endParaRPr lang="en-US" sz="1500" dirty="0"/>
          </a:p>
        </p:txBody>
      </p:sp>
      <p:sp>
        <p:nvSpPr>
          <p:cNvPr id="15" name="Text 13"/>
          <p:cNvSpPr txBox="1"/>
          <p:nvPr/>
        </p:nvSpPr>
        <p:spPr>
          <a:xfrm>
            <a:off x="3602736" y="3054096"/>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26.400</a:t>
            </a:r>
            <a:endParaRPr lang="en-US" sz="1500" dirty="0"/>
          </a:p>
          <a:p>
            <a:pPr indent="0" marL="0">
              <a:buNone/>
            </a:pPr>
            <a:r>
              <a:rPr lang="en-US" sz="1100" dirty="0">
                <a:solidFill>
                  <a:srgbClr val="5F6B66"/>
                </a:solidFill>
              </a:rPr>
              <a:t>pollitos por semana</a:t>
            </a:r>
            <a:endParaRPr lang="en-US" sz="1500" dirty="0"/>
          </a:p>
        </p:txBody>
      </p:sp>
      <p:sp>
        <p:nvSpPr>
          <p:cNvPr id="16" name="Text 14"/>
          <p:cNvSpPr txBox="1"/>
          <p:nvPr/>
        </p:nvSpPr>
        <p:spPr>
          <a:xfrm>
            <a:off x="3602736" y="3621024"/>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6.200 t</a:t>
            </a:r>
            <a:endParaRPr lang="en-US" sz="1500" dirty="0"/>
          </a:p>
          <a:p>
            <a:pPr indent="0" marL="0">
              <a:buNone/>
            </a:pPr>
            <a:r>
              <a:rPr lang="en-US" sz="1100" dirty="0">
                <a:solidFill>
                  <a:srgbClr val="5F6B66"/>
                </a:solidFill>
              </a:rPr>
              <a:t>de alimento por año</a:t>
            </a:r>
            <a:endParaRPr lang="en-US" sz="1500" dirty="0"/>
          </a:p>
        </p:txBody>
      </p:sp>
      <p:sp>
        <p:nvSpPr>
          <p:cNvPr id="17" name="Text 15"/>
          <p:cNvSpPr txBox="1"/>
          <p:nvPr/>
        </p:nvSpPr>
        <p:spPr>
          <a:xfrm>
            <a:off x="3483864" y="4224528"/>
            <a:ext cx="2395728" cy="603504"/>
          </a:xfrm>
          <a:prstGeom prst="roundRect">
            <a:avLst>
              <a:gd name="adj" fmla="val 9091"/>
            </a:avLst>
          </a:prstGeom>
          <a:solidFill>
            <a:srgbClr val="E4EEF5"/>
          </a:solidFill>
          <a:ln/>
        </p:spPr>
        <p:txBody>
          <a:bodyPr wrap="square" lIns="50800" tIns="50800" rIns="50800" bIns="50800" rtlCol="0" anchor="t"/>
          <a:lstStyle/>
          <a:p>
            <a:pPr indent="0" marL="0">
              <a:buNone/>
            </a:pPr>
            <a:r>
              <a:rPr lang="en-US" sz="1200" b="1" dirty="0">
                <a:solidFill>
                  <a:srgbClr val="1E2B24"/>
                </a:solidFill>
              </a:rPr>
              <a:t>Para llenarla: ≈ 8,2 t/día vendidas</a:t>
            </a:r>
            <a:endParaRPr lang="en-US" sz="1200" dirty="0"/>
          </a:p>
          <a:p>
            <a:pPr indent="0" marL="0">
              <a:buNone/>
            </a:pPr>
            <a:r>
              <a:rPr lang="en-US" sz="1100" dirty="0">
                <a:solidFill>
                  <a:srgbClr val="5F6B66"/>
                </a:solidFill>
              </a:rPr>
              <a:t>≈ 91 kg/local/día con 90 locales</a:t>
            </a:r>
            <a:endParaRPr lang="en-US" sz="1200" dirty="0"/>
          </a:p>
        </p:txBody>
      </p:sp>
      <p:sp>
        <p:nvSpPr>
          <p:cNvPr id="18" name="escala 10.000"/>
          <p:cNvSpPr/>
          <p:nvPr/>
        </p:nvSpPr>
        <p:spPr>
          <a:xfrm>
            <a:off x="6199632" y="1325880"/>
            <a:ext cx="2615184" cy="3566160"/>
          </a:xfrm>
          <a:prstGeom prst="roundRect">
            <a:avLst>
              <a:gd name="adj" fmla="val 2797"/>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9" name="Text 17"/>
          <p:cNvSpPr txBox="1"/>
          <p:nvPr/>
        </p:nvSpPr>
        <p:spPr>
          <a:xfrm>
            <a:off x="6428232" y="1417320"/>
            <a:ext cx="2157984" cy="685800"/>
          </a:xfrm>
          <a:prstGeom prst="rect">
            <a:avLst/>
          </a:prstGeom>
          <a:noFill/>
          <a:ln/>
        </p:spPr>
        <p:txBody>
          <a:bodyPr wrap="square" lIns="0" tIns="0" rIns="0" bIns="0" rtlCol="0" anchor="t"/>
          <a:lstStyle/>
          <a:p>
            <a:pPr indent="0" marL="0">
              <a:buNone/>
            </a:pPr>
            <a:r>
              <a:rPr lang="en-US" sz="3600" b="1" dirty="0">
                <a:solidFill>
                  <a:srgbClr val="1F4D3A"/>
                </a:solidFill>
              </a:rPr>
              <a:t>10.000</a:t>
            </a:r>
            <a:endParaRPr lang="en-US" sz="3600" dirty="0"/>
          </a:p>
        </p:txBody>
      </p:sp>
      <p:sp>
        <p:nvSpPr>
          <p:cNvPr id="20" name="Text 18"/>
          <p:cNvSpPr txBox="1"/>
          <p:nvPr/>
        </p:nvSpPr>
        <p:spPr>
          <a:xfrm>
            <a:off x="6428232" y="2075688"/>
            <a:ext cx="2157984" cy="274320"/>
          </a:xfrm>
          <a:prstGeom prst="rect">
            <a:avLst/>
          </a:prstGeom>
          <a:noFill/>
          <a:ln/>
        </p:spPr>
        <p:txBody>
          <a:bodyPr wrap="square" lIns="0" tIns="0" rIns="0" bIns="0" rtlCol="0" anchor="t"/>
          <a:lstStyle/>
          <a:p>
            <a:pPr indent="0" marL="0">
              <a:buNone/>
            </a:pPr>
            <a:r>
              <a:rPr lang="en-US" sz="1200" dirty="0">
                <a:solidFill>
                  <a:srgbClr val="5F6B66"/>
                </a:solidFill>
              </a:rPr>
              <a:t>aves por día de faena</a:t>
            </a:r>
            <a:endParaRPr lang="en-US" sz="1200" dirty="0"/>
          </a:p>
        </p:txBody>
      </p:sp>
      <p:sp>
        <p:nvSpPr>
          <p:cNvPr id="21" name="Text 19"/>
          <p:cNvSpPr txBox="1"/>
          <p:nvPr/>
        </p:nvSpPr>
        <p:spPr>
          <a:xfrm>
            <a:off x="6428232" y="2487168"/>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2,5 millones</a:t>
            </a:r>
            <a:endParaRPr lang="en-US" sz="1500" dirty="0"/>
          </a:p>
          <a:p>
            <a:pPr indent="0" marL="0">
              <a:buNone/>
            </a:pPr>
            <a:r>
              <a:rPr lang="en-US" sz="1100" dirty="0">
                <a:solidFill>
                  <a:srgbClr val="5F6B66"/>
                </a:solidFill>
              </a:rPr>
              <a:t>aves por año</a:t>
            </a:r>
            <a:endParaRPr lang="en-US" sz="1500" dirty="0"/>
          </a:p>
        </p:txBody>
      </p:sp>
      <p:sp>
        <p:nvSpPr>
          <p:cNvPr id="22" name="Text 20"/>
          <p:cNvSpPr txBox="1"/>
          <p:nvPr/>
        </p:nvSpPr>
        <p:spPr>
          <a:xfrm>
            <a:off x="6428232" y="3054096"/>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52.800</a:t>
            </a:r>
            <a:endParaRPr lang="en-US" sz="1500" dirty="0"/>
          </a:p>
          <a:p>
            <a:pPr indent="0" marL="0">
              <a:buNone/>
            </a:pPr>
            <a:r>
              <a:rPr lang="en-US" sz="1100" dirty="0">
                <a:solidFill>
                  <a:srgbClr val="5F6B66"/>
                </a:solidFill>
              </a:rPr>
              <a:t>pollitos por semana</a:t>
            </a:r>
            <a:endParaRPr lang="en-US" sz="1500" dirty="0"/>
          </a:p>
        </p:txBody>
      </p:sp>
      <p:sp>
        <p:nvSpPr>
          <p:cNvPr id="23" name="Text 21"/>
          <p:cNvSpPr txBox="1"/>
          <p:nvPr/>
        </p:nvSpPr>
        <p:spPr>
          <a:xfrm>
            <a:off x="6428232" y="3621024"/>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12.400 t</a:t>
            </a:r>
            <a:endParaRPr lang="en-US" sz="1500" dirty="0"/>
          </a:p>
          <a:p>
            <a:pPr indent="0" marL="0">
              <a:buNone/>
            </a:pPr>
            <a:r>
              <a:rPr lang="en-US" sz="1100" dirty="0">
                <a:solidFill>
                  <a:srgbClr val="5F6B66"/>
                </a:solidFill>
              </a:rPr>
              <a:t>de alimento por año</a:t>
            </a:r>
            <a:endParaRPr lang="en-US" sz="1500" dirty="0"/>
          </a:p>
        </p:txBody>
      </p:sp>
      <p:sp>
        <p:nvSpPr>
          <p:cNvPr id="24" name="Text 22"/>
          <p:cNvSpPr txBox="1"/>
          <p:nvPr/>
        </p:nvSpPr>
        <p:spPr>
          <a:xfrm>
            <a:off x="6309360" y="4224528"/>
            <a:ext cx="2395728" cy="603504"/>
          </a:xfrm>
          <a:prstGeom prst="roundRect">
            <a:avLst>
              <a:gd name="adj" fmla="val 9091"/>
            </a:avLst>
          </a:prstGeom>
          <a:solidFill>
            <a:srgbClr val="E4EEF5"/>
          </a:solidFill>
          <a:ln/>
        </p:spPr>
        <p:txBody>
          <a:bodyPr wrap="square" lIns="50800" tIns="50800" rIns="50800" bIns="50800" rtlCol="0" anchor="t"/>
          <a:lstStyle/>
          <a:p>
            <a:pPr indent="0" marL="0">
              <a:buNone/>
            </a:pPr>
            <a:r>
              <a:rPr lang="en-US" sz="1200" b="1" dirty="0">
                <a:solidFill>
                  <a:srgbClr val="1E2B24"/>
                </a:solidFill>
              </a:rPr>
              <a:t>Para llenarla: ≈ 16,4 t/día vendidas</a:t>
            </a:r>
            <a:endParaRPr lang="en-US" sz="1200" dirty="0"/>
          </a:p>
          <a:p>
            <a:pPr indent="0" marL="0">
              <a:buNone/>
            </a:pPr>
            <a:r>
              <a:rPr lang="en-US" sz="1100" dirty="0">
                <a:solidFill>
                  <a:srgbClr val="5F6B66"/>
                </a:solidFill>
              </a:rPr>
              <a:t>≈ 182 kg/local/día con 90 locales</a:t>
            </a:r>
            <a:endParaRPr lang="en-US" sz="1200" dirty="0"/>
          </a:p>
        </p:txBody>
      </p:sp>
      <p:sp>
        <p:nvSpPr>
          <p:cNvPr id="25" name="escala 20.000"/>
          <p:cNvSpPr/>
          <p:nvPr/>
        </p:nvSpPr>
        <p:spPr>
          <a:xfrm>
            <a:off x="9025128" y="1325880"/>
            <a:ext cx="2615184" cy="3566160"/>
          </a:xfrm>
          <a:prstGeom prst="roundRect">
            <a:avLst>
              <a:gd name="adj" fmla="val 2797"/>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6" name="Text 24"/>
          <p:cNvSpPr txBox="1"/>
          <p:nvPr/>
        </p:nvSpPr>
        <p:spPr>
          <a:xfrm>
            <a:off x="9253728" y="1417320"/>
            <a:ext cx="2157984" cy="685800"/>
          </a:xfrm>
          <a:prstGeom prst="rect">
            <a:avLst/>
          </a:prstGeom>
          <a:noFill/>
          <a:ln/>
        </p:spPr>
        <p:txBody>
          <a:bodyPr wrap="square" lIns="0" tIns="0" rIns="0" bIns="0" rtlCol="0" anchor="t"/>
          <a:lstStyle/>
          <a:p>
            <a:pPr indent="0" marL="0">
              <a:buNone/>
            </a:pPr>
            <a:r>
              <a:rPr lang="en-US" sz="3600" b="1" dirty="0">
                <a:solidFill>
                  <a:srgbClr val="1F4D3A"/>
                </a:solidFill>
              </a:rPr>
              <a:t>20.000</a:t>
            </a:r>
            <a:endParaRPr lang="en-US" sz="3600" dirty="0"/>
          </a:p>
        </p:txBody>
      </p:sp>
      <p:sp>
        <p:nvSpPr>
          <p:cNvPr id="27" name="Text 25"/>
          <p:cNvSpPr txBox="1"/>
          <p:nvPr/>
        </p:nvSpPr>
        <p:spPr>
          <a:xfrm>
            <a:off x="9253728" y="2075688"/>
            <a:ext cx="2157984" cy="274320"/>
          </a:xfrm>
          <a:prstGeom prst="rect">
            <a:avLst/>
          </a:prstGeom>
          <a:noFill/>
          <a:ln/>
        </p:spPr>
        <p:txBody>
          <a:bodyPr wrap="square" lIns="0" tIns="0" rIns="0" bIns="0" rtlCol="0" anchor="t"/>
          <a:lstStyle/>
          <a:p>
            <a:pPr indent="0" marL="0">
              <a:buNone/>
            </a:pPr>
            <a:r>
              <a:rPr lang="en-US" sz="1200" dirty="0">
                <a:solidFill>
                  <a:srgbClr val="5F6B66"/>
                </a:solidFill>
              </a:rPr>
              <a:t>aves por día de faena</a:t>
            </a:r>
            <a:endParaRPr lang="en-US" sz="1200" dirty="0"/>
          </a:p>
        </p:txBody>
      </p:sp>
      <p:sp>
        <p:nvSpPr>
          <p:cNvPr id="28" name="Text 26"/>
          <p:cNvSpPr txBox="1"/>
          <p:nvPr/>
        </p:nvSpPr>
        <p:spPr>
          <a:xfrm>
            <a:off x="9253728" y="2487168"/>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5 millones</a:t>
            </a:r>
            <a:endParaRPr lang="en-US" sz="1500" dirty="0"/>
          </a:p>
          <a:p>
            <a:pPr indent="0" marL="0">
              <a:buNone/>
            </a:pPr>
            <a:r>
              <a:rPr lang="en-US" sz="1100" dirty="0">
                <a:solidFill>
                  <a:srgbClr val="5F6B66"/>
                </a:solidFill>
              </a:rPr>
              <a:t>aves por año</a:t>
            </a:r>
            <a:endParaRPr lang="en-US" sz="1500" dirty="0"/>
          </a:p>
        </p:txBody>
      </p:sp>
      <p:sp>
        <p:nvSpPr>
          <p:cNvPr id="29" name="Text 27"/>
          <p:cNvSpPr txBox="1"/>
          <p:nvPr/>
        </p:nvSpPr>
        <p:spPr>
          <a:xfrm>
            <a:off x="9253728" y="3054096"/>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105.600</a:t>
            </a:r>
            <a:endParaRPr lang="en-US" sz="1500" dirty="0"/>
          </a:p>
          <a:p>
            <a:pPr indent="0" marL="0">
              <a:buNone/>
            </a:pPr>
            <a:r>
              <a:rPr lang="en-US" sz="1100" dirty="0">
                <a:solidFill>
                  <a:srgbClr val="5F6B66"/>
                </a:solidFill>
              </a:rPr>
              <a:t>pollitos por semana</a:t>
            </a:r>
            <a:endParaRPr lang="en-US" sz="1500" dirty="0"/>
          </a:p>
        </p:txBody>
      </p:sp>
      <p:sp>
        <p:nvSpPr>
          <p:cNvPr id="30" name="Text 28"/>
          <p:cNvSpPr txBox="1"/>
          <p:nvPr/>
        </p:nvSpPr>
        <p:spPr>
          <a:xfrm>
            <a:off x="9253728" y="3621024"/>
            <a:ext cx="2157984" cy="530352"/>
          </a:xfrm>
          <a:prstGeom prst="rect">
            <a:avLst/>
          </a:prstGeom>
          <a:noFill/>
          <a:ln/>
        </p:spPr>
        <p:txBody>
          <a:bodyPr wrap="square" lIns="0" tIns="0" rIns="0" bIns="0" rtlCol="0" anchor="t"/>
          <a:lstStyle/>
          <a:p>
            <a:pPr indent="0" marL="0">
              <a:buNone/>
            </a:pPr>
            <a:r>
              <a:rPr lang="en-US" sz="1500" b="1" dirty="0">
                <a:solidFill>
                  <a:srgbClr val="1E2B24"/>
                </a:solidFill>
              </a:rPr>
              <a:t>≈ 24.700 t</a:t>
            </a:r>
            <a:endParaRPr lang="en-US" sz="1500" dirty="0"/>
          </a:p>
          <a:p>
            <a:pPr indent="0" marL="0">
              <a:buNone/>
            </a:pPr>
            <a:r>
              <a:rPr lang="en-US" sz="1100" dirty="0">
                <a:solidFill>
                  <a:srgbClr val="5F6B66"/>
                </a:solidFill>
              </a:rPr>
              <a:t>de alimento por año</a:t>
            </a:r>
            <a:endParaRPr lang="en-US" sz="1500" dirty="0"/>
          </a:p>
        </p:txBody>
      </p:sp>
      <p:sp>
        <p:nvSpPr>
          <p:cNvPr id="31" name="Text 29"/>
          <p:cNvSpPr txBox="1"/>
          <p:nvPr/>
        </p:nvSpPr>
        <p:spPr>
          <a:xfrm>
            <a:off x="9134856" y="4224528"/>
            <a:ext cx="2395728" cy="603504"/>
          </a:xfrm>
          <a:prstGeom prst="roundRect">
            <a:avLst>
              <a:gd name="adj" fmla="val 9091"/>
            </a:avLst>
          </a:prstGeom>
          <a:solidFill>
            <a:srgbClr val="E4EEF5"/>
          </a:solidFill>
          <a:ln/>
        </p:spPr>
        <p:txBody>
          <a:bodyPr wrap="square" lIns="50800" tIns="50800" rIns="50800" bIns="50800" rtlCol="0" anchor="t"/>
          <a:lstStyle/>
          <a:p>
            <a:pPr indent="0" marL="0">
              <a:buNone/>
            </a:pPr>
            <a:r>
              <a:rPr lang="en-US" sz="1200" b="1" dirty="0">
                <a:solidFill>
                  <a:srgbClr val="1E2B24"/>
                </a:solidFill>
              </a:rPr>
              <a:t>Para llenarla: ≈ 32,8 t/día vendidas</a:t>
            </a:r>
            <a:endParaRPr lang="en-US" sz="1200" dirty="0"/>
          </a:p>
          <a:p>
            <a:pPr indent="0" marL="0">
              <a:buNone/>
            </a:pPr>
            <a:r>
              <a:rPr lang="en-US" sz="1100" dirty="0">
                <a:solidFill>
                  <a:srgbClr val="5F6B66"/>
                </a:solidFill>
              </a:rPr>
              <a:t>≈ 365 kg/local/día con 90 locales</a:t>
            </a:r>
            <a:endParaRPr lang="en-US" sz="1200" dirty="0"/>
          </a:p>
        </p:txBody>
      </p:sp>
      <p:sp>
        <p:nvSpPr>
          <p:cNvPr id="32" name="Text 30"/>
          <p:cNvSpPr txBox="1"/>
          <p:nvPr/>
        </p:nvSpPr>
        <p:spPr>
          <a:xfrm>
            <a:off x="548640" y="5120640"/>
            <a:ext cx="11091672" cy="685800"/>
          </a:xfrm>
          <a:prstGeom prst="roundRect">
            <a:avLst>
              <a:gd name="adj" fmla="val 10667"/>
            </a:avLst>
          </a:prstGeom>
          <a:solidFill>
            <a:srgbClr val="F8E3E1"/>
          </a:solidFill>
          <a:ln/>
        </p:spPr>
        <p:txBody>
          <a:bodyPr wrap="square" lIns="101600" tIns="101600" rIns="101600" bIns="101600" rtlCol="0" anchor="ctr"/>
          <a:lstStyle/>
          <a:p>
            <a:pPr indent="0" marL="0">
              <a:buNone/>
            </a:pPr>
            <a:r>
              <a:rPr lang="en-US" sz="1500" b="1" dirty="0">
                <a:solidFill>
                  <a:srgbClr val="B3261E"/>
                </a:solidFill>
              </a:rPr>
              <a:t>Capacidad no es venta garantizada. </a:t>
            </a:r>
            <a:pPr indent="0" marL="0">
              <a:buNone/>
            </a:pPr>
            <a:r>
              <a:rPr lang="en-US" sz="1500" dirty="0">
                <a:solidFill>
                  <a:srgbClr val="1E2B24"/>
                </a:solidFill>
              </a:rPr>
              <a:t>Con la demanda documentada de hoy (≈ 0), la utilización respaldada es 0 % en las cuatro escalas. Ninguna escala está elegida; también se pueden simular escalas intermedias.</a:t>
            </a:r>
            <a:endParaRPr lang="en-US" sz="1500" dirty="0"/>
          </a:p>
        </p:txBody>
      </p:sp>
      <p:sp>
        <p:nvSpPr>
          <p:cNvPr id="33" name="Text 31"/>
          <p:cNvSpPr txBox="1"/>
          <p:nvPr/>
        </p:nvSpPr>
        <p:spPr>
          <a:xfrm>
            <a:off x="548640" y="5897880"/>
            <a:ext cx="11091672" cy="411480"/>
          </a:xfrm>
          <a:prstGeom prst="rect">
            <a:avLst/>
          </a:prstGeom>
          <a:noFill/>
          <a:ln/>
        </p:spPr>
        <p:txBody>
          <a:bodyPr wrap="square" lIns="0" tIns="0" rIns="0" bIns="0" rtlCol="0" anchor="t"/>
          <a:lstStyle/>
          <a:p>
            <a:pPr indent="0" marL="0">
              <a:buNone/>
            </a:pPr>
            <a:r>
              <a:rPr lang="en-US" sz="1100" dirty="0">
                <a:solidFill>
                  <a:srgbClr val="5F6B66"/>
                </a:solidFill>
              </a:rPr>
              <a:t>Base de cálculo: 5 días de faena por semana (250 días/año), pollo de 2,9 kg vivo, demanda en día calendario y ave completa vendida (cota inferior). Con 6 días/semana el volumen anual sube ~20 %.</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La planta por dentro: qué pasa con cada pollo</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tiqueta ESTIMACIÓN"/>
          <p:cNvSpPr txBox="1"/>
          <p:nvPr/>
        </p:nvSpPr>
        <p:spPr>
          <a:xfrm>
            <a:off x="9142171" y="603504"/>
            <a:ext cx="1252728" cy="274320"/>
          </a:xfrm>
          <a:prstGeom prst="roundRect">
            <a:avLst>
              <a:gd name="adj" fmla="val 50000"/>
            </a:avLst>
          </a:prstGeom>
          <a:solidFill>
            <a:srgbClr val="2F6690"/>
          </a:solidFill>
          <a:ln/>
        </p:spPr>
        <p:txBody>
          <a:bodyPr wrap="square" lIns="0" tIns="0" rIns="0" bIns="0" rtlCol="0" anchor="ctr"/>
          <a:lstStyle/>
          <a:p>
            <a:pPr algn="ctr" indent="0" marL="0">
              <a:buNone/>
            </a:pPr>
            <a:r>
              <a:rPr lang="en-US" sz="1050" b="1" spc="100" kern="0" dirty="0">
                <a:solidFill>
                  <a:srgbClr val="FFFFFF"/>
                </a:solidFill>
              </a:rPr>
              <a:t>ESTIMACIÓN</a:t>
            </a:r>
            <a:endParaRPr lang="en-US" sz="1050" dirty="0"/>
          </a:p>
        </p:txBody>
      </p:sp>
      <p:sp>
        <p:nvSpPr>
          <p:cNvPr id="5" name="Text 3"/>
          <p:cNvSpPr txBox="1"/>
          <p:nvPr/>
        </p:nvSpPr>
        <p:spPr>
          <a:xfrm>
            <a:off x="548640" y="1298448"/>
            <a:ext cx="3657600" cy="274320"/>
          </a:xfrm>
          <a:prstGeom prst="rect">
            <a:avLst/>
          </a:prstGeom>
          <a:noFill/>
          <a:ln/>
        </p:spPr>
        <p:txBody>
          <a:bodyPr wrap="square" lIns="0" tIns="0" rIns="0" bIns="0" rtlCol="0" anchor="t"/>
          <a:lstStyle/>
          <a:p>
            <a:pPr indent="0" marL="0">
              <a:buNone/>
            </a:pPr>
            <a:r>
              <a:rPr lang="en-US" sz="1200" b="1" spc="200" kern="0" dirty="0">
                <a:solidFill>
                  <a:srgbClr val="C8641E"/>
                </a:solidFill>
              </a:rPr>
              <a:t>ZONA SUCIA</a:t>
            </a:r>
            <a:endParaRPr lang="en-US" sz="1200" dirty="0"/>
          </a:p>
        </p:txBody>
      </p:sp>
      <p:sp>
        <p:nvSpPr>
          <p:cNvPr id="6" name="Text 4"/>
          <p:cNvSpPr txBox="1"/>
          <p:nvPr/>
        </p:nvSpPr>
        <p:spPr>
          <a:xfrm>
            <a:off x="1600200" y="3090672"/>
            <a:ext cx="3657600" cy="274320"/>
          </a:xfrm>
          <a:prstGeom prst="rect">
            <a:avLst/>
          </a:prstGeom>
          <a:noFill/>
          <a:ln/>
        </p:spPr>
        <p:txBody>
          <a:bodyPr wrap="square" lIns="0" tIns="0" rIns="0" bIns="0" rtlCol="0" anchor="t"/>
          <a:lstStyle/>
          <a:p>
            <a:pPr indent="0" marL="0">
              <a:buNone/>
            </a:pPr>
            <a:r>
              <a:rPr lang="en-US" sz="1200" b="1" spc="200" kern="0" dirty="0">
                <a:solidFill>
                  <a:srgbClr val="2E7D4F"/>
                </a:solidFill>
              </a:rPr>
              <a:t>ZONA LIMPIA</a:t>
            </a:r>
            <a:endParaRPr lang="en-US" sz="1200" dirty="0"/>
          </a:p>
        </p:txBody>
      </p:sp>
      <p:sp>
        <p:nvSpPr>
          <p:cNvPr id="7" name="etapa Recepción"/>
          <p:cNvSpPr/>
          <p:nvPr/>
        </p:nvSpPr>
        <p:spPr>
          <a:xfrm>
            <a:off x="548640" y="1600200"/>
            <a:ext cx="1691640" cy="960120"/>
          </a:xfrm>
          <a:prstGeom prst="roundRect">
            <a:avLst>
              <a:gd name="adj" fmla="val 7619"/>
            </a:avLst>
          </a:prstGeom>
          <a:solidFill>
            <a:srgbClr val="FBF1DC"/>
          </a:solidFill>
          <a:ln w="12700">
            <a:solidFill>
              <a:srgbClr val="FBF1DC"/>
            </a:solidFill>
            <a:prstDash val="solid"/>
          </a:ln>
        </p:spPr>
      </p:sp>
      <p:sp>
        <p:nvSpPr>
          <p:cNvPr id="8" name="Text 6"/>
          <p:cNvSpPr txBox="1"/>
          <p:nvPr/>
        </p:nvSpPr>
        <p:spPr>
          <a:xfrm>
            <a:off x="685800" y="1691640"/>
            <a:ext cx="457200" cy="274320"/>
          </a:xfrm>
          <a:prstGeom prst="rect">
            <a:avLst/>
          </a:prstGeom>
          <a:noFill/>
          <a:ln/>
        </p:spPr>
        <p:txBody>
          <a:bodyPr wrap="square" lIns="0" tIns="0" rIns="0" bIns="0" rtlCol="0" anchor="t"/>
          <a:lstStyle/>
          <a:p>
            <a:pPr indent="0" marL="0">
              <a:buNone/>
            </a:pPr>
            <a:r>
              <a:rPr lang="en-US" sz="1200" b="1" dirty="0">
                <a:solidFill>
                  <a:srgbClr val="5F6B66"/>
                </a:solidFill>
              </a:rPr>
              <a:t>1</a:t>
            </a:r>
            <a:endParaRPr lang="en-US" sz="1200" dirty="0"/>
          </a:p>
        </p:txBody>
      </p:sp>
      <p:sp>
        <p:nvSpPr>
          <p:cNvPr id="9" name="Text 7"/>
          <p:cNvSpPr txBox="1"/>
          <p:nvPr/>
        </p:nvSpPr>
        <p:spPr>
          <a:xfrm>
            <a:off x="658368" y="194767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Recepción</a:t>
            </a:r>
            <a:endParaRPr lang="en-US" sz="1500" dirty="0"/>
          </a:p>
        </p:txBody>
      </p:sp>
      <p:sp>
        <p:nvSpPr>
          <p:cNvPr id="10" name="Shape 8"/>
          <p:cNvSpPr/>
          <p:nvPr/>
        </p:nvSpPr>
        <p:spPr>
          <a:xfrm>
            <a:off x="2267712" y="2075688"/>
            <a:ext cx="133502" cy="91"/>
          </a:xfrm>
          <a:prstGeom prst="line">
            <a:avLst/>
          </a:prstGeom>
          <a:noFill/>
          <a:ln w="19050">
            <a:solidFill>
              <a:srgbClr val="5F6B66"/>
            </a:solidFill>
            <a:prstDash val="solid"/>
            <a:tailEnd type="triangle"/>
          </a:ln>
        </p:spPr>
      </p:sp>
      <p:sp>
        <p:nvSpPr>
          <p:cNvPr id="11" name="etapa Eviscerado e inspección"/>
          <p:cNvSpPr/>
          <p:nvPr/>
        </p:nvSpPr>
        <p:spPr>
          <a:xfrm>
            <a:off x="548640" y="3383280"/>
            <a:ext cx="1691640" cy="960120"/>
          </a:xfrm>
          <a:prstGeom prst="roundRect">
            <a:avLst>
              <a:gd name="adj" fmla="val 7619"/>
            </a:avLst>
          </a:prstGeom>
          <a:solidFill>
            <a:srgbClr val="EAF2EC"/>
          </a:solidFill>
          <a:ln w="12700">
            <a:solidFill>
              <a:srgbClr val="EAF2EC"/>
            </a:solidFill>
            <a:prstDash val="solid"/>
          </a:ln>
        </p:spPr>
      </p:sp>
      <p:sp>
        <p:nvSpPr>
          <p:cNvPr id="12" name="Text 10"/>
          <p:cNvSpPr txBox="1"/>
          <p:nvPr/>
        </p:nvSpPr>
        <p:spPr>
          <a:xfrm>
            <a:off x="685800" y="3474720"/>
            <a:ext cx="457200" cy="274320"/>
          </a:xfrm>
          <a:prstGeom prst="rect">
            <a:avLst/>
          </a:prstGeom>
          <a:noFill/>
          <a:ln/>
        </p:spPr>
        <p:txBody>
          <a:bodyPr wrap="square" lIns="0" tIns="0" rIns="0" bIns="0" rtlCol="0" anchor="t"/>
          <a:lstStyle/>
          <a:p>
            <a:pPr indent="0" marL="0">
              <a:buNone/>
            </a:pPr>
            <a:r>
              <a:rPr lang="en-US" sz="1200" b="1" dirty="0">
                <a:solidFill>
                  <a:srgbClr val="5F6B66"/>
                </a:solidFill>
              </a:rPr>
              <a:t>7</a:t>
            </a:r>
            <a:endParaRPr lang="en-US" sz="1200" dirty="0"/>
          </a:p>
        </p:txBody>
      </p:sp>
      <p:sp>
        <p:nvSpPr>
          <p:cNvPr id="13" name="Text 11"/>
          <p:cNvSpPr txBox="1"/>
          <p:nvPr/>
        </p:nvSpPr>
        <p:spPr>
          <a:xfrm>
            <a:off x="658368" y="373075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Eviscerado e inspección</a:t>
            </a:r>
            <a:endParaRPr lang="en-US" sz="1500" dirty="0"/>
          </a:p>
        </p:txBody>
      </p:sp>
      <p:sp>
        <p:nvSpPr>
          <p:cNvPr id="14" name="Shape 12"/>
          <p:cNvSpPr/>
          <p:nvPr/>
        </p:nvSpPr>
        <p:spPr>
          <a:xfrm>
            <a:off x="2267712" y="3858768"/>
            <a:ext cx="133502" cy="91"/>
          </a:xfrm>
          <a:prstGeom prst="line">
            <a:avLst/>
          </a:prstGeom>
          <a:noFill/>
          <a:ln w="19050">
            <a:solidFill>
              <a:srgbClr val="5F6B66"/>
            </a:solidFill>
            <a:prstDash val="solid"/>
            <a:tailEnd type="triangle"/>
          </a:ln>
        </p:spPr>
      </p:sp>
      <p:sp>
        <p:nvSpPr>
          <p:cNvPr id="15" name="etapa Colgado"/>
          <p:cNvSpPr/>
          <p:nvPr/>
        </p:nvSpPr>
        <p:spPr>
          <a:xfrm>
            <a:off x="2428646" y="1600200"/>
            <a:ext cx="1691640" cy="960120"/>
          </a:xfrm>
          <a:prstGeom prst="roundRect">
            <a:avLst>
              <a:gd name="adj" fmla="val 7619"/>
            </a:avLst>
          </a:prstGeom>
          <a:solidFill>
            <a:srgbClr val="FBF1DC"/>
          </a:solidFill>
          <a:ln w="12700">
            <a:solidFill>
              <a:srgbClr val="FBF1DC"/>
            </a:solidFill>
            <a:prstDash val="solid"/>
          </a:ln>
        </p:spPr>
      </p:sp>
      <p:sp>
        <p:nvSpPr>
          <p:cNvPr id="16" name="Text 14"/>
          <p:cNvSpPr txBox="1"/>
          <p:nvPr/>
        </p:nvSpPr>
        <p:spPr>
          <a:xfrm>
            <a:off x="2565806" y="1691640"/>
            <a:ext cx="457200" cy="274320"/>
          </a:xfrm>
          <a:prstGeom prst="rect">
            <a:avLst/>
          </a:prstGeom>
          <a:noFill/>
          <a:ln/>
        </p:spPr>
        <p:txBody>
          <a:bodyPr wrap="square" lIns="0" tIns="0" rIns="0" bIns="0" rtlCol="0" anchor="t"/>
          <a:lstStyle/>
          <a:p>
            <a:pPr indent="0" marL="0">
              <a:buNone/>
            </a:pPr>
            <a:r>
              <a:rPr lang="en-US" sz="1200" b="1" dirty="0">
                <a:solidFill>
                  <a:srgbClr val="5F6B66"/>
                </a:solidFill>
              </a:rPr>
              <a:t>2</a:t>
            </a:r>
            <a:endParaRPr lang="en-US" sz="1200" dirty="0"/>
          </a:p>
        </p:txBody>
      </p:sp>
      <p:sp>
        <p:nvSpPr>
          <p:cNvPr id="17" name="Text 15"/>
          <p:cNvSpPr txBox="1"/>
          <p:nvPr/>
        </p:nvSpPr>
        <p:spPr>
          <a:xfrm>
            <a:off x="2538374" y="194767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Colgado</a:t>
            </a:r>
            <a:endParaRPr lang="en-US" sz="1500" dirty="0"/>
          </a:p>
        </p:txBody>
      </p:sp>
      <p:sp>
        <p:nvSpPr>
          <p:cNvPr id="18" name="Shape 16"/>
          <p:cNvSpPr/>
          <p:nvPr/>
        </p:nvSpPr>
        <p:spPr>
          <a:xfrm>
            <a:off x="4147718" y="2075688"/>
            <a:ext cx="133502" cy="91"/>
          </a:xfrm>
          <a:prstGeom prst="line">
            <a:avLst/>
          </a:prstGeom>
          <a:noFill/>
          <a:ln w="19050">
            <a:solidFill>
              <a:srgbClr val="5F6B66"/>
            </a:solidFill>
            <a:prstDash val="solid"/>
            <a:tailEnd type="triangle"/>
          </a:ln>
        </p:spPr>
      </p:sp>
      <p:sp>
        <p:nvSpPr>
          <p:cNvPr id="19" name="etapa Enfriamiento"/>
          <p:cNvSpPr/>
          <p:nvPr/>
        </p:nvSpPr>
        <p:spPr>
          <a:xfrm>
            <a:off x="2428646" y="3383280"/>
            <a:ext cx="1691640" cy="960120"/>
          </a:xfrm>
          <a:prstGeom prst="roundRect">
            <a:avLst>
              <a:gd name="adj" fmla="val 7619"/>
            </a:avLst>
          </a:prstGeom>
          <a:solidFill>
            <a:srgbClr val="EAF2EC"/>
          </a:solidFill>
          <a:ln w="12700">
            <a:solidFill>
              <a:srgbClr val="EAF2EC"/>
            </a:solidFill>
            <a:prstDash val="solid"/>
          </a:ln>
        </p:spPr>
      </p:sp>
      <p:sp>
        <p:nvSpPr>
          <p:cNvPr id="20" name="Text 18"/>
          <p:cNvSpPr txBox="1"/>
          <p:nvPr/>
        </p:nvSpPr>
        <p:spPr>
          <a:xfrm>
            <a:off x="2565806" y="3474720"/>
            <a:ext cx="457200" cy="274320"/>
          </a:xfrm>
          <a:prstGeom prst="rect">
            <a:avLst/>
          </a:prstGeom>
          <a:noFill/>
          <a:ln/>
        </p:spPr>
        <p:txBody>
          <a:bodyPr wrap="square" lIns="0" tIns="0" rIns="0" bIns="0" rtlCol="0" anchor="t"/>
          <a:lstStyle/>
          <a:p>
            <a:pPr indent="0" marL="0">
              <a:buNone/>
            </a:pPr>
            <a:r>
              <a:rPr lang="en-US" sz="1200" b="1" dirty="0">
                <a:solidFill>
                  <a:srgbClr val="5F6B66"/>
                </a:solidFill>
              </a:rPr>
              <a:t>8</a:t>
            </a:r>
            <a:endParaRPr lang="en-US" sz="1200" dirty="0"/>
          </a:p>
        </p:txBody>
      </p:sp>
      <p:sp>
        <p:nvSpPr>
          <p:cNvPr id="21" name="Text 19"/>
          <p:cNvSpPr txBox="1"/>
          <p:nvPr/>
        </p:nvSpPr>
        <p:spPr>
          <a:xfrm>
            <a:off x="2538374" y="373075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Enfriamiento</a:t>
            </a:r>
            <a:endParaRPr lang="en-US" sz="1500" dirty="0"/>
          </a:p>
        </p:txBody>
      </p:sp>
      <p:sp>
        <p:nvSpPr>
          <p:cNvPr id="22" name="Shape 20"/>
          <p:cNvSpPr/>
          <p:nvPr/>
        </p:nvSpPr>
        <p:spPr>
          <a:xfrm>
            <a:off x="4147718" y="3858768"/>
            <a:ext cx="133502" cy="91"/>
          </a:xfrm>
          <a:prstGeom prst="line">
            <a:avLst/>
          </a:prstGeom>
          <a:noFill/>
          <a:ln w="19050">
            <a:solidFill>
              <a:srgbClr val="5F6B66"/>
            </a:solidFill>
            <a:prstDash val="solid"/>
            <a:tailEnd type="triangle"/>
          </a:ln>
        </p:spPr>
      </p:sp>
      <p:sp>
        <p:nvSpPr>
          <p:cNvPr id="23" name="etapa Aturdido"/>
          <p:cNvSpPr/>
          <p:nvPr/>
        </p:nvSpPr>
        <p:spPr>
          <a:xfrm>
            <a:off x="4308653" y="1600200"/>
            <a:ext cx="1691640" cy="960120"/>
          </a:xfrm>
          <a:prstGeom prst="roundRect">
            <a:avLst>
              <a:gd name="adj" fmla="val 7619"/>
            </a:avLst>
          </a:prstGeom>
          <a:solidFill>
            <a:srgbClr val="FBF1DC"/>
          </a:solidFill>
          <a:ln w="12700">
            <a:solidFill>
              <a:srgbClr val="FBF1DC"/>
            </a:solidFill>
            <a:prstDash val="solid"/>
          </a:ln>
        </p:spPr>
      </p:sp>
      <p:sp>
        <p:nvSpPr>
          <p:cNvPr id="24" name="Text 22"/>
          <p:cNvSpPr txBox="1"/>
          <p:nvPr/>
        </p:nvSpPr>
        <p:spPr>
          <a:xfrm>
            <a:off x="4445813" y="1691640"/>
            <a:ext cx="457200" cy="274320"/>
          </a:xfrm>
          <a:prstGeom prst="rect">
            <a:avLst/>
          </a:prstGeom>
          <a:noFill/>
          <a:ln/>
        </p:spPr>
        <p:txBody>
          <a:bodyPr wrap="square" lIns="0" tIns="0" rIns="0" bIns="0" rtlCol="0" anchor="t"/>
          <a:lstStyle/>
          <a:p>
            <a:pPr indent="0" marL="0">
              <a:buNone/>
            </a:pPr>
            <a:r>
              <a:rPr lang="en-US" sz="1200" b="1" dirty="0">
                <a:solidFill>
                  <a:srgbClr val="5F6B66"/>
                </a:solidFill>
              </a:rPr>
              <a:t>3</a:t>
            </a:r>
            <a:endParaRPr lang="en-US" sz="1200" dirty="0"/>
          </a:p>
        </p:txBody>
      </p:sp>
      <p:sp>
        <p:nvSpPr>
          <p:cNvPr id="25" name="Text 23"/>
          <p:cNvSpPr txBox="1"/>
          <p:nvPr/>
        </p:nvSpPr>
        <p:spPr>
          <a:xfrm>
            <a:off x="4418381" y="194767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Aturdido</a:t>
            </a:r>
            <a:endParaRPr lang="en-US" sz="1500" dirty="0"/>
          </a:p>
        </p:txBody>
      </p:sp>
      <p:sp>
        <p:nvSpPr>
          <p:cNvPr id="26" name="Shape 24"/>
          <p:cNvSpPr/>
          <p:nvPr/>
        </p:nvSpPr>
        <p:spPr>
          <a:xfrm>
            <a:off x="6027725" y="2075688"/>
            <a:ext cx="133502" cy="91"/>
          </a:xfrm>
          <a:prstGeom prst="line">
            <a:avLst/>
          </a:prstGeom>
          <a:noFill/>
          <a:ln w="19050">
            <a:solidFill>
              <a:srgbClr val="5F6B66"/>
            </a:solidFill>
            <a:prstDash val="solid"/>
            <a:tailEnd type="triangle"/>
          </a:ln>
        </p:spPr>
      </p:sp>
      <p:sp>
        <p:nvSpPr>
          <p:cNvPr id="27" name="etapa Trozado"/>
          <p:cNvSpPr/>
          <p:nvPr/>
        </p:nvSpPr>
        <p:spPr>
          <a:xfrm>
            <a:off x="4308653" y="3383280"/>
            <a:ext cx="1691640" cy="960120"/>
          </a:xfrm>
          <a:prstGeom prst="roundRect">
            <a:avLst>
              <a:gd name="adj" fmla="val 7619"/>
            </a:avLst>
          </a:prstGeom>
          <a:solidFill>
            <a:srgbClr val="EAF2EC"/>
          </a:solidFill>
          <a:ln w="12700">
            <a:solidFill>
              <a:srgbClr val="EAF2EC"/>
            </a:solidFill>
            <a:prstDash val="solid"/>
          </a:ln>
        </p:spPr>
      </p:sp>
      <p:sp>
        <p:nvSpPr>
          <p:cNvPr id="28" name="Text 26"/>
          <p:cNvSpPr txBox="1"/>
          <p:nvPr/>
        </p:nvSpPr>
        <p:spPr>
          <a:xfrm>
            <a:off x="4445813" y="3474720"/>
            <a:ext cx="457200" cy="274320"/>
          </a:xfrm>
          <a:prstGeom prst="rect">
            <a:avLst/>
          </a:prstGeom>
          <a:noFill/>
          <a:ln/>
        </p:spPr>
        <p:txBody>
          <a:bodyPr wrap="square" lIns="0" tIns="0" rIns="0" bIns="0" rtlCol="0" anchor="t"/>
          <a:lstStyle/>
          <a:p>
            <a:pPr indent="0" marL="0">
              <a:buNone/>
            </a:pPr>
            <a:r>
              <a:rPr lang="en-US" sz="1200" b="1" dirty="0">
                <a:solidFill>
                  <a:srgbClr val="5F6B66"/>
                </a:solidFill>
              </a:rPr>
              <a:t>9</a:t>
            </a:r>
            <a:endParaRPr lang="en-US" sz="1200" dirty="0"/>
          </a:p>
        </p:txBody>
      </p:sp>
      <p:sp>
        <p:nvSpPr>
          <p:cNvPr id="29" name="Text 27"/>
          <p:cNvSpPr txBox="1"/>
          <p:nvPr/>
        </p:nvSpPr>
        <p:spPr>
          <a:xfrm>
            <a:off x="4418381" y="373075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Trozado</a:t>
            </a:r>
            <a:endParaRPr lang="en-US" sz="1500" dirty="0"/>
          </a:p>
        </p:txBody>
      </p:sp>
      <p:sp>
        <p:nvSpPr>
          <p:cNvPr id="30" name="Shape 28"/>
          <p:cNvSpPr/>
          <p:nvPr/>
        </p:nvSpPr>
        <p:spPr>
          <a:xfrm>
            <a:off x="6027725" y="3858768"/>
            <a:ext cx="133502" cy="91"/>
          </a:xfrm>
          <a:prstGeom prst="line">
            <a:avLst/>
          </a:prstGeom>
          <a:noFill/>
          <a:ln w="19050">
            <a:solidFill>
              <a:srgbClr val="5F6B66"/>
            </a:solidFill>
            <a:prstDash val="solid"/>
            <a:tailEnd type="triangle"/>
          </a:ln>
        </p:spPr>
      </p:sp>
      <p:sp>
        <p:nvSpPr>
          <p:cNvPr id="31" name="etapa Sangrado"/>
          <p:cNvSpPr/>
          <p:nvPr/>
        </p:nvSpPr>
        <p:spPr>
          <a:xfrm>
            <a:off x="6188659" y="1600200"/>
            <a:ext cx="1691640" cy="960120"/>
          </a:xfrm>
          <a:prstGeom prst="roundRect">
            <a:avLst>
              <a:gd name="adj" fmla="val 7619"/>
            </a:avLst>
          </a:prstGeom>
          <a:solidFill>
            <a:srgbClr val="FBF1DC"/>
          </a:solidFill>
          <a:ln w="12700">
            <a:solidFill>
              <a:srgbClr val="FBF1DC"/>
            </a:solidFill>
            <a:prstDash val="solid"/>
          </a:ln>
        </p:spPr>
      </p:sp>
      <p:sp>
        <p:nvSpPr>
          <p:cNvPr id="32" name="Text 30"/>
          <p:cNvSpPr txBox="1"/>
          <p:nvPr/>
        </p:nvSpPr>
        <p:spPr>
          <a:xfrm>
            <a:off x="6325819" y="1691640"/>
            <a:ext cx="457200" cy="274320"/>
          </a:xfrm>
          <a:prstGeom prst="rect">
            <a:avLst/>
          </a:prstGeom>
          <a:noFill/>
          <a:ln/>
        </p:spPr>
        <p:txBody>
          <a:bodyPr wrap="square" lIns="0" tIns="0" rIns="0" bIns="0" rtlCol="0" anchor="t"/>
          <a:lstStyle/>
          <a:p>
            <a:pPr indent="0" marL="0">
              <a:buNone/>
            </a:pPr>
            <a:r>
              <a:rPr lang="en-US" sz="1200" b="1" dirty="0">
                <a:solidFill>
                  <a:srgbClr val="5F6B66"/>
                </a:solidFill>
              </a:rPr>
              <a:t>4</a:t>
            </a:r>
            <a:endParaRPr lang="en-US" sz="1200" dirty="0"/>
          </a:p>
        </p:txBody>
      </p:sp>
      <p:sp>
        <p:nvSpPr>
          <p:cNvPr id="33" name="Text 31"/>
          <p:cNvSpPr txBox="1"/>
          <p:nvPr/>
        </p:nvSpPr>
        <p:spPr>
          <a:xfrm>
            <a:off x="6298387" y="194767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Sangrado</a:t>
            </a:r>
            <a:endParaRPr lang="en-US" sz="1500" dirty="0"/>
          </a:p>
        </p:txBody>
      </p:sp>
      <p:sp>
        <p:nvSpPr>
          <p:cNvPr id="34" name="Shape 32"/>
          <p:cNvSpPr/>
          <p:nvPr/>
        </p:nvSpPr>
        <p:spPr>
          <a:xfrm>
            <a:off x="7907731" y="2075688"/>
            <a:ext cx="133502" cy="91"/>
          </a:xfrm>
          <a:prstGeom prst="line">
            <a:avLst/>
          </a:prstGeom>
          <a:noFill/>
          <a:ln w="19050">
            <a:solidFill>
              <a:srgbClr val="5F6B66"/>
            </a:solidFill>
            <a:prstDash val="solid"/>
            <a:tailEnd type="triangle"/>
          </a:ln>
        </p:spPr>
      </p:sp>
      <p:sp>
        <p:nvSpPr>
          <p:cNvPr id="35" name="etapa Empaque"/>
          <p:cNvSpPr/>
          <p:nvPr/>
        </p:nvSpPr>
        <p:spPr>
          <a:xfrm>
            <a:off x="6188659" y="3383280"/>
            <a:ext cx="1691640" cy="960120"/>
          </a:xfrm>
          <a:prstGeom prst="roundRect">
            <a:avLst>
              <a:gd name="adj" fmla="val 7619"/>
            </a:avLst>
          </a:prstGeom>
          <a:solidFill>
            <a:srgbClr val="EAF2EC"/>
          </a:solidFill>
          <a:ln w="12700">
            <a:solidFill>
              <a:srgbClr val="EAF2EC"/>
            </a:solidFill>
            <a:prstDash val="solid"/>
          </a:ln>
        </p:spPr>
      </p:sp>
      <p:sp>
        <p:nvSpPr>
          <p:cNvPr id="36" name="Text 34"/>
          <p:cNvSpPr txBox="1"/>
          <p:nvPr/>
        </p:nvSpPr>
        <p:spPr>
          <a:xfrm>
            <a:off x="6325819" y="3474720"/>
            <a:ext cx="457200" cy="274320"/>
          </a:xfrm>
          <a:prstGeom prst="rect">
            <a:avLst/>
          </a:prstGeom>
          <a:noFill/>
          <a:ln/>
        </p:spPr>
        <p:txBody>
          <a:bodyPr wrap="square" lIns="0" tIns="0" rIns="0" bIns="0" rtlCol="0" anchor="t"/>
          <a:lstStyle/>
          <a:p>
            <a:pPr indent="0" marL="0">
              <a:buNone/>
            </a:pPr>
            <a:r>
              <a:rPr lang="en-US" sz="1200" b="1" dirty="0">
                <a:solidFill>
                  <a:srgbClr val="5F6B66"/>
                </a:solidFill>
              </a:rPr>
              <a:t>10</a:t>
            </a:r>
            <a:endParaRPr lang="en-US" sz="1200" dirty="0"/>
          </a:p>
        </p:txBody>
      </p:sp>
      <p:sp>
        <p:nvSpPr>
          <p:cNvPr id="37" name="Text 35"/>
          <p:cNvSpPr txBox="1"/>
          <p:nvPr/>
        </p:nvSpPr>
        <p:spPr>
          <a:xfrm>
            <a:off x="6298387" y="373075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Empaque</a:t>
            </a:r>
            <a:endParaRPr lang="en-US" sz="1500" dirty="0"/>
          </a:p>
        </p:txBody>
      </p:sp>
      <p:sp>
        <p:nvSpPr>
          <p:cNvPr id="38" name="Shape 36"/>
          <p:cNvSpPr/>
          <p:nvPr/>
        </p:nvSpPr>
        <p:spPr>
          <a:xfrm>
            <a:off x="7907731" y="3858768"/>
            <a:ext cx="133502" cy="91"/>
          </a:xfrm>
          <a:prstGeom prst="line">
            <a:avLst/>
          </a:prstGeom>
          <a:noFill/>
          <a:ln w="19050">
            <a:solidFill>
              <a:srgbClr val="5F6B66"/>
            </a:solidFill>
            <a:prstDash val="solid"/>
            <a:tailEnd type="triangle"/>
          </a:ln>
        </p:spPr>
      </p:sp>
      <p:sp>
        <p:nvSpPr>
          <p:cNvPr id="39" name="etapa Escaldado"/>
          <p:cNvSpPr/>
          <p:nvPr/>
        </p:nvSpPr>
        <p:spPr>
          <a:xfrm>
            <a:off x="8068666" y="1600200"/>
            <a:ext cx="1691640" cy="960120"/>
          </a:xfrm>
          <a:prstGeom prst="roundRect">
            <a:avLst>
              <a:gd name="adj" fmla="val 7619"/>
            </a:avLst>
          </a:prstGeom>
          <a:solidFill>
            <a:srgbClr val="FBF1DC"/>
          </a:solidFill>
          <a:ln w="12700">
            <a:solidFill>
              <a:srgbClr val="FBF1DC"/>
            </a:solidFill>
            <a:prstDash val="solid"/>
          </a:ln>
        </p:spPr>
      </p:sp>
      <p:sp>
        <p:nvSpPr>
          <p:cNvPr id="40" name="Text 38"/>
          <p:cNvSpPr txBox="1"/>
          <p:nvPr/>
        </p:nvSpPr>
        <p:spPr>
          <a:xfrm>
            <a:off x="8205826" y="1691640"/>
            <a:ext cx="457200" cy="274320"/>
          </a:xfrm>
          <a:prstGeom prst="rect">
            <a:avLst/>
          </a:prstGeom>
          <a:noFill/>
          <a:ln/>
        </p:spPr>
        <p:txBody>
          <a:bodyPr wrap="square" lIns="0" tIns="0" rIns="0" bIns="0" rtlCol="0" anchor="t"/>
          <a:lstStyle/>
          <a:p>
            <a:pPr indent="0" marL="0">
              <a:buNone/>
            </a:pPr>
            <a:r>
              <a:rPr lang="en-US" sz="1200" b="1" dirty="0">
                <a:solidFill>
                  <a:srgbClr val="5F6B66"/>
                </a:solidFill>
              </a:rPr>
              <a:t>5</a:t>
            </a:r>
            <a:endParaRPr lang="en-US" sz="1200" dirty="0"/>
          </a:p>
        </p:txBody>
      </p:sp>
      <p:sp>
        <p:nvSpPr>
          <p:cNvPr id="41" name="Text 39"/>
          <p:cNvSpPr txBox="1"/>
          <p:nvPr/>
        </p:nvSpPr>
        <p:spPr>
          <a:xfrm>
            <a:off x="8178394" y="194767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Escaldado</a:t>
            </a:r>
            <a:endParaRPr lang="en-US" sz="1500" dirty="0"/>
          </a:p>
        </p:txBody>
      </p:sp>
      <p:sp>
        <p:nvSpPr>
          <p:cNvPr id="42" name="Shape 40"/>
          <p:cNvSpPr/>
          <p:nvPr/>
        </p:nvSpPr>
        <p:spPr>
          <a:xfrm>
            <a:off x="9787738" y="2075688"/>
            <a:ext cx="133502" cy="91"/>
          </a:xfrm>
          <a:prstGeom prst="line">
            <a:avLst/>
          </a:prstGeom>
          <a:noFill/>
          <a:ln w="19050">
            <a:solidFill>
              <a:srgbClr val="5F6B66"/>
            </a:solidFill>
            <a:prstDash val="solid"/>
            <a:tailEnd type="triangle"/>
          </a:ln>
        </p:spPr>
      </p:sp>
      <p:sp>
        <p:nvSpPr>
          <p:cNvPr id="43" name="etapa Frío"/>
          <p:cNvSpPr/>
          <p:nvPr/>
        </p:nvSpPr>
        <p:spPr>
          <a:xfrm>
            <a:off x="8068666" y="3383280"/>
            <a:ext cx="1691640" cy="960120"/>
          </a:xfrm>
          <a:prstGeom prst="roundRect">
            <a:avLst>
              <a:gd name="adj" fmla="val 7619"/>
            </a:avLst>
          </a:prstGeom>
          <a:solidFill>
            <a:srgbClr val="EAF2EC"/>
          </a:solidFill>
          <a:ln w="12700">
            <a:solidFill>
              <a:srgbClr val="EAF2EC"/>
            </a:solidFill>
            <a:prstDash val="solid"/>
          </a:ln>
        </p:spPr>
      </p:sp>
      <p:sp>
        <p:nvSpPr>
          <p:cNvPr id="44" name="Text 42"/>
          <p:cNvSpPr txBox="1"/>
          <p:nvPr/>
        </p:nvSpPr>
        <p:spPr>
          <a:xfrm>
            <a:off x="8205826" y="3474720"/>
            <a:ext cx="457200" cy="274320"/>
          </a:xfrm>
          <a:prstGeom prst="rect">
            <a:avLst/>
          </a:prstGeom>
          <a:noFill/>
          <a:ln/>
        </p:spPr>
        <p:txBody>
          <a:bodyPr wrap="square" lIns="0" tIns="0" rIns="0" bIns="0" rtlCol="0" anchor="t"/>
          <a:lstStyle/>
          <a:p>
            <a:pPr indent="0" marL="0">
              <a:buNone/>
            </a:pPr>
            <a:r>
              <a:rPr lang="en-US" sz="1200" b="1" dirty="0">
                <a:solidFill>
                  <a:srgbClr val="5F6B66"/>
                </a:solidFill>
              </a:rPr>
              <a:t>11</a:t>
            </a:r>
            <a:endParaRPr lang="en-US" sz="1200" dirty="0"/>
          </a:p>
        </p:txBody>
      </p:sp>
      <p:sp>
        <p:nvSpPr>
          <p:cNvPr id="45" name="Text 43"/>
          <p:cNvSpPr txBox="1"/>
          <p:nvPr/>
        </p:nvSpPr>
        <p:spPr>
          <a:xfrm>
            <a:off x="8178394" y="373075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Frío</a:t>
            </a:r>
            <a:endParaRPr lang="en-US" sz="1500" dirty="0"/>
          </a:p>
        </p:txBody>
      </p:sp>
      <p:sp>
        <p:nvSpPr>
          <p:cNvPr id="46" name="Shape 44"/>
          <p:cNvSpPr/>
          <p:nvPr/>
        </p:nvSpPr>
        <p:spPr>
          <a:xfrm>
            <a:off x="9787738" y="3858768"/>
            <a:ext cx="133502" cy="91"/>
          </a:xfrm>
          <a:prstGeom prst="line">
            <a:avLst/>
          </a:prstGeom>
          <a:noFill/>
          <a:ln w="19050">
            <a:solidFill>
              <a:srgbClr val="5F6B66"/>
            </a:solidFill>
            <a:prstDash val="solid"/>
            <a:tailEnd type="triangle"/>
          </a:ln>
        </p:spPr>
      </p:sp>
      <p:sp>
        <p:nvSpPr>
          <p:cNvPr id="47" name="etapa Desplume"/>
          <p:cNvSpPr/>
          <p:nvPr/>
        </p:nvSpPr>
        <p:spPr>
          <a:xfrm>
            <a:off x="9948672" y="1600200"/>
            <a:ext cx="1691640" cy="960120"/>
          </a:xfrm>
          <a:prstGeom prst="roundRect">
            <a:avLst>
              <a:gd name="adj" fmla="val 7619"/>
            </a:avLst>
          </a:prstGeom>
          <a:solidFill>
            <a:srgbClr val="FBF1DC"/>
          </a:solidFill>
          <a:ln w="12700">
            <a:solidFill>
              <a:srgbClr val="FBF1DC"/>
            </a:solidFill>
            <a:prstDash val="solid"/>
          </a:ln>
        </p:spPr>
      </p:sp>
      <p:sp>
        <p:nvSpPr>
          <p:cNvPr id="48" name="Text 46"/>
          <p:cNvSpPr txBox="1"/>
          <p:nvPr/>
        </p:nvSpPr>
        <p:spPr>
          <a:xfrm>
            <a:off x="10085832" y="1691640"/>
            <a:ext cx="457200" cy="274320"/>
          </a:xfrm>
          <a:prstGeom prst="rect">
            <a:avLst/>
          </a:prstGeom>
          <a:noFill/>
          <a:ln/>
        </p:spPr>
        <p:txBody>
          <a:bodyPr wrap="square" lIns="0" tIns="0" rIns="0" bIns="0" rtlCol="0" anchor="t"/>
          <a:lstStyle/>
          <a:p>
            <a:pPr indent="0" marL="0">
              <a:buNone/>
            </a:pPr>
            <a:r>
              <a:rPr lang="en-US" sz="1200" b="1" dirty="0">
                <a:solidFill>
                  <a:srgbClr val="5F6B66"/>
                </a:solidFill>
              </a:rPr>
              <a:t>6</a:t>
            </a:r>
            <a:endParaRPr lang="en-US" sz="1200" dirty="0"/>
          </a:p>
        </p:txBody>
      </p:sp>
      <p:sp>
        <p:nvSpPr>
          <p:cNvPr id="49" name="Text 47"/>
          <p:cNvSpPr txBox="1"/>
          <p:nvPr/>
        </p:nvSpPr>
        <p:spPr>
          <a:xfrm>
            <a:off x="10058400" y="194767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Desplume</a:t>
            </a:r>
            <a:endParaRPr lang="en-US" sz="1500" dirty="0"/>
          </a:p>
        </p:txBody>
      </p:sp>
      <p:sp>
        <p:nvSpPr>
          <p:cNvPr id="50" name="etapa Despacho"/>
          <p:cNvSpPr/>
          <p:nvPr/>
        </p:nvSpPr>
        <p:spPr>
          <a:xfrm>
            <a:off x="9948672" y="3383280"/>
            <a:ext cx="1691640" cy="960120"/>
          </a:xfrm>
          <a:prstGeom prst="roundRect">
            <a:avLst>
              <a:gd name="adj" fmla="val 7619"/>
            </a:avLst>
          </a:prstGeom>
          <a:solidFill>
            <a:srgbClr val="EAF2EC"/>
          </a:solidFill>
          <a:ln w="12700">
            <a:solidFill>
              <a:srgbClr val="EAF2EC"/>
            </a:solidFill>
            <a:prstDash val="solid"/>
          </a:ln>
        </p:spPr>
      </p:sp>
      <p:sp>
        <p:nvSpPr>
          <p:cNvPr id="51" name="Text 49"/>
          <p:cNvSpPr txBox="1"/>
          <p:nvPr/>
        </p:nvSpPr>
        <p:spPr>
          <a:xfrm>
            <a:off x="10085832" y="3474720"/>
            <a:ext cx="457200" cy="274320"/>
          </a:xfrm>
          <a:prstGeom prst="rect">
            <a:avLst/>
          </a:prstGeom>
          <a:noFill/>
          <a:ln/>
        </p:spPr>
        <p:txBody>
          <a:bodyPr wrap="square" lIns="0" tIns="0" rIns="0" bIns="0" rtlCol="0" anchor="t"/>
          <a:lstStyle/>
          <a:p>
            <a:pPr indent="0" marL="0">
              <a:buNone/>
            </a:pPr>
            <a:r>
              <a:rPr lang="en-US" sz="1200" b="1" dirty="0">
                <a:solidFill>
                  <a:srgbClr val="5F6B66"/>
                </a:solidFill>
              </a:rPr>
              <a:t>12</a:t>
            </a:r>
            <a:endParaRPr lang="en-US" sz="1200" dirty="0"/>
          </a:p>
        </p:txBody>
      </p:sp>
      <p:sp>
        <p:nvSpPr>
          <p:cNvPr id="52" name="Text 50"/>
          <p:cNvSpPr txBox="1"/>
          <p:nvPr/>
        </p:nvSpPr>
        <p:spPr>
          <a:xfrm>
            <a:off x="10058400" y="3730752"/>
            <a:ext cx="1472184" cy="548640"/>
          </a:xfrm>
          <a:prstGeom prst="rect">
            <a:avLst/>
          </a:prstGeom>
          <a:noFill/>
          <a:ln/>
        </p:spPr>
        <p:txBody>
          <a:bodyPr wrap="square" lIns="0" tIns="0" rIns="0" bIns="0" rtlCol="0" anchor="ctr"/>
          <a:lstStyle/>
          <a:p>
            <a:pPr indent="0" marL="0">
              <a:buNone/>
            </a:pPr>
            <a:r>
              <a:rPr lang="en-US" sz="1500" b="1" dirty="0">
                <a:solidFill>
                  <a:srgbClr val="1F4D3A"/>
                </a:solidFill>
              </a:rPr>
              <a:t>Despacho</a:t>
            </a:r>
            <a:endParaRPr lang="en-US" sz="1500" dirty="0"/>
          </a:p>
        </p:txBody>
      </p:sp>
      <p:sp>
        <p:nvSpPr>
          <p:cNvPr id="53" name="Shape 51"/>
          <p:cNvSpPr/>
          <p:nvPr/>
        </p:nvSpPr>
        <p:spPr>
          <a:xfrm>
            <a:off x="10794492" y="2560320"/>
            <a:ext cx="91" cy="365760"/>
          </a:xfrm>
          <a:prstGeom prst="line">
            <a:avLst/>
          </a:prstGeom>
          <a:noFill/>
          <a:ln w="19050">
            <a:solidFill>
              <a:srgbClr val="5F6B66"/>
            </a:solidFill>
            <a:prstDash val="solid"/>
          </a:ln>
        </p:spPr>
      </p:sp>
      <p:sp>
        <p:nvSpPr>
          <p:cNvPr id="54" name="Shape 52"/>
          <p:cNvSpPr/>
          <p:nvPr/>
        </p:nvSpPr>
        <p:spPr>
          <a:xfrm>
            <a:off x="1394460" y="2926080"/>
            <a:ext cx="9400032" cy="91"/>
          </a:xfrm>
          <a:prstGeom prst="line">
            <a:avLst/>
          </a:prstGeom>
          <a:noFill/>
          <a:ln w="19050">
            <a:solidFill>
              <a:srgbClr val="5F6B66"/>
            </a:solidFill>
            <a:prstDash val="solid"/>
          </a:ln>
        </p:spPr>
      </p:sp>
      <p:sp>
        <p:nvSpPr>
          <p:cNvPr id="55" name="Shape 53"/>
          <p:cNvSpPr/>
          <p:nvPr/>
        </p:nvSpPr>
        <p:spPr>
          <a:xfrm>
            <a:off x="1394460" y="2926080"/>
            <a:ext cx="91" cy="438912"/>
          </a:xfrm>
          <a:prstGeom prst="line">
            <a:avLst/>
          </a:prstGeom>
          <a:noFill/>
          <a:ln w="19050">
            <a:solidFill>
              <a:srgbClr val="5F6B66"/>
            </a:solidFill>
            <a:prstDash val="solid"/>
            <a:tailEnd type="triangle"/>
          </a:ln>
        </p:spPr>
      </p:sp>
      <p:sp>
        <p:nvSpPr>
          <p:cNvPr id="56" name="Text 54"/>
          <p:cNvSpPr txBox="1"/>
          <p:nvPr/>
        </p:nvSpPr>
        <p:spPr>
          <a:xfrm>
            <a:off x="4206240" y="2971800"/>
            <a:ext cx="3840480" cy="274320"/>
          </a:xfrm>
          <a:prstGeom prst="rect">
            <a:avLst/>
          </a:prstGeom>
          <a:noFill/>
          <a:ln/>
        </p:spPr>
        <p:txBody>
          <a:bodyPr wrap="square" lIns="0" tIns="0" rIns="0" bIns="0" rtlCol="0" anchor="t"/>
          <a:lstStyle/>
          <a:p>
            <a:pPr algn="ctr" indent="0" marL="0">
              <a:buNone/>
            </a:pPr>
            <a:r>
              <a:rPr lang="en-US" sz="1100" i="1" dirty="0">
                <a:solidFill>
                  <a:srgbClr val="5F6B66"/>
                </a:solidFill>
              </a:rPr>
              <a:t>transferencia de zona sucia a zona limpia</a:t>
            </a:r>
            <a:endParaRPr lang="en-US" sz="1100" dirty="0"/>
          </a:p>
        </p:txBody>
      </p:sp>
      <p:sp>
        <p:nvSpPr>
          <p:cNvPr id="57" name="tarjeta"/>
          <p:cNvSpPr/>
          <p:nvPr/>
        </p:nvSpPr>
        <p:spPr>
          <a:xfrm>
            <a:off x="548640" y="4663440"/>
            <a:ext cx="3557016" cy="1554480"/>
          </a:xfrm>
          <a:prstGeom prst="roundRect">
            <a:avLst>
              <a:gd name="adj" fmla="val 470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58" name="círculo FaLayerGroup"/>
          <p:cNvSpPr/>
          <p:nvPr/>
        </p:nvSpPr>
        <p:spPr>
          <a:xfrm>
            <a:off x="731520" y="4846320"/>
            <a:ext cx="548640" cy="548640"/>
          </a:xfrm>
          <a:prstGeom prst="ellipse">
            <a:avLst/>
          </a:prstGeom>
          <a:solidFill>
            <a:srgbClr val="1F4D3A"/>
          </a:solidFill>
          <a:ln w="12700">
            <a:solidFill>
              <a:srgbClr val="1F4D3A"/>
            </a:solidFill>
            <a:prstDash val="solid"/>
          </a:ln>
        </p:spPr>
      </p:sp>
      <p:pic>
        <p:nvPicPr>
          <p:cNvPr id="59" name="Image 0" descr="FaLayerGroup">    </p:cNvPr>
          <p:cNvPicPr>
            <a:picLocks noChangeAspect="1"/>
          </p:cNvPicPr>
          <p:nvPr/>
        </p:nvPicPr>
        <p:blipFill>
          <a:blip r:embed="rId1"/>
          <a:stretch>
            <a:fillRect/>
          </a:stretch>
        </p:blipFill>
        <p:spPr>
          <a:xfrm>
            <a:off x="863194" y="4977994"/>
            <a:ext cx="285293" cy="285293"/>
          </a:xfrm>
          <a:prstGeom prst="rect">
            <a:avLst/>
          </a:prstGeom>
        </p:spPr>
      </p:pic>
      <p:sp>
        <p:nvSpPr>
          <p:cNvPr id="60" name="Text 57"/>
          <p:cNvSpPr txBox="1"/>
          <p:nvPr/>
        </p:nvSpPr>
        <p:spPr>
          <a:xfrm>
            <a:off x="1417320" y="4800600"/>
            <a:ext cx="2560320" cy="640080"/>
          </a:xfrm>
          <a:prstGeom prst="rect">
            <a:avLst/>
          </a:prstGeom>
          <a:noFill/>
          <a:ln/>
        </p:spPr>
        <p:txBody>
          <a:bodyPr wrap="square" lIns="0" tIns="0" rIns="0" bIns="0" rtlCol="0" anchor="ctr"/>
          <a:lstStyle/>
          <a:p>
            <a:pPr indent="0" marL="0">
              <a:buNone/>
            </a:pPr>
            <a:r>
              <a:rPr lang="en-US" sz="1400" b="1" dirty="0">
                <a:solidFill>
                  <a:srgbClr val="1F4D3A"/>
                </a:solidFill>
              </a:rPr>
              <a:t>32 etapas en el modelo</a:t>
            </a:r>
            <a:endParaRPr lang="en-US" sz="1400" dirty="0"/>
          </a:p>
        </p:txBody>
      </p:sp>
      <p:sp>
        <p:nvSpPr>
          <p:cNvPr id="61" name="Text 58"/>
          <p:cNvSpPr txBox="1"/>
          <p:nvPr/>
        </p:nvSpPr>
        <p:spPr>
          <a:xfrm>
            <a:off x="731520" y="5486400"/>
            <a:ext cx="3200400" cy="685800"/>
          </a:xfrm>
          <a:prstGeom prst="rect">
            <a:avLst/>
          </a:prstGeom>
          <a:noFill/>
          <a:ln/>
        </p:spPr>
        <p:txBody>
          <a:bodyPr wrap="square" lIns="0" tIns="0" rIns="0" bIns="0" rtlCol="0" anchor="t"/>
          <a:lstStyle/>
          <a:p>
            <a:pPr indent="0" marL="0">
              <a:buNone/>
            </a:pPr>
            <a:r>
              <a:rPr lang="en-US" sz="1200" dirty="0">
                <a:solidFill>
                  <a:srgbClr val="1E2B24"/>
                </a:solidFill>
              </a:rPr>
              <a:t>Esta es la versión simple; el modelo incluye además garras, menudencias y carcasa.</a:t>
            </a:r>
            <a:endParaRPr lang="en-US" sz="1200" dirty="0"/>
          </a:p>
        </p:txBody>
      </p:sp>
      <p:sp>
        <p:nvSpPr>
          <p:cNvPr id="62" name="tarjeta"/>
          <p:cNvSpPr/>
          <p:nvPr/>
        </p:nvSpPr>
        <p:spPr>
          <a:xfrm>
            <a:off x="4306824" y="4663440"/>
            <a:ext cx="3557016" cy="1554480"/>
          </a:xfrm>
          <a:prstGeom prst="roundRect">
            <a:avLst>
              <a:gd name="adj" fmla="val 470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63" name="círculo FaCogs"/>
          <p:cNvSpPr/>
          <p:nvPr/>
        </p:nvSpPr>
        <p:spPr>
          <a:xfrm>
            <a:off x="4489704" y="4846320"/>
            <a:ext cx="548640" cy="548640"/>
          </a:xfrm>
          <a:prstGeom prst="ellipse">
            <a:avLst/>
          </a:prstGeom>
          <a:solidFill>
            <a:srgbClr val="1F4D3A"/>
          </a:solidFill>
          <a:ln w="12700">
            <a:solidFill>
              <a:srgbClr val="1F4D3A"/>
            </a:solidFill>
            <a:prstDash val="solid"/>
          </a:ln>
        </p:spPr>
      </p:sp>
      <p:pic>
        <p:nvPicPr>
          <p:cNvPr id="64" name="Image 1" descr="FaCogs">    </p:cNvPr>
          <p:cNvPicPr>
            <a:picLocks noChangeAspect="1"/>
          </p:cNvPicPr>
          <p:nvPr/>
        </p:nvPicPr>
        <p:blipFill>
          <a:blip r:embed="rId2"/>
          <a:stretch>
            <a:fillRect/>
          </a:stretch>
        </p:blipFill>
        <p:spPr>
          <a:xfrm>
            <a:off x="4621378" y="4977994"/>
            <a:ext cx="285293" cy="285293"/>
          </a:xfrm>
          <a:prstGeom prst="rect">
            <a:avLst/>
          </a:prstGeom>
        </p:spPr>
      </p:pic>
      <p:sp>
        <p:nvSpPr>
          <p:cNvPr id="65" name="Text 61"/>
          <p:cNvSpPr txBox="1"/>
          <p:nvPr/>
        </p:nvSpPr>
        <p:spPr>
          <a:xfrm>
            <a:off x="5175504" y="4800600"/>
            <a:ext cx="2560320" cy="640080"/>
          </a:xfrm>
          <a:prstGeom prst="rect">
            <a:avLst/>
          </a:prstGeom>
          <a:noFill/>
          <a:ln/>
        </p:spPr>
        <p:txBody>
          <a:bodyPr wrap="square" lIns="0" tIns="0" rIns="0" bIns="0" rtlCol="0" anchor="ctr"/>
          <a:lstStyle/>
          <a:p>
            <a:pPr indent="0" marL="0">
              <a:buNone/>
            </a:pPr>
            <a:r>
              <a:rPr lang="en-US" sz="1400" b="1" dirty="0">
                <a:solidFill>
                  <a:srgbClr val="1F4D3A"/>
                </a:solidFill>
              </a:rPr>
              <a:t>Capacidad del fabricante ≠ capacidad real</a:t>
            </a:r>
            <a:endParaRPr lang="en-US" sz="1400" dirty="0"/>
          </a:p>
        </p:txBody>
      </p:sp>
      <p:sp>
        <p:nvSpPr>
          <p:cNvPr id="66" name="Text 62"/>
          <p:cNvSpPr txBox="1"/>
          <p:nvPr/>
        </p:nvSpPr>
        <p:spPr>
          <a:xfrm>
            <a:off x="4489704" y="5486400"/>
            <a:ext cx="3200400" cy="685800"/>
          </a:xfrm>
          <a:prstGeom prst="rect">
            <a:avLst/>
          </a:prstGeom>
          <a:noFill/>
          <a:ln/>
        </p:spPr>
        <p:txBody>
          <a:bodyPr wrap="square" lIns="0" tIns="0" rIns="0" bIns="0" rtlCol="0" anchor="t"/>
          <a:lstStyle/>
          <a:p>
            <a:pPr indent="0" marL="0">
              <a:buNone/>
            </a:pPr>
            <a:r>
              <a:rPr lang="en-US" sz="1200" dirty="0">
                <a:solidFill>
                  <a:srgbClr val="1E2B24"/>
                </a:solidFill>
              </a:rPr>
              <a:t>Lo que una línea garantiza se sabe con una cotización y con visitas a plantas en operación.</a:t>
            </a:r>
            <a:endParaRPr lang="en-US" sz="1200" dirty="0"/>
          </a:p>
        </p:txBody>
      </p:sp>
      <p:sp>
        <p:nvSpPr>
          <p:cNvPr id="67" name="tarjeta"/>
          <p:cNvSpPr/>
          <p:nvPr/>
        </p:nvSpPr>
        <p:spPr>
          <a:xfrm>
            <a:off x="8065008" y="4663440"/>
            <a:ext cx="3557016" cy="1554480"/>
          </a:xfrm>
          <a:prstGeom prst="roundRect">
            <a:avLst>
              <a:gd name="adj" fmla="val 470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68" name="círculo FaClipboardCheck"/>
          <p:cNvSpPr/>
          <p:nvPr/>
        </p:nvSpPr>
        <p:spPr>
          <a:xfrm>
            <a:off x="8247888" y="4846320"/>
            <a:ext cx="548640" cy="548640"/>
          </a:xfrm>
          <a:prstGeom prst="ellipse">
            <a:avLst/>
          </a:prstGeom>
          <a:solidFill>
            <a:srgbClr val="1F4D3A"/>
          </a:solidFill>
          <a:ln w="12700">
            <a:solidFill>
              <a:srgbClr val="1F4D3A"/>
            </a:solidFill>
            <a:prstDash val="solid"/>
          </a:ln>
        </p:spPr>
      </p:sp>
      <p:pic>
        <p:nvPicPr>
          <p:cNvPr id="69" name="Image 2" descr="FaClipboardCheck">    </p:cNvPr>
          <p:cNvPicPr>
            <a:picLocks noChangeAspect="1"/>
          </p:cNvPicPr>
          <p:nvPr/>
        </p:nvPicPr>
        <p:blipFill>
          <a:blip r:embed="rId3"/>
          <a:stretch>
            <a:fillRect/>
          </a:stretch>
        </p:blipFill>
        <p:spPr>
          <a:xfrm>
            <a:off x="8379562" y="4977994"/>
            <a:ext cx="285293" cy="285293"/>
          </a:xfrm>
          <a:prstGeom prst="rect">
            <a:avLst/>
          </a:prstGeom>
        </p:spPr>
      </p:pic>
      <p:sp>
        <p:nvSpPr>
          <p:cNvPr id="70" name="Text 65"/>
          <p:cNvSpPr txBox="1"/>
          <p:nvPr/>
        </p:nvSpPr>
        <p:spPr>
          <a:xfrm>
            <a:off x="8933688" y="4800600"/>
            <a:ext cx="2560320" cy="640080"/>
          </a:xfrm>
          <a:prstGeom prst="rect">
            <a:avLst/>
          </a:prstGeom>
          <a:noFill/>
          <a:ln/>
        </p:spPr>
        <p:txBody>
          <a:bodyPr wrap="square" lIns="0" tIns="0" rIns="0" bIns="0" rtlCol="0" anchor="ctr"/>
          <a:lstStyle/>
          <a:p>
            <a:pPr indent="0" marL="0">
              <a:buNone/>
            </a:pPr>
            <a:r>
              <a:rPr lang="en-US" sz="1400" b="1" dirty="0">
                <a:solidFill>
                  <a:srgbClr val="1F4D3A"/>
                </a:solidFill>
              </a:rPr>
              <a:t>Inspección y bienestar animal</a:t>
            </a:r>
            <a:endParaRPr lang="en-US" sz="1400" dirty="0"/>
          </a:p>
        </p:txBody>
      </p:sp>
      <p:sp>
        <p:nvSpPr>
          <p:cNvPr id="71" name="Text 66"/>
          <p:cNvSpPr txBox="1"/>
          <p:nvPr/>
        </p:nvSpPr>
        <p:spPr>
          <a:xfrm>
            <a:off x="8247888" y="5486400"/>
            <a:ext cx="3200400" cy="685800"/>
          </a:xfrm>
          <a:prstGeom prst="rect">
            <a:avLst/>
          </a:prstGeom>
          <a:noFill/>
          <a:ln/>
        </p:spPr>
        <p:txBody>
          <a:bodyPr wrap="square" lIns="0" tIns="0" rIns="0" bIns="0" rtlCol="0" anchor="t"/>
          <a:lstStyle/>
          <a:p>
            <a:pPr indent="0" marL="0">
              <a:buNone/>
            </a:pPr>
            <a:r>
              <a:rPr lang="en-US" sz="1200" dirty="0">
                <a:solidFill>
                  <a:srgbClr val="1E2B24"/>
                </a:solidFill>
              </a:rPr>
              <a:t>Inspección veterinaria, zonificación higiénica y requisitos de SENASA en todo el recorrido.</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Qué sale de un pollo</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tiqueta ESTIMACIÓN"/>
          <p:cNvSpPr txBox="1"/>
          <p:nvPr/>
        </p:nvSpPr>
        <p:spPr>
          <a:xfrm>
            <a:off x="9142171" y="603504"/>
            <a:ext cx="1252728" cy="274320"/>
          </a:xfrm>
          <a:prstGeom prst="roundRect">
            <a:avLst>
              <a:gd name="adj" fmla="val 50000"/>
            </a:avLst>
          </a:prstGeom>
          <a:solidFill>
            <a:srgbClr val="2F6690"/>
          </a:solidFill>
          <a:ln/>
        </p:spPr>
        <p:txBody>
          <a:bodyPr wrap="square" lIns="0" tIns="0" rIns="0" bIns="0" rtlCol="0" anchor="ctr"/>
          <a:lstStyle/>
          <a:p>
            <a:pPr algn="ctr" indent="0" marL="0">
              <a:buNone/>
            </a:pPr>
            <a:r>
              <a:rPr lang="en-US" sz="1050" b="1" spc="100" kern="0" dirty="0">
                <a:solidFill>
                  <a:srgbClr val="FFFFFF"/>
                </a:solidFill>
              </a:rPr>
              <a:t>ESTIMACIÓN</a:t>
            </a:r>
            <a:endParaRPr lang="en-US" sz="1050" dirty="0"/>
          </a:p>
        </p:txBody>
      </p:sp>
      <p:graphicFrame>
        <p:nvGraphicFramePr>
          <p:cNvPr id="5" name="Chart 0" descr=""/>
          <p:cNvGraphicFramePr/>
          <p:nvPr/>
        </p:nvGraphicFramePr>
        <p:xfrm>
          <a:off x="548640" y="1325880"/>
          <a:ext cx="6035040" cy="4617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989320"/>
            <a:ext cx="6035040" cy="320040"/>
          </a:xfrm>
          <a:prstGeom prst="rect">
            <a:avLst/>
          </a:prstGeom>
          <a:noFill/>
          <a:ln/>
        </p:spPr>
        <p:txBody>
          <a:bodyPr wrap="square" lIns="0" tIns="0" rIns="0" bIns="0" rtlCol="0" anchor="t"/>
          <a:lstStyle/>
          <a:p>
            <a:pPr indent="0" marL="0">
              <a:buNone/>
            </a:pPr>
            <a:r>
              <a:rPr lang="en-US" sz="1100" dirty="0">
                <a:solidFill>
                  <a:srgbClr val="5F6B66"/>
                </a:solidFill>
              </a:rPr>
              <a:t>Balance de masa del modelo con rendimientos de referencia; falta un ensayo en una planta argentina.</a:t>
            </a:r>
            <a:endParaRPr lang="en-US" sz="1100" dirty="0"/>
          </a:p>
        </p:txBody>
      </p:sp>
      <p:sp>
        <p:nvSpPr>
          <p:cNvPr id="7" name="Text 4"/>
          <p:cNvSpPr txBox="1"/>
          <p:nvPr/>
        </p:nvSpPr>
        <p:spPr>
          <a:xfrm>
            <a:off x="6949440" y="1325880"/>
            <a:ext cx="4690872" cy="411480"/>
          </a:xfrm>
          <a:prstGeom prst="rect">
            <a:avLst/>
          </a:prstGeom>
          <a:noFill/>
          <a:ln/>
        </p:spPr>
        <p:txBody>
          <a:bodyPr wrap="square" lIns="0" tIns="0" rIns="0" bIns="0" rtlCol="0" anchor="t"/>
          <a:lstStyle/>
          <a:p>
            <a:pPr indent="0" marL="0">
              <a:buNone/>
            </a:pPr>
            <a:r>
              <a:rPr lang="en-US" sz="1800" b="1" dirty="0">
                <a:solidFill>
                  <a:srgbClr val="1F4D3A"/>
                </a:solidFill>
              </a:rPr>
              <a:t>Las rutas son alternativas: no se suman</a:t>
            </a:r>
            <a:endParaRPr lang="en-US" sz="1800" dirty="0"/>
          </a:p>
        </p:txBody>
      </p:sp>
      <p:sp>
        <p:nvSpPr>
          <p:cNvPr id="8" name="tarjeta"/>
          <p:cNvSpPr/>
          <p:nvPr/>
        </p:nvSpPr>
        <p:spPr>
          <a:xfrm>
            <a:off x="6949440" y="1828800"/>
            <a:ext cx="4023360" cy="685800"/>
          </a:xfrm>
          <a:prstGeom prst="roundRect">
            <a:avLst>
              <a:gd name="adj" fmla="val 10667"/>
            </a:avLst>
          </a:prstGeom>
          <a:solidFill>
            <a:srgbClr val="EAF2EC"/>
          </a:solidFill>
          <a:ln w="9525">
            <a:solidFill>
              <a:srgbClr val="EAF2EC"/>
            </a:solidFill>
            <a:prstDash val="solid"/>
          </a:ln>
        </p:spPr>
      </p:sp>
      <p:sp>
        <p:nvSpPr>
          <p:cNvPr id="9" name="Text 6"/>
          <p:cNvSpPr txBox="1"/>
          <p:nvPr/>
        </p:nvSpPr>
        <p:spPr>
          <a:xfrm>
            <a:off x="7086600" y="1938528"/>
            <a:ext cx="457200" cy="457200"/>
          </a:xfrm>
          <a:prstGeom prst="ellipse">
            <a:avLst/>
          </a:prstGeom>
          <a:solidFill>
            <a:srgbClr val="1F4D3A"/>
          </a:solidFill>
          <a:ln/>
        </p:spPr>
        <p:txBody>
          <a:bodyPr wrap="square" lIns="0" tIns="0" rIns="0" bIns="0" rtlCol="0" anchor="ctr"/>
          <a:lstStyle/>
          <a:p>
            <a:pPr algn="ctr" indent="0" marL="0">
              <a:buNone/>
            </a:pPr>
            <a:r>
              <a:rPr lang="en-US" sz="1800" b="1" dirty="0">
                <a:solidFill>
                  <a:srgbClr val="FFFFFF"/>
                </a:solidFill>
              </a:rPr>
              <a:t>A</a:t>
            </a:r>
            <a:endParaRPr lang="en-US" sz="1800" dirty="0"/>
          </a:p>
        </p:txBody>
      </p:sp>
      <p:sp>
        <p:nvSpPr>
          <p:cNvPr id="10" name="Text 7"/>
          <p:cNvSpPr txBox="1"/>
          <p:nvPr/>
        </p:nvSpPr>
        <p:spPr>
          <a:xfrm>
            <a:off x="7680960" y="1874520"/>
            <a:ext cx="3200400" cy="594360"/>
          </a:xfrm>
          <a:prstGeom prst="rect">
            <a:avLst/>
          </a:prstGeom>
          <a:noFill/>
          <a:ln/>
        </p:spPr>
        <p:txBody>
          <a:bodyPr wrap="square" lIns="0" tIns="0" rIns="0" bIns="0" rtlCol="0" anchor="ctr"/>
          <a:lstStyle/>
          <a:p>
            <a:pPr indent="0" marL="0">
              <a:buNone/>
            </a:pPr>
            <a:r>
              <a:rPr lang="en-US" sz="1500" b="1" dirty="0">
                <a:solidFill>
                  <a:srgbClr val="1F4D3A"/>
                </a:solidFill>
              </a:rPr>
              <a:t>Entero  </a:t>
            </a:r>
            <a:pPr indent="0" marL="0">
              <a:buNone/>
            </a:pPr>
            <a:r>
              <a:rPr lang="en-US" sz="1200" dirty="0">
                <a:solidFill>
                  <a:srgbClr val="1E2B24"/>
                </a:solidFill>
              </a:rPr>
              <a:t>Se vende el ave entera</a:t>
            </a:r>
            <a:endParaRPr lang="en-US" sz="1500" dirty="0"/>
          </a:p>
        </p:txBody>
      </p:sp>
      <p:sp>
        <p:nvSpPr>
          <p:cNvPr id="11" name="tarjeta"/>
          <p:cNvSpPr/>
          <p:nvPr/>
        </p:nvSpPr>
        <p:spPr>
          <a:xfrm>
            <a:off x="6949440" y="2697480"/>
            <a:ext cx="4023360" cy="685800"/>
          </a:xfrm>
          <a:prstGeom prst="roundRect">
            <a:avLst>
              <a:gd name="adj" fmla="val 10667"/>
            </a:avLst>
          </a:prstGeom>
          <a:solidFill>
            <a:srgbClr val="EAF2EC"/>
          </a:solidFill>
          <a:ln w="9525">
            <a:solidFill>
              <a:srgbClr val="EAF2EC"/>
            </a:solidFill>
            <a:prstDash val="solid"/>
          </a:ln>
        </p:spPr>
      </p:sp>
      <p:sp>
        <p:nvSpPr>
          <p:cNvPr id="12" name="Text 9"/>
          <p:cNvSpPr txBox="1"/>
          <p:nvPr/>
        </p:nvSpPr>
        <p:spPr>
          <a:xfrm>
            <a:off x="7086600" y="2807208"/>
            <a:ext cx="457200" cy="457200"/>
          </a:xfrm>
          <a:prstGeom prst="ellipse">
            <a:avLst/>
          </a:prstGeom>
          <a:solidFill>
            <a:srgbClr val="1F4D3A"/>
          </a:solidFill>
          <a:ln/>
        </p:spPr>
        <p:txBody>
          <a:bodyPr wrap="square" lIns="0" tIns="0" rIns="0" bIns="0" rtlCol="0" anchor="ctr"/>
          <a:lstStyle/>
          <a:p>
            <a:pPr algn="ctr" indent="0" marL="0">
              <a:buNone/>
            </a:pPr>
            <a:r>
              <a:rPr lang="en-US" sz="1800" b="1" dirty="0">
                <a:solidFill>
                  <a:srgbClr val="FFFFFF"/>
                </a:solidFill>
              </a:rPr>
              <a:t>B</a:t>
            </a:r>
            <a:endParaRPr lang="en-US" sz="1800" dirty="0"/>
          </a:p>
        </p:txBody>
      </p:sp>
      <p:sp>
        <p:nvSpPr>
          <p:cNvPr id="13" name="Text 10"/>
          <p:cNvSpPr txBox="1"/>
          <p:nvPr/>
        </p:nvSpPr>
        <p:spPr>
          <a:xfrm>
            <a:off x="7680960" y="2743200"/>
            <a:ext cx="3200400" cy="594360"/>
          </a:xfrm>
          <a:prstGeom prst="rect">
            <a:avLst/>
          </a:prstGeom>
          <a:noFill/>
          <a:ln/>
        </p:spPr>
        <p:txBody>
          <a:bodyPr wrap="square" lIns="0" tIns="0" rIns="0" bIns="0" rtlCol="0" anchor="ctr"/>
          <a:lstStyle/>
          <a:p>
            <a:pPr indent="0" marL="0">
              <a:buNone/>
            </a:pPr>
            <a:r>
              <a:rPr lang="en-US" sz="1500" b="1" dirty="0">
                <a:solidFill>
                  <a:srgbClr val="1F4D3A"/>
                </a:solidFill>
              </a:rPr>
              <a:t>Trozado  </a:t>
            </a:r>
            <a:pPr indent="0" marL="0">
              <a:buNone/>
            </a:pPr>
            <a:r>
              <a:rPr lang="en-US" sz="1200" dirty="0">
                <a:solidFill>
                  <a:srgbClr val="1E2B24"/>
                </a:solidFill>
              </a:rPr>
              <a:t>Pechuga, pata-muslo, alas, carcasa</a:t>
            </a:r>
            <a:endParaRPr lang="en-US" sz="1500" dirty="0"/>
          </a:p>
        </p:txBody>
      </p:sp>
      <p:sp>
        <p:nvSpPr>
          <p:cNvPr id="14" name="tarjeta"/>
          <p:cNvSpPr/>
          <p:nvPr/>
        </p:nvSpPr>
        <p:spPr>
          <a:xfrm>
            <a:off x="6949440" y="3566160"/>
            <a:ext cx="4023360" cy="685800"/>
          </a:xfrm>
          <a:prstGeom prst="roundRect">
            <a:avLst>
              <a:gd name="adj" fmla="val 10667"/>
            </a:avLst>
          </a:prstGeom>
          <a:solidFill>
            <a:srgbClr val="EAF2EC"/>
          </a:solidFill>
          <a:ln w="9525">
            <a:solidFill>
              <a:srgbClr val="EAF2EC"/>
            </a:solidFill>
            <a:prstDash val="solid"/>
          </a:ln>
        </p:spPr>
      </p:sp>
      <p:sp>
        <p:nvSpPr>
          <p:cNvPr id="15" name="Text 12"/>
          <p:cNvSpPr txBox="1"/>
          <p:nvPr/>
        </p:nvSpPr>
        <p:spPr>
          <a:xfrm>
            <a:off x="7086600" y="3675888"/>
            <a:ext cx="457200" cy="457200"/>
          </a:xfrm>
          <a:prstGeom prst="ellipse">
            <a:avLst/>
          </a:prstGeom>
          <a:solidFill>
            <a:srgbClr val="1F4D3A"/>
          </a:solidFill>
          <a:ln/>
        </p:spPr>
        <p:txBody>
          <a:bodyPr wrap="square" lIns="0" tIns="0" rIns="0" bIns="0" rtlCol="0" anchor="ctr"/>
          <a:lstStyle/>
          <a:p>
            <a:pPr algn="ctr" indent="0" marL="0">
              <a:buNone/>
            </a:pPr>
            <a:r>
              <a:rPr lang="en-US" sz="1800" b="1" dirty="0">
                <a:solidFill>
                  <a:srgbClr val="FFFFFF"/>
                </a:solidFill>
              </a:rPr>
              <a:t>C</a:t>
            </a:r>
            <a:endParaRPr lang="en-US" sz="1800" dirty="0"/>
          </a:p>
        </p:txBody>
      </p:sp>
      <p:sp>
        <p:nvSpPr>
          <p:cNvPr id="16" name="Text 13"/>
          <p:cNvSpPr txBox="1"/>
          <p:nvPr/>
        </p:nvSpPr>
        <p:spPr>
          <a:xfrm>
            <a:off x="7680960" y="3611880"/>
            <a:ext cx="3200400" cy="594360"/>
          </a:xfrm>
          <a:prstGeom prst="rect">
            <a:avLst/>
          </a:prstGeom>
          <a:noFill/>
          <a:ln/>
        </p:spPr>
        <p:txBody>
          <a:bodyPr wrap="square" lIns="0" tIns="0" rIns="0" bIns="0" rtlCol="0" anchor="ctr"/>
          <a:lstStyle/>
          <a:p>
            <a:pPr indent="0" marL="0">
              <a:buNone/>
            </a:pPr>
            <a:r>
              <a:rPr lang="en-US" sz="1500" b="1" dirty="0">
                <a:solidFill>
                  <a:srgbClr val="1F4D3A"/>
                </a:solidFill>
              </a:rPr>
              <a:t>Deshuesado  </a:t>
            </a:r>
            <a:pPr indent="0" marL="0">
              <a:buNone/>
            </a:pPr>
            <a:r>
              <a:rPr lang="en-US" sz="1200" dirty="0">
                <a:solidFill>
                  <a:srgbClr val="1E2B24"/>
                </a:solidFill>
              </a:rPr>
              <a:t>Suprema, muslo sin hueso, CMS</a:t>
            </a:r>
            <a:endParaRPr lang="en-US" sz="1500" dirty="0"/>
          </a:p>
        </p:txBody>
      </p:sp>
      <p:sp>
        <p:nvSpPr>
          <p:cNvPr id="17" name="Text 14"/>
          <p:cNvSpPr txBox="1"/>
          <p:nvPr/>
        </p:nvSpPr>
        <p:spPr>
          <a:xfrm>
            <a:off x="6949440" y="4526280"/>
            <a:ext cx="4690872" cy="685800"/>
          </a:xfrm>
          <a:prstGeom prst="rect">
            <a:avLst/>
          </a:prstGeom>
          <a:noFill/>
          <a:ln/>
        </p:spPr>
        <p:txBody>
          <a:bodyPr wrap="square" lIns="0" tIns="0" rIns="0" bIns="0" rtlCol="0" anchor="ctr"/>
          <a:lstStyle/>
          <a:p>
            <a:pPr indent="0" marL="0">
              <a:buNone/>
            </a:pPr>
            <a:r>
              <a:rPr lang="en-US" sz="1400" b="1" dirty="0">
                <a:solidFill>
                  <a:srgbClr val="1E2B24"/>
                </a:solidFill>
              </a:rPr>
              <a:t>La carcasa </a:t>
            </a:r>
            <a:pPr indent="0" marL="0">
              <a:buNone/>
            </a:pPr>
            <a:r>
              <a:rPr lang="en-US" sz="1400" dirty="0">
                <a:solidFill>
                  <a:srgbClr val="1E2B24"/>
                </a:solidFill>
              </a:rPr>
              <a:t>se vende, o va a CMS (pasta para elaborados), o a rendering: nunca dos a la vez.</a:t>
            </a:r>
            <a:endParaRPr lang="en-US" sz="1400" dirty="0"/>
          </a:p>
        </p:txBody>
      </p:sp>
      <p:sp>
        <p:nvSpPr>
          <p:cNvPr id="18" name="Text 15"/>
          <p:cNvSpPr txBox="1"/>
          <p:nvPr/>
        </p:nvSpPr>
        <p:spPr>
          <a:xfrm>
            <a:off x="6949440" y="5303520"/>
            <a:ext cx="4690872" cy="914400"/>
          </a:xfrm>
          <a:prstGeom prst="roundRect">
            <a:avLst>
              <a:gd name="adj" fmla="val 8000"/>
            </a:avLst>
          </a:prstGeom>
          <a:solidFill>
            <a:srgbClr val="FBF1DC"/>
          </a:solidFill>
          <a:ln/>
        </p:spPr>
        <p:txBody>
          <a:bodyPr wrap="square" lIns="101600" tIns="101600" rIns="101600" bIns="101600" rtlCol="0" anchor="ctr"/>
          <a:lstStyle/>
          <a:p>
            <a:pPr indent="0" marL="0">
              <a:buNone/>
            </a:pPr>
            <a:r>
              <a:rPr lang="en-US" sz="1400" b="1" dirty="0">
                <a:solidFill>
                  <a:srgbClr val="1F4D3A"/>
                </a:solidFill>
              </a:rPr>
              <a:t>Objetivo: </a:t>
            </a:r>
            <a:pPr indent="0" marL="0">
              <a:buNone/>
            </a:pPr>
            <a:r>
              <a:rPr lang="en-US" sz="1400" dirty="0">
                <a:solidFill>
                  <a:srgbClr val="1E2B24"/>
                </a:solidFill>
              </a:rPr>
              <a:t>que cada parte vaya al mercado que mejor la paga (ingreso total por ave). Hoy no hay precios para calcularlo.</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Dónde podría estar la planta</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Text 2"/>
          <p:cNvSpPr txBox="1"/>
          <p:nvPr/>
        </p:nvSpPr>
        <p:spPr>
          <a:xfrm>
            <a:off x="548640" y="1298448"/>
            <a:ext cx="5852160" cy="320040"/>
          </a:xfrm>
          <a:prstGeom prst="rect">
            <a:avLst/>
          </a:prstGeom>
          <a:noFill/>
          <a:ln/>
        </p:spPr>
        <p:txBody>
          <a:bodyPr wrap="square" lIns="0" tIns="0" rIns="0" bIns="0" rtlCol="0" anchor="t"/>
          <a:lstStyle/>
          <a:p>
            <a:pPr indent="0" marL="0">
              <a:buNone/>
            </a:pPr>
            <a:r>
              <a:rPr lang="en-US" sz="1400" b="1" dirty="0">
                <a:solidFill>
                  <a:srgbClr val="5F6B66"/>
                </a:solidFill>
              </a:rPr>
              <a:t>5 provincias · 13 corredores estudiados (sin orden de preferencia)</a:t>
            </a:r>
            <a:endParaRPr lang="en-US" sz="1400" dirty="0"/>
          </a:p>
        </p:txBody>
      </p:sp>
      <p:sp>
        <p:nvSpPr>
          <p:cNvPr id="5" name="tarjeta"/>
          <p:cNvSpPr/>
          <p:nvPr/>
        </p:nvSpPr>
        <p:spPr>
          <a:xfrm>
            <a:off x="548640" y="1737360"/>
            <a:ext cx="5852160" cy="731520"/>
          </a:xfrm>
          <a:prstGeom prst="roundRect">
            <a:avLst>
              <a:gd name="adj" fmla="val 10000"/>
            </a:avLst>
          </a:prstGeom>
          <a:solidFill>
            <a:srgbClr val="EAF2EC"/>
          </a:solidFill>
          <a:ln w="9525">
            <a:solidFill>
              <a:srgbClr val="EAF2EC"/>
            </a:solidFill>
            <a:prstDash val="solid"/>
          </a:ln>
        </p:spPr>
      </p:sp>
      <p:sp>
        <p:nvSpPr>
          <p:cNvPr id="6" name="Text 4"/>
          <p:cNvSpPr txBox="1"/>
          <p:nvPr/>
        </p:nvSpPr>
        <p:spPr>
          <a:xfrm>
            <a:off x="731520" y="1737360"/>
            <a:ext cx="1554480" cy="731520"/>
          </a:xfrm>
          <a:prstGeom prst="rect">
            <a:avLst/>
          </a:prstGeom>
          <a:noFill/>
          <a:ln/>
        </p:spPr>
        <p:txBody>
          <a:bodyPr wrap="square" lIns="0" tIns="0" rIns="0" bIns="0" rtlCol="0" anchor="ctr"/>
          <a:lstStyle/>
          <a:p>
            <a:pPr indent="0" marL="0">
              <a:buNone/>
            </a:pPr>
            <a:r>
              <a:rPr lang="en-US" sz="1600" b="1" dirty="0">
                <a:solidFill>
                  <a:srgbClr val="1F4D3A"/>
                </a:solidFill>
              </a:rPr>
              <a:t>Buenos Aires</a:t>
            </a:r>
            <a:endParaRPr lang="en-US" sz="1600" dirty="0"/>
          </a:p>
        </p:txBody>
      </p:sp>
      <p:sp>
        <p:nvSpPr>
          <p:cNvPr id="7" name="Text 5"/>
          <p:cNvSpPr txBox="1"/>
          <p:nvPr/>
        </p:nvSpPr>
        <p:spPr>
          <a:xfrm>
            <a:off x="2331720" y="1938528"/>
            <a:ext cx="1440180"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Periurbano AMBA</a:t>
            </a:r>
            <a:endParaRPr lang="en-US" sz="1200" dirty="0"/>
          </a:p>
        </p:txBody>
      </p:sp>
      <p:sp>
        <p:nvSpPr>
          <p:cNvPr id="8" name="Text 6"/>
          <p:cNvSpPr txBox="1"/>
          <p:nvPr/>
        </p:nvSpPr>
        <p:spPr>
          <a:xfrm>
            <a:off x="3863340" y="1938528"/>
            <a:ext cx="662940"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Norte</a:t>
            </a:r>
            <a:endParaRPr lang="en-US" sz="1200" dirty="0"/>
          </a:p>
        </p:txBody>
      </p:sp>
      <p:sp>
        <p:nvSpPr>
          <p:cNvPr id="9" name="Text 7"/>
          <p:cNvSpPr txBox="1"/>
          <p:nvPr/>
        </p:nvSpPr>
        <p:spPr>
          <a:xfrm>
            <a:off x="4617720" y="1938528"/>
            <a:ext cx="662940"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Oeste</a:t>
            </a:r>
            <a:endParaRPr lang="en-US" sz="1200" dirty="0"/>
          </a:p>
        </p:txBody>
      </p:sp>
      <p:sp>
        <p:nvSpPr>
          <p:cNvPr id="10" name="Text 8"/>
          <p:cNvSpPr txBox="1"/>
          <p:nvPr/>
        </p:nvSpPr>
        <p:spPr>
          <a:xfrm>
            <a:off x="5372100" y="1938528"/>
            <a:ext cx="896112"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Interior</a:t>
            </a:r>
            <a:endParaRPr lang="en-US" sz="1200" dirty="0"/>
          </a:p>
        </p:txBody>
      </p:sp>
      <p:sp>
        <p:nvSpPr>
          <p:cNvPr id="11" name="tarjeta"/>
          <p:cNvSpPr/>
          <p:nvPr/>
        </p:nvSpPr>
        <p:spPr>
          <a:xfrm>
            <a:off x="548640" y="2606040"/>
            <a:ext cx="5852160" cy="731520"/>
          </a:xfrm>
          <a:prstGeom prst="roundRect">
            <a:avLst>
              <a:gd name="adj" fmla="val 10000"/>
            </a:avLst>
          </a:prstGeom>
          <a:solidFill>
            <a:srgbClr val="EAF2EC"/>
          </a:solidFill>
          <a:ln w="9525">
            <a:solidFill>
              <a:srgbClr val="EAF2EC"/>
            </a:solidFill>
            <a:prstDash val="solid"/>
          </a:ln>
        </p:spPr>
      </p:sp>
      <p:sp>
        <p:nvSpPr>
          <p:cNvPr id="12" name="Text 10"/>
          <p:cNvSpPr txBox="1"/>
          <p:nvPr/>
        </p:nvSpPr>
        <p:spPr>
          <a:xfrm>
            <a:off x="731520" y="2606040"/>
            <a:ext cx="1554480" cy="731520"/>
          </a:xfrm>
          <a:prstGeom prst="rect">
            <a:avLst/>
          </a:prstGeom>
          <a:noFill/>
          <a:ln/>
        </p:spPr>
        <p:txBody>
          <a:bodyPr wrap="square" lIns="0" tIns="0" rIns="0" bIns="0" rtlCol="0" anchor="ctr"/>
          <a:lstStyle/>
          <a:p>
            <a:pPr indent="0" marL="0">
              <a:buNone/>
            </a:pPr>
            <a:r>
              <a:rPr lang="en-US" sz="1600" b="1" dirty="0">
                <a:solidFill>
                  <a:srgbClr val="1F4D3A"/>
                </a:solidFill>
              </a:rPr>
              <a:t>Entre Ríos</a:t>
            </a:r>
            <a:endParaRPr lang="en-US" sz="1600" dirty="0"/>
          </a:p>
        </p:txBody>
      </p:sp>
      <p:sp>
        <p:nvSpPr>
          <p:cNvPr id="13" name="Text 11"/>
          <p:cNvSpPr txBox="1"/>
          <p:nvPr/>
        </p:nvSpPr>
        <p:spPr>
          <a:xfrm>
            <a:off x="2331720" y="2807208"/>
            <a:ext cx="507492"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Sur</a:t>
            </a:r>
            <a:endParaRPr lang="en-US" sz="1200" dirty="0"/>
          </a:p>
        </p:txBody>
      </p:sp>
      <p:sp>
        <p:nvSpPr>
          <p:cNvPr id="14" name="Text 12"/>
          <p:cNvSpPr txBox="1"/>
          <p:nvPr/>
        </p:nvSpPr>
        <p:spPr>
          <a:xfrm>
            <a:off x="2930652" y="2807208"/>
            <a:ext cx="1129284"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Río Uruguay</a:t>
            </a:r>
            <a:endParaRPr lang="en-US" sz="1200" dirty="0"/>
          </a:p>
        </p:txBody>
      </p:sp>
      <p:sp>
        <p:nvSpPr>
          <p:cNvPr id="15" name="Text 13"/>
          <p:cNvSpPr txBox="1"/>
          <p:nvPr/>
        </p:nvSpPr>
        <p:spPr>
          <a:xfrm>
            <a:off x="4151376" y="2807208"/>
            <a:ext cx="740664"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Centro</a:t>
            </a:r>
            <a:endParaRPr lang="en-US" sz="1200" dirty="0"/>
          </a:p>
        </p:txBody>
      </p:sp>
      <p:sp>
        <p:nvSpPr>
          <p:cNvPr id="16" name="tarjeta"/>
          <p:cNvSpPr/>
          <p:nvPr/>
        </p:nvSpPr>
        <p:spPr>
          <a:xfrm>
            <a:off x="548640" y="3474720"/>
            <a:ext cx="5852160" cy="731520"/>
          </a:xfrm>
          <a:prstGeom prst="roundRect">
            <a:avLst>
              <a:gd name="adj" fmla="val 10000"/>
            </a:avLst>
          </a:prstGeom>
          <a:solidFill>
            <a:srgbClr val="EAF2EC"/>
          </a:solidFill>
          <a:ln w="9525">
            <a:solidFill>
              <a:srgbClr val="EAF2EC"/>
            </a:solidFill>
            <a:prstDash val="solid"/>
          </a:ln>
        </p:spPr>
      </p:sp>
      <p:sp>
        <p:nvSpPr>
          <p:cNvPr id="17" name="Text 15"/>
          <p:cNvSpPr txBox="1"/>
          <p:nvPr/>
        </p:nvSpPr>
        <p:spPr>
          <a:xfrm>
            <a:off x="731520" y="3474720"/>
            <a:ext cx="1554480" cy="731520"/>
          </a:xfrm>
          <a:prstGeom prst="rect">
            <a:avLst/>
          </a:prstGeom>
          <a:noFill/>
          <a:ln/>
        </p:spPr>
        <p:txBody>
          <a:bodyPr wrap="square" lIns="0" tIns="0" rIns="0" bIns="0" rtlCol="0" anchor="ctr"/>
          <a:lstStyle/>
          <a:p>
            <a:pPr indent="0" marL="0">
              <a:buNone/>
            </a:pPr>
            <a:r>
              <a:rPr lang="en-US" sz="1600" b="1" dirty="0">
                <a:solidFill>
                  <a:srgbClr val="1F4D3A"/>
                </a:solidFill>
              </a:rPr>
              <a:t>Santa Fe</a:t>
            </a:r>
            <a:endParaRPr lang="en-US" sz="1600" dirty="0"/>
          </a:p>
        </p:txBody>
      </p:sp>
      <p:sp>
        <p:nvSpPr>
          <p:cNvPr id="18" name="Text 16"/>
          <p:cNvSpPr txBox="1"/>
          <p:nvPr/>
        </p:nvSpPr>
        <p:spPr>
          <a:xfrm>
            <a:off x="2331720" y="3675888"/>
            <a:ext cx="1207008"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Gran Rosario</a:t>
            </a:r>
            <a:endParaRPr lang="en-US" sz="1200" dirty="0"/>
          </a:p>
        </p:txBody>
      </p:sp>
      <p:sp>
        <p:nvSpPr>
          <p:cNvPr id="19" name="Text 17"/>
          <p:cNvSpPr txBox="1"/>
          <p:nvPr/>
        </p:nvSpPr>
        <p:spPr>
          <a:xfrm>
            <a:off x="3630168" y="3675888"/>
            <a:ext cx="740664"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Centro</a:t>
            </a:r>
            <a:endParaRPr lang="en-US" sz="1200" dirty="0"/>
          </a:p>
        </p:txBody>
      </p:sp>
      <p:sp>
        <p:nvSpPr>
          <p:cNvPr id="20" name="tarjeta"/>
          <p:cNvSpPr/>
          <p:nvPr/>
        </p:nvSpPr>
        <p:spPr>
          <a:xfrm>
            <a:off x="548640" y="4343400"/>
            <a:ext cx="5852160" cy="731520"/>
          </a:xfrm>
          <a:prstGeom prst="roundRect">
            <a:avLst>
              <a:gd name="adj" fmla="val 10000"/>
            </a:avLst>
          </a:prstGeom>
          <a:solidFill>
            <a:srgbClr val="EAF2EC"/>
          </a:solidFill>
          <a:ln w="9525">
            <a:solidFill>
              <a:srgbClr val="EAF2EC"/>
            </a:solidFill>
            <a:prstDash val="solid"/>
          </a:ln>
        </p:spPr>
      </p:sp>
      <p:sp>
        <p:nvSpPr>
          <p:cNvPr id="21" name="Text 19"/>
          <p:cNvSpPr txBox="1"/>
          <p:nvPr/>
        </p:nvSpPr>
        <p:spPr>
          <a:xfrm>
            <a:off x="731520" y="4343400"/>
            <a:ext cx="1554480" cy="731520"/>
          </a:xfrm>
          <a:prstGeom prst="rect">
            <a:avLst/>
          </a:prstGeom>
          <a:noFill/>
          <a:ln/>
        </p:spPr>
        <p:txBody>
          <a:bodyPr wrap="square" lIns="0" tIns="0" rIns="0" bIns="0" rtlCol="0" anchor="ctr"/>
          <a:lstStyle/>
          <a:p>
            <a:pPr indent="0" marL="0">
              <a:buNone/>
            </a:pPr>
            <a:r>
              <a:rPr lang="en-US" sz="1600" b="1" dirty="0">
                <a:solidFill>
                  <a:srgbClr val="1F4D3A"/>
                </a:solidFill>
              </a:rPr>
              <a:t>Córdoba</a:t>
            </a:r>
            <a:endParaRPr lang="en-US" sz="1600" dirty="0"/>
          </a:p>
        </p:txBody>
      </p:sp>
      <p:sp>
        <p:nvSpPr>
          <p:cNvPr id="22" name="Text 20"/>
          <p:cNvSpPr txBox="1"/>
          <p:nvPr/>
        </p:nvSpPr>
        <p:spPr>
          <a:xfrm>
            <a:off x="2331720" y="4544568"/>
            <a:ext cx="507492"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Sur</a:t>
            </a:r>
            <a:endParaRPr lang="en-US" sz="1200" dirty="0"/>
          </a:p>
        </p:txBody>
      </p:sp>
      <p:sp>
        <p:nvSpPr>
          <p:cNvPr id="23" name="Text 21"/>
          <p:cNvSpPr txBox="1"/>
          <p:nvPr/>
        </p:nvSpPr>
        <p:spPr>
          <a:xfrm>
            <a:off x="2930652" y="4544568"/>
            <a:ext cx="585216"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Este</a:t>
            </a:r>
            <a:endParaRPr lang="en-US" sz="1200" dirty="0"/>
          </a:p>
        </p:txBody>
      </p:sp>
      <p:sp>
        <p:nvSpPr>
          <p:cNvPr id="24" name="tarjeta"/>
          <p:cNvSpPr/>
          <p:nvPr/>
        </p:nvSpPr>
        <p:spPr>
          <a:xfrm>
            <a:off x="548640" y="5212080"/>
            <a:ext cx="5852160" cy="731520"/>
          </a:xfrm>
          <a:prstGeom prst="roundRect">
            <a:avLst>
              <a:gd name="adj" fmla="val 10000"/>
            </a:avLst>
          </a:prstGeom>
          <a:solidFill>
            <a:srgbClr val="EAF2EC"/>
          </a:solidFill>
          <a:ln w="9525">
            <a:solidFill>
              <a:srgbClr val="EAF2EC"/>
            </a:solidFill>
            <a:prstDash val="solid"/>
          </a:ln>
        </p:spPr>
      </p:sp>
      <p:sp>
        <p:nvSpPr>
          <p:cNvPr id="25" name="Text 23"/>
          <p:cNvSpPr txBox="1"/>
          <p:nvPr/>
        </p:nvSpPr>
        <p:spPr>
          <a:xfrm>
            <a:off x="731520" y="5212080"/>
            <a:ext cx="1554480" cy="731520"/>
          </a:xfrm>
          <a:prstGeom prst="rect">
            <a:avLst/>
          </a:prstGeom>
          <a:noFill/>
          <a:ln/>
        </p:spPr>
        <p:txBody>
          <a:bodyPr wrap="square" lIns="0" tIns="0" rIns="0" bIns="0" rtlCol="0" anchor="ctr"/>
          <a:lstStyle/>
          <a:p>
            <a:pPr indent="0" marL="0">
              <a:buNone/>
            </a:pPr>
            <a:r>
              <a:rPr lang="en-US" sz="1600" b="1" dirty="0">
                <a:solidFill>
                  <a:srgbClr val="1F4D3A"/>
                </a:solidFill>
              </a:rPr>
              <a:t>Chaco</a:t>
            </a:r>
            <a:endParaRPr lang="en-US" sz="1600" dirty="0"/>
          </a:p>
        </p:txBody>
      </p:sp>
      <p:sp>
        <p:nvSpPr>
          <p:cNvPr id="26" name="Text 24"/>
          <p:cNvSpPr txBox="1"/>
          <p:nvPr/>
        </p:nvSpPr>
        <p:spPr>
          <a:xfrm>
            <a:off x="2331720" y="5413248"/>
            <a:ext cx="585216"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Este</a:t>
            </a:r>
            <a:endParaRPr lang="en-US" sz="1200" dirty="0"/>
          </a:p>
        </p:txBody>
      </p:sp>
      <p:sp>
        <p:nvSpPr>
          <p:cNvPr id="27" name="Text 25"/>
          <p:cNvSpPr txBox="1"/>
          <p:nvPr/>
        </p:nvSpPr>
        <p:spPr>
          <a:xfrm>
            <a:off x="3008376" y="5413248"/>
            <a:ext cx="740664" cy="329184"/>
          </a:xfrm>
          <a:prstGeom prst="roundRect">
            <a:avLst>
              <a:gd name="adj" fmla="val 41667"/>
            </a:avLst>
          </a:prstGeom>
          <a:solidFill>
            <a:srgbClr val="FFFFFF"/>
          </a:solidFill>
          <a:ln w="9525">
            <a:solidFill>
              <a:srgbClr val="C9D6CE"/>
            </a:solidFill>
          </a:ln>
        </p:spPr>
        <p:txBody>
          <a:bodyPr wrap="square" lIns="0" tIns="0" rIns="0" bIns="0" rtlCol="0" anchor="ctr"/>
          <a:lstStyle/>
          <a:p>
            <a:pPr algn="ctr" indent="0" marL="0">
              <a:buNone/>
            </a:pPr>
            <a:r>
              <a:rPr lang="en-US" sz="1200" dirty="0">
                <a:solidFill>
                  <a:srgbClr val="1F4D3A"/>
                </a:solidFill>
              </a:rPr>
              <a:t>Centro</a:t>
            </a:r>
            <a:endParaRPr lang="en-US" sz="1200" dirty="0"/>
          </a:p>
        </p:txBody>
      </p:sp>
      <p:sp>
        <p:nvSpPr>
          <p:cNvPr id="28" name="tarjeta"/>
          <p:cNvSpPr/>
          <p:nvPr/>
        </p:nvSpPr>
        <p:spPr>
          <a:xfrm>
            <a:off x="6720840" y="1325880"/>
            <a:ext cx="4919472" cy="1280160"/>
          </a:xfrm>
          <a:prstGeom prst="roundRect">
            <a:avLst>
              <a:gd name="adj" fmla="val 5714"/>
            </a:avLst>
          </a:prstGeom>
          <a:solidFill>
            <a:srgbClr val="F8E3E1"/>
          </a:solidFill>
          <a:ln w="9525">
            <a:solidFill>
              <a:srgbClr val="F8E3E1"/>
            </a:solidFill>
            <a:prstDash val="solid"/>
          </a:ln>
        </p:spPr>
      </p:sp>
      <p:sp>
        <p:nvSpPr>
          <p:cNvPr id="29" name="Text 27"/>
          <p:cNvSpPr txBox="1"/>
          <p:nvPr/>
        </p:nvSpPr>
        <p:spPr>
          <a:xfrm>
            <a:off x="6949440" y="1371600"/>
            <a:ext cx="2194560" cy="777240"/>
          </a:xfrm>
          <a:prstGeom prst="rect">
            <a:avLst/>
          </a:prstGeom>
          <a:noFill/>
          <a:ln/>
        </p:spPr>
        <p:txBody>
          <a:bodyPr wrap="square" lIns="0" tIns="0" rIns="0" bIns="0" rtlCol="0" anchor="ctr"/>
          <a:lstStyle/>
          <a:p>
            <a:pPr indent="0" marL="0">
              <a:buNone/>
            </a:pPr>
            <a:r>
              <a:rPr lang="en-US" sz="3600" b="1" dirty="0">
                <a:solidFill>
                  <a:srgbClr val="B3261E"/>
                </a:solidFill>
              </a:rPr>
              <a:t>0 de 624</a:t>
            </a:r>
            <a:endParaRPr lang="en-US" sz="3600" dirty="0"/>
          </a:p>
        </p:txBody>
      </p:sp>
      <p:sp>
        <p:nvSpPr>
          <p:cNvPr id="30" name="Text 28"/>
          <p:cNvSpPr txBox="1"/>
          <p:nvPr/>
        </p:nvSpPr>
        <p:spPr>
          <a:xfrm>
            <a:off x="9144000" y="1417320"/>
            <a:ext cx="2377440" cy="1097280"/>
          </a:xfrm>
          <a:prstGeom prst="rect">
            <a:avLst/>
          </a:prstGeom>
          <a:noFill/>
          <a:ln/>
        </p:spPr>
        <p:txBody>
          <a:bodyPr wrap="square" lIns="0" tIns="0" rIns="0" bIns="0" rtlCol="0" anchor="ctr"/>
          <a:lstStyle/>
          <a:p>
            <a:pPr indent="0" marL="0">
              <a:buNone/>
            </a:pPr>
            <a:r>
              <a:rPr lang="en-US" sz="1300" dirty="0">
                <a:solidFill>
                  <a:srgbClr val="1E2B24"/>
                </a:solidFill>
              </a:rPr>
              <a:t>datos de la matriz de localización verificados: no hay ranking ganador</a:t>
            </a:r>
            <a:endParaRPr lang="en-US" sz="1300" dirty="0"/>
          </a:p>
        </p:txBody>
      </p:sp>
      <p:sp>
        <p:nvSpPr>
          <p:cNvPr id="31" name="Text 29"/>
          <p:cNvSpPr txBox="1"/>
          <p:nvPr/>
        </p:nvSpPr>
        <p:spPr>
          <a:xfrm>
            <a:off x="6720840" y="2743200"/>
            <a:ext cx="4919472" cy="320040"/>
          </a:xfrm>
          <a:prstGeom prst="rect">
            <a:avLst/>
          </a:prstGeom>
          <a:noFill/>
          <a:ln/>
        </p:spPr>
        <p:txBody>
          <a:bodyPr wrap="square" lIns="0" tIns="0" rIns="0" bIns="0" rtlCol="0" anchor="t"/>
          <a:lstStyle/>
          <a:p>
            <a:pPr indent="0" marL="0">
              <a:buNone/>
            </a:pPr>
            <a:r>
              <a:rPr lang="en-US" sz="1400" b="1" dirty="0">
                <a:solidFill>
                  <a:srgbClr val="1F4D3A"/>
                </a:solidFill>
              </a:rPr>
              <a:t>Condiciones que pueden descartar un terreno</a:t>
            </a:r>
            <a:endParaRPr lang="en-US" sz="1400" dirty="0"/>
          </a:p>
        </p:txBody>
      </p:sp>
      <p:sp>
        <p:nvSpPr>
          <p:cNvPr id="32" name="círculo FaMap"/>
          <p:cNvSpPr/>
          <p:nvPr/>
        </p:nvSpPr>
        <p:spPr>
          <a:xfrm>
            <a:off x="6995160" y="3127248"/>
            <a:ext cx="566928" cy="566928"/>
          </a:xfrm>
          <a:prstGeom prst="ellipse">
            <a:avLst/>
          </a:prstGeom>
          <a:solidFill>
            <a:srgbClr val="1F4D3A"/>
          </a:solidFill>
          <a:ln w="12700">
            <a:solidFill>
              <a:srgbClr val="1F4D3A"/>
            </a:solidFill>
            <a:prstDash val="solid"/>
          </a:ln>
        </p:spPr>
      </p:sp>
      <p:pic>
        <p:nvPicPr>
          <p:cNvPr id="33" name="Image 0" descr="FaMap">    </p:cNvPr>
          <p:cNvPicPr>
            <a:picLocks noChangeAspect="1"/>
          </p:cNvPicPr>
          <p:nvPr/>
        </p:nvPicPr>
        <p:blipFill>
          <a:blip r:embed="rId1"/>
          <a:stretch>
            <a:fillRect/>
          </a:stretch>
        </p:blipFill>
        <p:spPr>
          <a:xfrm>
            <a:off x="7131223" y="3263311"/>
            <a:ext cx="294803" cy="294803"/>
          </a:xfrm>
          <a:prstGeom prst="rect">
            <a:avLst/>
          </a:prstGeom>
        </p:spPr>
      </p:pic>
      <p:sp>
        <p:nvSpPr>
          <p:cNvPr id="34" name="Text 31"/>
          <p:cNvSpPr txBox="1"/>
          <p:nvPr/>
        </p:nvSpPr>
        <p:spPr>
          <a:xfrm>
            <a:off x="6720840" y="3730752"/>
            <a:ext cx="1115568" cy="274320"/>
          </a:xfrm>
          <a:prstGeom prst="rect">
            <a:avLst/>
          </a:prstGeom>
          <a:noFill/>
          <a:ln/>
        </p:spPr>
        <p:txBody>
          <a:bodyPr wrap="square" lIns="0" tIns="0" rIns="0" bIns="0" rtlCol="0" anchor="t"/>
          <a:lstStyle/>
          <a:p>
            <a:pPr algn="ctr" indent="0" marL="0">
              <a:buNone/>
            </a:pPr>
            <a:r>
              <a:rPr lang="en-US" sz="1200" b="1" dirty="0">
                <a:solidFill>
                  <a:srgbClr val="1E2B24"/>
                </a:solidFill>
              </a:rPr>
              <a:t>Uso de suelo</a:t>
            </a:r>
            <a:endParaRPr lang="en-US" sz="1200" dirty="0"/>
          </a:p>
        </p:txBody>
      </p:sp>
      <p:sp>
        <p:nvSpPr>
          <p:cNvPr id="35" name="círculo FaWater"/>
          <p:cNvSpPr/>
          <p:nvPr/>
        </p:nvSpPr>
        <p:spPr>
          <a:xfrm>
            <a:off x="8238744" y="3127248"/>
            <a:ext cx="566928" cy="566928"/>
          </a:xfrm>
          <a:prstGeom prst="ellipse">
            <a:avLst/>
          </a:prstGeom>
          <a:solidFill>
            <a:srgbClr val="1F4D3A"/>
          </a:solidFill>
          <a:ln w="12700">
            <a:solidFill>
              <a:srgbClr val="1F4D3A"/>
            </a:solidFill>
            <a:prstDash val="solid"/>
          </a:ln>
        </p:spPr>
      </p:sp>
      <p:pic>
        <p:nvPicPr>
          <p:cNvPr id="36" name="Image 1" descr="FaWater">    </p:cNvPr>
          <p:cNvPicPr>
            <a:picLocks noChangeAspect="1"/>
          </p:cNvPicPr>
          <p:nvPr/>
        </p:nvPicPr>
        <p:blipFill>
          <a:blip r:embed="rId2"/>
          <a:stretch>
            <a:fillRect/>
          </a:stretch>
        </p:blipFill>
        <p:spPr>
          <a:xfrm>
            <a:off x="8374807" y="3263311"/>
            <a:ext cx="294803" cy="294803"/>
          </a:xfrm>
          <a:prstGeom prst="rect">
            <a:avLst/>
          </a:prstGeom>
        </p:spPr>
      </p:pic>
      <p:sp>
        <p:nvSpPr>
          <p:cNvPr id="37" name="Text 33"/>
          <p:cNvSpPr txBox="1"/>
          <p:nvPr/>
        </p:nvSpPr>
        <p:spPr>
          <a:xfrm>
            <a:off x="7964424" y="3730752"/>
            <a:ext cx="1115568" cy="274320"/>
          </a:xfrm>
          <a:prstGeom prst="rect">
            <a:avLst/>
          </a:prstGeom>
          <a:noFill/>
          <a:ln/>
        </p:spPr>
        <p:txBody>
          <a:bodyPr wrap="square" lIns="0" tIns="0" rIns="0" bIns="0" rtlCol="0" anchor="t"/>
          <a:lstStyle/>
          <a:p>
            <a:pPr algn="ctr" indent="0" marL="0">
              <a:buNone/>
            </a:pPr>
            <a:r>
              <a:rPr lang="en-US" sz="1200" b="1" dirty="0">
                <a:solidFill>
                  <a:srgbClr val="1E2B24"/>
                </a:solidFill>
              </a:rPr>
              <a:t>Agua</a:t>
            </a:r>
            <a:endParaRPr lang="en-US" sz="1200" dirty="0"/>
          </a:p>
        </p:txBody>
      </p:sp>
      <p:sp>
        <p:nvSpPr>
          <p:cNvPr id="38" name="círculo FaTint"/>
          <p:cNvSpPr/>
          <p:nvPr/>
        </p:nvSpPr>
        <p:spPr>
          <a:xfrm>
            <a:off x="9482328" y="3127248"/>
            <a:ext cx="566928" cy="566928"/>
          </a:xfrm>
          <a:prstGeom prst="ellipse">
            <a:avLst/>
          </a:prstGeom>
          <a:solidFill>
            <a:srgbClr val="1F4D3A"/>
          </a:solidFill>
          <a:ln w="12700">
            <a:solidFill>
              <a:srgbClr val="1F4D3A"/>
            </a:solidFill>
            <a:prstDash val="solid"/>
          </a:ln>
        </p:spPr>
      </p:sp>
      <p:pic>
        <p:nvPicPr>
          <p:cNvPr id="39" name="Image 2" descr="FaTint">    </p:cNvPr>
          <p:cNvPicPr>
            <a:picLocks noChangeAspect="1"/>
          </p:cNvPicPr>
          <p:nvPr/>
        </p:nvPicPr>
        <p:blipFill>
          <a:blip r:embed="rId3"/>
          <a:stretch>
            <a:fillRect/>
          </a:stretch>
        </p:blipFill>
        <p:spPr>
          <a:xfrm>
            <a:off x="9618391" y="3263311"/>
            <a:ext cx="294803" cy="294803"/>
          </a:xfrm>
          <a:prstGeom prst="rect">
            <a:avLst/>
          </a:prstGeom>
        </p:spPr>
      </p:pic>
      <p:sp>
        <p:nvSpPr>
          <p:cNvPr id="40" name="Text 35"/>
          <p:cNvSpPr txBox="1"/>
          <p:nvPr/>
        </p:nvSpPr>
        <p:spPr>
          <a:xfrm>
            <a:off x="9208008" y="3730752"/>
            <a:ext cx="1115568" cy="274320"/>
          </a:xfrm>
          <a:prstGeom prst="rect">
            <a:avLst/>
          </a:prstGeom>
          <a:noFill/>
          <a:ln/>
        </p:spPr>
        <p:txBody>
          <a:bodyPr wrap="square" lIns="0" tIns="0" rIns="0" bIns="0" rtlCol="0" anchor="t"/>
          <a:lstStyle/>
          <a:p>
            <a:pPr algn="ctr" indent="0" marL="0">
              <a:buNone/>
            </a:pPr>
            <a:r>
              <a:rPr lang="en-US" sz="1200" b="1" dirty="0">
                <a:solidFill>
                  <a:srgbClr val="1E2B24"/>
                </a:solidFill>
              </a:rPr>
              <a:t>Efluentes</a:t>
            </a:r>
            <a:endParaRPr lang="en-US" sz="1200" dirty="0"/>
          </a:p>
        </p:txBody>
      </p:sp>
      <p:sp>
        <p:nvSpPr>
          <p:cNvPr id="41" name="círculo FaPlug"/>
          <p:cNvSpPr/>
          <p:nvPr/>
        </p:nvSpPr>
        <p:spPr>
          <a:xfrm>
            <a:off x="10725912" y="3127248"/>
            <a:ext cx="566928" cy="566928"/>
          </a:xfrm>
          <a:prstGeom prst="ellipse">
            <a:avLst/>
          </a:prstGeom>
          <a:solidFill>
            <a:srgbClr val="1F4D3A"/>
          </a:solidFill>
          <a:ln w="12700">
            <a:solidFill>
              <a:srgbClr val="1F4D3A"/>
            </a:solidFill>
            <a:prstDash val="solid"/>
          </a:ln>
        </p:spPr>
      </p:sp>
      <p:pic>
        <p:nvPicPr>
          <p:cNvPr id="42" name="Image 3" descr="FaPlug">    </p:cNvPr>
          <p:cNvPicPr>
            <a:picLocks noChangeAspect="1"/>
          </p:cNvPicPr>
          <p:nvPr/>
        </p:nvPicPr>
        <p:blipFill>
          <a:blip r:embed="rId4"/>
          <a:stretch>
            <a:fillRect/>
          </a:stretch>
        </p:blipFill>
        <p:spPr>
          <a:xfrm>
            <a:off x="10861975" y="3263311"/>
            <a:ext cx="294803" cy="294803"/>
          </a:xfrm>
          <a:prstGeom prst="rect">
            <a:avLst/>
          </a:prstGeom>
        </p:spPr>
      </p:pic>
      <p:sp>
        <p:nvSpPr>
          <p:cNvPr id="43" name="Text 37"/>
          <p:cNvSpPr txBox="1"/>
          <p:nvPr/>
        </p:nvSpPr>
        <p:spPr>
          <a:xfrm>
            <a:off x="10451592" y="3730752"/>
            <a:ext cx="1115568" cy="274320"/>
          </a:xfrm>
          <a:prstGeom prst="rect">
            <a:avLst/>
          </a:prstGeom>
          <a:noFill/>
          <a:ln/>
        </p:spPr>
        <p:txBody>
          <a:bodyPr wrap="square" lIns="0" tIns="0" rIns="0" bIns="0" rtlCol="0" anchor="t"/>
          <a:lstStyle/>
          <a:p>
            <a:pPr algn="ctr" indent="0" marL="0">
              <a:buNone/>
            </a:pPr>
            <a:r>
              <a:rPr lang="en-US" sz="1200" b="1" dirty="0">
                <a:solidFill>
                  <a:srgbClr val="1E2B24"/>
                </a:solidFill>
              </a:rPr>
              <a:t>Energía</a:t>
            </a:r>
            <a:endParaRPr lang="en-US" sz="1200" dirty="0"/>
          </a:p>
        </p:txBody>
      </p:sp>
      <p:sp>
        <p:nvSpPr>
          <p:cNvPr id="44" name="Text 38"/>
          <p:cNvSpPr txBox="1"/>
          <p:nvPr/>
        </p:nvSpPr>
        <p:spPr>
          <a:xfrm>
            <a:off x="6720840" y="4160520"/>
            <a:ext cx="4919472" cy="960120"/>
          </a:xfrm>
          <a:prstGeom prst="roundRect">
            <a:avLst>
              <a:gd name="adj" fmla="val 7619"/>
            </a:avLst>
          </a:prstGeom>
          <a:solidFill>
            <a:srgbClr val="FBF1DC"/>
          </a:solidFill>
          <a:ln/>
        </p:spPr>
        <p:txBody>
          <a:bodyPr wrap="square" lIns="101600" tIns="101600" rIns="101600" bIns="101600" rtlCol="0" anchor="t"/>
          <a:lstStyle/>
          <a:p>
            <a:pPr indent="0" marL="0">
              <a:buNone/>
            </a:pPr>
            <a:r>
              <a:rPr lang="en-US" sz="1300" b="1" dirty="0">
                <a:solidFill>
                  <a:srgbClr val="1F4D3A"/>
                </a:solidFill>
              </a:rPr>
              <a:t>Condiciones a resolver </a:t>
            </a:r>
            <a:endParaRPr lang="en-US" sz="1300" dirty="0"/>
          </a:p>
          <a:p>
            <a:pPr indent="0" marL="0">
              <a:buNone/>
            </a:pPr>
            <a:r>
              <a:rPr lang="en-US" sz="1300" dirty="0">
                <a:solidFill>
                  <a:srgbClr val="1E2B24"/>
                </a:solidFill>
              </a:rPr>
              <a:t>vecinos · acceso y logística · riesgo hídrico · gas · potencia eléctrica · quién recibe los subproductos</a:t>
            </a:r>
            <a:endParaRPr lang="en-US" sz="1300" dirty="0"/>
          </a:p>
        </p:txBody>
      </p:sp>
      <p:sp>
        <p:nvSpPr>
          <p:cNvPr id="45" name="Text 39"/>
          <p:cNvSpPr txBox="1"/>
          <p:nvPr/>
        </p:nvSpPr>
        <p:spPr>
          <a:xfrm>
            <a:off x="6720840" y="5257800"/>
            <a:ext cx="4919472" cy="868680"/>
          </a:xfrm>
          <a:prstGeom prst="rect">
            <a:avLst/>
          </a:prstGeom>
          <a:noFill/>
          <a:ln/>
        </p:spPr>
        <p:txBody>
          <a:bodyPr wrap="square" lIns="0" tIns="0" rIns="0" bIns="0" rtlCol="0" anchor="t"/>
          <a:lstStyle/>
          <a:p>
            <a:pPr indent="0" marL="0">
              <a:buNone/>
            </a:pPr>
            <a:r>
              <a:rPr lang="en-US" sz="1200" i="1" dirty="0">
                <a:solidFill>
                  <a:srgbClr val="5F6B66"/>
                </a:solidFill>
              </a:rPr>
              <a:t>Las condiciones se verifican terreno por terreno, con el municipio. El contacto personal en Chaco es una ventaja cualitativa: no suma puntos en el análisis.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Terreno e infraestructura: un orden de magnitud</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tiqueta ESTIMACIÓN"/>
          <p:cNvSpPr txBox="1"/>
          <p:nvPr/>
        </p:nvSpPr>
        <p:spPr>
          <a:xfrm>
            <a:off x="9142171" y="603504"/>
            <a:ext cx="1252728" cy="274320"/>
          </a:xfrm>
          <a:prstGeom prst="roundRect">
            <a:avLst>
              <a:gd name="adj" fmla="val 50000"/>
            </a:avLst>
          </a:prstGeom>
          <a:solidFill>
            <a:srgbClr val="2F6690"/>
          </a:solidFill>
          <a:ln/>
        </p:spPr>
        <p:txBody>
          <a:bodyPr wrap="square" lIns="0" tIns="0" rIns="0" bIns="0" rtlCol="0" anchor="ctr"/>
          <a:lstStyle/>
          <a:p>
            <a:pPr algn="ctr" indent="0" marL="0">
              <a:buNone/>
            </a:pPr>
            <a:r>
              <a:rPr lang="en-US" sz="1050" b="1" spc="100" kern="0" dirty="0">
                <a:solidFill>
                  <a:srgbClr val="FFFFFF"/>
                </a:solidFill>
              </a:rPr>
              <a:t>ESTIMACIÓN</a:t>
            </a:r>
            <a:endParaRPr lang="en-US" sz="1050" dirty="0"/>
          </a:p>
        </p:txBody>
      </p:sp>
      <p:sp>
        <p:nvSpPr>
          <p:cNvPr id="5" name="terreno"/>
          <p:cNvSpPr/>
          <p:nvPr/>
        </p:nvSpPr>
        <p:spPr>
          <a:xfrm>
            <a:off x="548640" y="1371600"/>
            <a:ext cx="5760720" cy="4754880"/>
          </a:xfrm>
          <a:prstGeom prst="roundRect">
            <a:avLst>
              <a:gd name="adj" fmla="val 1154"/>
            </a:avLst>
          </a:prstGeom>
          <a:solidFill>
            <a:srgbClr val="EAF2EC"/>
          </a:solidFill>
          <a:ln w="15875">
            <a:solidFill>
              <a:srgbClr val="1F4D3A"/>
            </a:solidFill>
            <a:prstDash val="dash"/>
          </a:ln>
        </p:spPr>
      </p:sp>
      <p:sp>
        <p:nvSpPr>
          <p:cNvPr id="6" name="Text 4"/>
          <p:cNvSpPr txBox="1"/>
          <p:nvPr/>
        </p:nvSpPr>
        <p:spPr>
          <a:xfrm>
            <a:off x="731520" y="1444752"/>
            <a:ext cx="4572000" cy="320040"/>
          </a:xfrm>
          <a:prstGeom prst="rect">
            <a:avLst/>
          </a:prstGeom>
          <a:noFill/>
          <a:ln/>
        </p:spPr>
        <p:txBody>
          <a:bodyPr wrap="square" lIns="0" tIns="0" rIns="0" bIns="0" rtlCol="0" anchor="t"/>
          <a:lstStyle/>
          <a:p>
            <a:pPr indent="0" marL="0">
              <a:buNone/>
            </a:pPr>
            <a:r>
              <a:rPr lang="en-US" sz="1300" b="1" dirty="0">
                <a:solidFill>
                  <a:srgbClr val="1F4D3A"/>
                </a:solidFill>
              </a:rPr>
              <a:t>Terreno (con retiros y circulación)</a:t>
            </a:r>
            <a:endParaRPr lang="en-US" sz="1300" dirty="0"/>
          </a:p>
        </p:txBody>
      </p:sp>
      <p:sp>
        <p:nvSpPr>
          <p:cNvPr id="7" name="Planta construida"/>
          <p:cNvSpPr/>
          <p:nvPr/>
        </p:nvSpPr>
        <p:spPr>
          <a:xfrm>
            <a:off x="822960" y="1874520"/>
            <a:ext cx="3017520" cy="2103120"/>
          </a:xfrm>
          <a:prstGeom prst="roundRect">
            <a:avLst>
              <a:gd name="adj" fmla="val 2174"/>
            </a:avLst>
          </a:prstGeom>
          <a:solidFill>
            <a:srgbClr val="1F4D3A"/>
          </a:solidFill>
          <a:ln w="12700">
            <a:solidFill>
              <a:srgbClr val="1F4D3A"/>
            </a:solidFill>
            <a:prstDash val="solid"/>
          </a:ln>
        </p:spPr>
      </p:sp>
      <p:sp>
        <p:nvSpPr>
          <p:cNvPr id="8" name="Text 6"/>
          <p:cNvSpPr txBox="1"/>
          <p:nvPr/>
        </p:nvSpPr>
        <p:spPr>
          <a:xfrm>
            <a:off x="960120" y="1965960"/>
            <a:ext cx="2743200" cy="1920240"/>
          </a:xfrm>
          <a:prstGeom prst="rect">
            <a:avLst/>
          </a:prstGeom>
          <a:noFill/>
          <a:ln/>
        </p:spPr>
        <p:txBody>
          <a:bodyPr wrap="square" lIns="0" tIns="0" rIns="0" bIns="0" rtlCol="0" anchor="ctr"/>
          <a:lstStyle/>
          <a:p>
            <a:pPr indent="0" marL="0">
              <a:buNone/>
            </a:pPr>
            <a:r>
              <a:rPr lang="en-US" sz="1400" b="1" dirty="0">
                <a:solidFill>
                  <a:srgbClr val="FFFFFF"/>
                </a:solidFill>
              </a:rPr>
              <a:t>Planta construida</a:t>
            </a:r>
            <a:endParaRPr lang="en-US" sz="1400" dirty="0"/>
          </a:p>
          <a:p>
            <a:pPr indent="0" marL="0">
              <a:buNone/>
            </a:pPr>
            <a:r>
              <a:rPr lang="en-US" sz="1100" dirty="0">
                <a:solidFill>
                  <a:srgbClr val="FFFFFF"/>
                </a:solidFill>
              </a:rPr>
              <a:t>Faena, proceso, empaque y servicios</a:t>
            </a:r>
            <a:endParaRPr lang="en-US" sz="1400" dirty="0"/>
          </a:p>
        </p:txBody>
      </p:sp>
      <p:sp>
        <p:nvSpPr>
          <p:cNvPr id="9" name="Cámaras de frío"/>
          <p:cNvSpPr/>
          <p:nvPr/>
        </p:nvSpPr>
        <p:spPr>
          <a:xfrm>
            <a:off x="4023360" y="1874520"/>
            <a:ext cx="2011680" cy="1005840"/>
          </a:xfrm>
          <a:prstGeom prst="roundRect">
            <a:avLst>
              <a:gd name="adj" fmla="val 4545"/>
            </a:avLst>
          </a:prstGeom>
          <a:solidFill>
            <a:srgbClr val="2F6690"/>
          </a:solidFill>
          <a:ln w="12700">
            <a:solidFill>
              <a:srgbClr val="2F6690"/>
            </a:solidFill>
            <a:prstDash val="solid"/>
          </a:ln>
        </p:spPr>
      </p:sp>
      <p:sp>
        <p:nvSpPr>
          <p:cNvPr id="10" name="Text 8"/>
          <p:cNvSpPr txBox="1"/>
          <p:nvPr/>
        </p:nvSpPr>
        <p:spPr>
          <a:xfrm>
            <a:off x="4160520" y="1965960"/>
            <a:ext cx="1737360" cy="822960"/>
          </a:xfrm>
          <a:prstGeom prst="rect">
            <a:avLst/>
          </a:prstGeom>
          <a:noFill/>
          <a:ln/>
        </p:spPr>
        <p:txBody>
          <a:bodyPr wrap="square" lIns="0" tIns="0" rIns="0" bIns="0" rtlCol="0" anchor="ctr"/>
          <a:lstStyle/>
          <a:p>
            <a:pPr indent="0" marL="0">
              <a:buNone/>
            </a:pPr>
            <a:r>
              <a:rPr lang="en-US" sz="1400" b="1" dirty="0">
                <a:solidFill>
                  <a:srgbClr val="FFFFFF"/>
                </a:solidFill>
              </a:rPr>
              <a:t>Cámaras de frío</a:t>
            </a:r>
            <a:endParaRPr lang="en-US" sz="1400" dirty="0"/>
          </a:p>
          <a:p>
            <a:pPr indent="0" marL="0">
              <a:buNone/>
            </a:pPr>
            <a:r>
              <a:rPr lang="en-US" sz="1100" dirty="0">
                <a:solidFill>
                  <a:srgbClr val="FFFFFF"/>
                </a:solidFill>
              </a:rPr>
              <a:t>Refrigerado y congelado</a:t>
            </a:r>
            <a:endParaRPr lang="en-US" sz="1400" dirty="0"/>
          </a:p>
        </p:txBody>
      </p:sp>
      <p:sp>
        <p:nvSpPr>
          <p:cNvPr id="11" name="Efluentes"/>
          <p:cNvSpPr/>
          <p:nvPr/>
        </p:nvSpPr>
        <p:spPr>
          <a:xfrm>
            <a:off x="4023360" y="2971800"/>
            <a:ext cx="2011680" cy="1005840"/>
          </a:xfrm>
          <a:prstGeom prst="roundRect">
            <a:avLst>
              <a:gd name="adj" fmla="val 4545"/>
            </a:avLst>
          </a:prstGeom>
          <a:solidFill>
            <a:srgbClr val="4F7F6A"/>
          </a:solidFill>
          <a:ln w="12700">
            <a:solidFill>
              <a:srgbClr val="4F7F6A"/>
            </a:solidFill>
            <a:prstDash val="solid"/>
          </a:ln>
        </p:spPr>
      </p:sp>
      <p:sp>
        <p:nvSpPr>
          <p:cNvPr id="12" name="Text 10"/>
          <p:cNvSpPr txBox="1"/>
          <p:nvPr/>
        </p:nvSpPr>
        <p:spPr>
          <a:xfrm>
            <a:off x="4160520" y="3063240"/>
            <a:ext cx="1737360" cy="822960"/>
          </a:xfrm>
          <a:prstGeom prst="rect">
            <a:avLst/>
          </a:prstGeom>
          <a:noFill/>
          <a:ln/>
        </p:spPr>
        <p:txBody>
          <a:bodyPr wrap="square" lIns="0" tIns="0" rIns="0" bIns="0" rtlCol="0" anchor="ctr"/>
          <a:lstStyle/>
          <a:p>
            <a:pPr indent="0" marL="0">
              <a:buNone/>
            </a:pPr>
            <a:r>
              <a:rPr lang="en-US" sz="1400" b="1" dirty="0">
                <a:solidFill>
                  <a:srgbClr val="FFFFFF"/>
                </a:solidFill>
              </a:rPr>
              <a:t>Efluentes</a:t>
            </a:r>
            <a:endParaRPr lang="en-US" sz="1400" dirty="0"/>
          </a:p>
          <a:p>
            <a:pPr indent="0" marL="0">
              <a:buNone/>
            </a:pPr>
            <a:r>
              <a:rPr lang="en-US" sz="1100" dirty="0">
                <a:solidFill>
                  <a:srgbClr val="FFFFFF"/>
                </a:solidFill>
              </a:rPr>
              <a:t>Tratamiento del agua</a:t>
            </a:r>
            <a:endParaRPr lang="en-US" sz="1400" dirty="0"/>
          </a:p>
        </p:txBody>
      </p:sp>
      <p:sp>
        <p:nvSpPr>
          <p:cNvPr id="13" name="Reserva de expansión"/>
          <p:cNvSpPr/>
          <p:nvPr/>
        </p:nvSpPr>
        <p:spPr>
          <a:xfrm>
            <a:off x="822960" y="4160520"/>
            <a:ext cx="5212080" cy="777240"/>
          </a:xfrm>
          <a:prstGeom prst="roundRect">
            <a:avLst>
              <a:gd name="adj" fmla="val 5882"/>
            </a:avLst>
          </a:prstGeom>
          <a:solidFill>
            <a:srgbClr val="FBF1DC"/>
          </a:solidFill>
          <a:ln w="12700">
            <a:solidFill>
              <a:srgbClr val="FBF1DC"/>
            </a:solidFill>
            <a:prstDash val="solid"/>
          </a:ln>
        </p:spPr>
      </p:sp>
      <p:sp>
        <p:nvSpPr>
          <p:cNvPr id="14" name="Text 12"/>
          <p:cNvSpPr txBox="1"/>
          <p:nvPr/>
        </p:nvSpPr>
        <p:spPr>
          <a:xfrm>
            <a:off x="960120" y="4251960"/>
            <a:ext cx="4937760" cy="594360"/>
          </a:xfrm>
          <a:prstGeom prst="rect">
            <a:avLst/>
          </a:prstGeom>
          <a:noFill/>
          <a:ln/>
        </p:spPr>
        <p:txBody>
          <a:bodyPr wrap="square" lIns="0" tIns="0" rIns="0" bIns="0" rtlCol="0" anchor="ctr"/>
          <a:lstStyle/>
          <a:p>
            <a:pPr indent="0" marL="0">
              <a:buNone/>
            </a:pPr>
            <a:r>
              <a:rPr lang="en-US" sz="1400" b="1" dirty="0">
                <a:solidFill>
                  <a:srgbClr val="1F4D3A"/>
                </a:solidFill>
              </a:rPr>
              <a:t>Reserva de expansión</a:t>
            </a:r>
            <a:endParaRPr lang="en-US" sz="1400" dirty="0"/>
          </a:p>
          <a:p>
            <a:pPr indent="0" marL="0">
              <a:buNone/>
            </a:pPr>
            <a:r>
              <a:rPr lang="en-US" sz="1100" dirty="0">
                <a:solidFill>
                  <a:srgbClr val="1F4D3A"/>
                </a:solidFill>
              </a:rPr>
              <a:t>Espacio para crecer</a:t>
            </a:r>
            <a:endParaRPr lang="en-US" sz="1400" dirty="0"/>
          </a:p>
        </p:txBody>
      </p:sp>
      <p:sp>
        <p:nvSpPr>
          <p:cNvPr id="15" name="Accesos, playa de camiones, estacionamiento"/>
          <p:cNvSpPr/>
          <p:nvPr/>
        </p:nvSpPr>
        <p:spPr>
          <a:xfrm>
            <a:off x="822960" y="5074920"/>
            <a:ext cx="5212080" cy="822960"/>
          </a:xfrm>
          <a:prstGeom prst="roundRect">
            <a:avLst>
              <a:gd name="adj" fmla="val 5556"/>
            </a:avLst>
          </a:prstGeom>
          <a:solidFill>
            <a:srgbClr val="FFFFFF"/>
          </a:solidFill>
          <a:ln w="12700">
            <a:solidFill>
              <a:srgbClr val="C9D6CE"/>
            </a:solidFill>
            <a:prstDash val="solid"/>
          </a:ln>
        </p:spPr>
      </p:sp>
      <p:sp>
        <p:nvSpPr>
          <p:cNvPr id="16" name="Text 14"/>
          <p:cNvSpPr txBox="1"/>
          <p:nvPr/>
        </p:nvSpPr>
        <p:spPr>
          <a:xfrm>
            <a:off x="960120" y="5166360"/>
            <a:ext cx="4937760" cy="640080"/>
          </a:xfrm>
          <a:prstGeom prst="rect">
            <a:avLst/>
          </a:prstGeom>
          <a:noFill/>
          <a:ln/>
        </p:spPr>
        <p:txBody>
          <a:bodyPr wrap="square" lIns="0" tIns="0" rIns="0" bIns="0" rtlCol="0" anchor="ctr"/>
          <a:lstStyle/>
          <a:p>
            <a:pPr indent="0" marL="0">
              <a:buNone/>
            </a:pPr>
            <a:r>
              <a:rPr lang="en-US" sz="1400" b="1" dirty="0">
                <a:solidFill>
                  <a:srgbClr val="1F4D3A"/>
                </a:solidFill>
              </a:rPr>
              <a:t>Accesos, playa de camiones, estacionamiento</a:t>
            </a:r>
            <a:endParaRPr lang="en-US" sz="1400" dirty="0"/>
          </a:p>
          <a:p>
            <a:pPr indent="0" marL="0">
              <a:buNone/>
            </a:pPr>
            <a:r>
              <a:rPr lang="en-US" sz="1100" dirty="0">
                <a:solidFill>
                  <a:srgbClr val="1F4D3A"/>
                </a:solidFill>
              </a:rPr>
              <a:t>Recepción de aves vivas y despacho</a:t>
            </a:r>
            <a:endParaRPr lang="en-US" sz="1400" dirty="0"/>
          </a:p>
        </p:txBody>
      </p:sp>
      <p:sp>
        <p:nvSpPr>
          <p:cNvPr id="17" name="tarjeta"/>
          <p:cNvSpPr/>
          <p:nvPr/>
        </p:nvSpPr>
        <p:spPr>
          <a:xfrm>
            <a:off x="6675120" y="1371600"/>
            <a:ext cx="4965192" cy="932688"/>
          </a:xfrm>
          <a:prstGeom prst="roundRect">
            <a:avLst>
              <a:gd name="adj" fmla="val 7843"/>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8" name="Text 16"/>
          <p:cNvSpPr txBox="1"/>
          <p:nvPr/>
        </p:nvSpPr>
        <p:spPr>
          <a:xfrm>
            <a:off x="6858000" y="1371600"/>
            <a:ext cx="2240280" cy="932688"/>
          </a:xfrm>
          <a:prstGeom prst="rect">
            <a:avLst/>
          </a:prstGeom>
          <a:noFill/>
          <a:ln/>
        </p:spPr>
        <p:txBody>
          <a:bodyPr wrap="square" lIns="0" tIns="0" rIns="0" bIns="0" rtlCol="0" anchor="ctr"/>
          <a:lstStyle/>
          <a:p>
            <a:pPr indent="0" marL="0">
              <a:buNone/>
            </a:pPr>
            <a:r>
              <a:rPr lang="en-US" sz="2000" b="1" dirty="0">
                <a:solidFill>
                  <a:srgbClr val="2F6690"/>
                </a:solidFill>
              </a:rPr>
              <a:t>≈ 2 a 4,4 ha</a:t>
            </a:r>
            <a:endParaRPr lang="en-US" sz="2000" dirty="0"/>
          </a:p>
        </p:txBody>
      </p:sp>
      <p:sp>
        <p:nvSpPr>
          <p:cNvPr id="19" name="Text 17"/>
          <p:cNvSpPr txBox="1"/>
          <p:nvPr/>
        </p:nvSpPr>
        <p:spPr>
          <a:xfrm>
            <a:off x="9098280" y="1371600"/>
            <a:ext cx="2423160" cy="932688"/>
          </a:xfrm>
          <a:prstGeom prst="rect">
            <a:avLst/>
          </a:prstGeom>
          <a:noFill/>
          <a:ln/>
        </p:spPr>
        <p:txBody>
          <a:bodyPr wrap="square" lIns="0" tIns="0" rIns="0" bIns="0" rtlCol="0" anchor="ctr"/>
          <a:lstStyle/>
          <a:p>
            <a:pPr indent="0" marL="0">
              <a:buNone/>
            </a:pPr>
            <a:r>
              <a:rPr lang="en-US" sz="1200" dirty="0">
                <a:solidFill>
                  <a:srgbClr val="1E2B24"/>
                </a:solidFill>
              </a:rPr>
              <a:t>terreno conceptual según la escala (19.868 a 43.660 m², de 2.500 a 20.000 aves/día)</a:t>
            </a:r>
            <a:endParaRPr lang="en-US" sz="1200" dirty="0"/>
          </a:p>
        </p:txBody>
      </p:sp>
      <p:sp>
        <p:nvSpPr>
          <p:cNvPr id="20" name="tarjeta"/>
          <p:cNvSpPr/>
          <p:nvPr/>
        </p:nvSpPr>
        <p:spPr>
          <a:xfrm>
            <a:off x="6675120" y="2450592"/>
            <a:ext cx="4965192" cy="932688"/>
          </a:xfrm>
          <a:prstGeom prst="roundRect">
            <a:avLst>
              <a:gd name="adj" fmla="val 7843"/>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1" name="Text 19"/>
          <p:cNvSpPr txBox="1"/>
          <p:nvPr/>
        </p:nvSpPr>
        <p:spPr>
          <a:xfrm>
            <a:off x="6858000" y="2450592"/>
            <a:ext cx="2240280" cy="932688"/>
          </a:xfrm>
          <a:prstGeom prst="rect">
            <a:avLst/>
          </a:prstGeom>
          <a:noFill/>
          <a:ln/>
        </p:spPr>
        <p:txBody>
          <a:bodyPr wrap="square" lIns="0" tIns="0" rIns="0" bIns="0" rtlCol="0" anchor="ctr"/>
          <a:lstStyle/>
          <a:p>
            <a:pPr indent="0" marL="0">
              <a:buNone/>
            </a:pPr>
            <a:r>
              <a:rPr lang="en-US" sz="2000" b="1" dirty="0">
                <a:solidFill>
                  <a:srgbClr val="2F6690"/>
                </a:solidFill>
              </a:rPr>
              <a:t>54 áreas · 9 zonas</a:t>
            </a:r>
            <a:endParaRPr lang="en-US" sz="2000" dirty="0"/>
          </a:p>
        </p:txBody>
      </p:sp>
      <p:sp>
        <p:nvSpPr>
          <p:cNvPr id="22" name="Text 20"/>
          <p:cNvSpPr txBox="1"/>
          <p:nvPr/>
        </p:nvSpPr>
        <p:spPr>
          <a:xfrm>
            <a:off x="9098280" y="2450592"/>
            <a:ext cx="2423160" cy="932688"/>
          </a:xfrm>
          <a:prstGeom prst="rect">
            <a:avLst/>
          </a:prstGeom>
          <a:noFill/>
          <a:ln/>
        </p:spPr>
        <p:txBody>
          <a:bodyPr wrap="square" lIns="0" tIns="0" rIns="0" bIns="0" rtlCol="0" anchor="ctr"/>
          <a:lstStyle/>
          <a:p>
            <a:pPr indent="0" marL="0">
              <a:buNone/>
            </a:pPr>
            <a:r>
              <a:rPr lang="en-US" sz="1200" dirty="0">
                <a:solidFill>
                  <a:srgbClr val="1E2B24"/>
                </a:solidFill>
              </a:rPr>
              <a:t>programa de la planta, con sus flujos higiénicos</a:t>
            </a:r>
            <a:endParaRPr lang="en-US" sz="1200" dirty="0"/>
          </a:p>
        </p:txBody>
      </p:sp>
      <p:sp>
        <p:nvSpPr>
          <p:cNvPr id="23" name="tarjeta"/>
          <p:cNvSpPr/>
          <p:nvPr/>
        </p:nvSpPr>
        <p:spPr>
          <a:xfrm>
            <a:off x="6675120" y="3529584"/>
            <a:ext cx="4965192" cy="932688"/>
          </a:xfrm>
          <a:prstGeom prst="roundRect">
            <a:avLst>
              <a:gd name="adj" fmla="val 7843"/>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4" name="Text 22"/>
          <p:cNvSpPr txBox="1"/>
          <p:nvPr/>
        </p:nvSpPr>
        <p:spPr>
          <a:xfrm>
            <a:off x="6858000" y="3529584"/>
            <a:ext cx="2240280" cy="932688"/>
          </a:xfrm>
          <a:prstGeom prst="rect">
            <a:avLst/>
          </a:prstGeom>
          <a:noFill/>
          <a:ln/>
        </p:spPr>
        <p:txBody>
          <a:bodyPr wrap="square" lIns="0" tIns="0" rIns="0" bIns="0" rtlCol="0" anchor="ctr"/>
          <a:lstStyle/>
          <a:p>
            <a:pPr indent="0" marL="0">
              <a:buNone/>
            </a:pPr>
            <a:r>
              <a:rPr lang="en-US" sz="2000" b="1" dirty="0">
                <a:solidFill>
                  <a:srgbClr val="C8641E"/>
                </a:solidFill>
              </a:rPr>
              <a:t>Sin planos</a:t>
            </a:r>
            <a:endParaRPr lang="en-US" sz="2000" dirty="0"/>
          </a:p>
        </p:txBody>
      </p:sp>
      <p:sp>
        <p:nvSpPr>
          <p:cNvPr id="25" name="Text 23"/>
          <p:cNvSpPr txBox="1"/>
          <p:nvPr/>
        </p:nvSpPr>
        <p:spPr>
          <a:xfrm>
            <a:off x="9098280" y="3529584"/>
            <a:ext cx="2423160" cy="932688"/>
          </a:xfrm>
          <a:prstGeom prst="rect">
            <a:avLst/>
          </a:prstGeom>
          <a:noFill/>
          <a:ln/>
        </p:spPr>
        <p:txBody>
          <a:bodyPr wrap="square" lIns="0" tIns="0" rIns="0" bIns="0" rtlCol="0" anchor="ctr"/>
          <a:lstStyle/>
          <a:p>
            <a:pPr indent="0" marL="0">
              <a:buNone/>
            </a:pPr>
            <a:r>
              <a:rPr lang="en-US" sz="1200" dirty="0">
                <a:solidFill>
                  <a:srgbClr val="1E2B24"/>
                </a:solidFill>
              </a:rPr>
              <a:t>no existe un layout constructivo ni anteproyecto</a:t>
            </a:r>
            <a:endParaRPr lang="en-US" sz="1200" dirty="0"/>
          </a:p>
        </p:txBody>
      </p:sp>
      <p:sp>
        <p:nvSpPr>
          <p:cNvPr id="26" name="Text 24"/>
          <p:cNvSpPr txBox="1"/>
          <p:nvPr/>
        </p:nvSpPr>
        <p:spPr>
          <a:xfrm>
            <a:off x="6675120" y="4681728"/>
            <a:ext cx="4965192" cy="1417320"/>
          </a:xfrm>
          <a:prstGeom prst="roundRect">
            <a:avLst>
              <a:gd name="adj" fmla="val 5161"/>
            </a:avLst>
          </a:prstGeom>
          <a:solidFill>
            <a:srgbClr val="FBF1DC"/>
          </a:solidFill>
          <a:ln/>
        </p:spPr>
        <p:txBody>
          <a:bodyPr wrap="square" lIns="127000" tIns="127000" rIns="127000" bIns="127000" rtlCol="0" anchor="t"/>
          <a:lstStyle/>
          <a:p>
            <a:pPr indent="0" marL="0">
              <a:buNone/>
            </a:pPr>
            <a:r>
              <a:rPr lang="en-US" sz="1400" b="1" dirty="0">
                <a:solidFill>
                  <a:srgbClr val="1F4D3A"/>
                </a:solidFill>
              </a:rPr>
              <a:t>El terreno real depende de:</a:t>
            </a:r>
            <a:endParaRPr lang="en-US" sz="1400" dirty="0"/>
          </a:p>
          <a:p>
            <a:pPr indent="0" marL="0">
              <a:buNone/>
            </a:pPr>
            <a:r>
              <a:rPr lang="en-US" sz="1400" dirty="0">
                <a:solidFill>
                  <a:srgbClr val="1E2B24"/>
                </a:solidFill>
              </a:rPr>
              <a:t>lo que permita el municipio (zonificación, retiros) · la tecnología de efluentes · cuánto se decida reservar para crecer.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CAPEX: estructura lista, total no disponible</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graphicFrame>
        <p:nvGraphicFramePr>
          <p:cNvPr id="4" name="Chart 0" descr=""/>
          <p:cNvGraphicFramePr/>
          <p:nvPr/>
        </p:nvGraphicFramePr>
        <p:xfrm>
          <a:off x="548640" y="1325880"/>
          <a:ext cx="457200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920240" y="2606040"/>
            <a:ext cx="1828800" cy="1005840"/>
          </a:xfrm>
          <a:prstGeom prst="rect">
            <a:avLst/>
          </a:prstGeom>
          <a:noFill/>
          <a:ln/>
        </p:spPr>
        <p:txBody>
          <a:bodyPr wrap="square" lIns="0" tIns="0" rIns="0" bIns="0" rtlCol="0" anchor="ctr"/>
          <a:lstStyle/>
          <a:p>
            <a:pPr algn="ctr" indent="0" marL="0">
              <a:buNone/>
            </a:pPr>
            <a:r>
              <a:rPr lang="en-US" sz="3400" b="1" dirty="0">
                <a:solidFill>
                  <a:srgbClr val="1F4D3A"/>
                </a:solidFill>
              </a:rPr>
              <a:t>175</a:t>
            </a:r>
            <a:endParaRPr lang="en-US" sz="1400" dirty="0"/>
          </a:p>
          <a:p>
            <a:pPr algn="ctr" indent="0" marL="0">
              <a:buNone/>
            </a:pPr>
            <a:r>
              <a:rPr lang="en-US" sz="1300" dirty="0">
                <a:solidFill>
                  <a:srgbClr val="5F6B66"/>
                </a:solidFill>
              </a:rPr>
              <a:t>conceptos</a:t>
            </a:r>
            <a:endParaRPr lang="en-US" sz="1400" dirty="0"/>
          </a:p>
        </p:txBody>
      </p:sp>
      <p:sp>
        <p:nvSpPr>
          <p:cNvPr id="6" name="Text 3"/>
          <p:cNvSpPr txBox="1"/>
          <p:nvPr/>
        </p:nvSpPr>
        <p:spPr>
          <a:xfrm>
            <a:off x="5486400" y="1371600"/>
            <a:ext cx="6153912" cy="731520"/>
          </a:xfrm>
          <a:prstGeom prst="roundRect">
            <a:avLst>
              <a:gd name="adj" fmla="val 10000"/>
            </a:avLst>
          </a:prstGeom>
          <a:solidFill>
            <a:srgbClr val="F8E3E1"/>
          </a:solidFill>
          <a:ln/>
        </p:spPr>
        <p:txBody>
          <a:bodyPr wrap="square" lIns="152400" tIns="152400" rIns="152400" bIns="152400" rtlCol="0" anchor="ctr"/>
          <a:lstStyle/>
          <a:p>
            <a:pPr indent="0" marL="0">
              <a:buNone/>
            </a:pPr>
            <a:r>
              <a:rPr lang="en-US" sz="2600" b="1" dirty="0">
                <a:solidFill>
                  <a:srgbClr val="B3261E"/>
                </a:solidFill>
              </a:rPr>
              <a:t>CAPEX TOTAL: NO DISPONIBLE</a:t>
            </a:r>
            <a:endParaRPr lang="en-US" sz="2600" dirty="0"/>
          </a:p>
        </p:txBody>
      </p:sp>
      <p:sp>
        <p:nvSpPr>
          <p:cNvPr id="7" name="Text 4"/>
          <p:cNvSpPr txBox="1"/>
          <p:nvPr/>
        </p:nvSpPr>
        <p:spPr>
          <a:xfrm>
            <a:off x="5486400" y="2286000"/>
            <a:ext cx="6153912" cy="2606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E2B24"/>
                </a:solidFill>
              </a:rPr>
              <a:t>El motor ya sabe qué hay que comprar o construir en cada alternativa y en cada escala.</a:t>
            </a:r>
            <a:endParaRPr lang="en-US" sz="1500" dirty="0"/>
          </a:p>
          <a:p>
            <a:pPr marL="203200" indent="-203200">
              <a:spcAft>
                <a:spcPts val="600"/>
              </a:spcAft>
              <a:buSzPct val="100000"/>
              <a:buChar char="•"/>
            </a:pPr>
            <a:r>
              <a:rPr lang="en-US" sz="1500" dirty="0">
                <a:solidFill>
                  <a:srgbClr val="1E2B24"/>
                </a:solidFill>
              </a:rPr>
              <a:t>Solo 8 de 175 conceptos tienen alguna referencia de precio, y todas son débiles: prensa o web, sin verificar.</a:t>
            </a:r>
            <a:endParaRPr lang="en-US" sz="1500" dirty="0"/>
          </a:p>
          <a:p>
            <a:pPr marL="203200" indent="-203200">
              <a:spcAft>
                <a:spcPts val="600"/>
              </a:spcAft>
              <a:buSzPct val="100000"/>
              <a:buChar char="•"/>
            </a:pPr>
            <a:r>
              <a:rPr lang="en-US" sz="1500" dirty="0">
                <a:solidFill>
                  <a:srgbClr val="1E2B24"/>
                </a:solidFill>
              </a:rPr>
              <a:t>Cobertura de precios: 0 % a 2,3 % según la alternativa.</a:t>
            </a:r>
            <a:endParaRPr lang="en-US" sz="1500" dirty="0"/>
          </a:p>
          <a:p>
            <a:pPr marL="203200" indent="-203200">
              <a:spcAft>
                <a:spcPts val="600"/>
              </a:spcAft>
              <a:buSzPct val="100000"/>
              <a:buChar char="•"/>
            </a:pPr>
            <a:r>
              <a:rPr lang="en-US" sz="1500" dirty="0">
                <a:solidFill>
                  <a:srgbClr val="1E2B24"/>
                </a:solidFill>
              </a:rPr>
              <a:t>Por eso no se compara contra USD 2 M: hoy no se puede saber si alcanza ni si no alcanza.</a:t>
            </a:r>
            <a:endParaRPr lang="en-US" sz="1500" dirty="0"/>
          </a:p>
        </p:txBody>
      </p:sp>
      <p:sp>
        <p:nvSpPr>
          <p:cNvPr id="8" name="Text 5"/>
          <p:cNvSpPr txBox="1"/>
          <p:nvPr/>
        </p:nvSpPr>
        <p:spPr>
          <a:xfrm>
            <a:off x="5486400" y="4937760"/>
            <a:ext cx="6153912" cy="320040"/>
          </a:xfrm>
          <a:prstGeom prst="rect">
            <a:avLst/>
          </a:prstGeom>
          <a:noFill/>
          <a:ln/>
        </p:spPr>
        <p:txBody>
          <a:bodyPr wrap="square" lIns="0" tIns="0" rIns="0" bIns="0" rtlCol="0" anchor="t"/>
          <a:lstStyle/>
          <a:p>
            <a:pPr indent="0" marL="0">
              <a:buNone/>
            </a:pPr>
            <a:r>
              <a:rPr lang="en-US" sz="1400" b="1" dirty="0">
                <a:solidFill>
                  <a:srgbClr val="1F4D3A"/>
                </a:solidFill>
              </a:rPr>
              <a:t>Qué falta para tener un total</a:t>
            </a:r>
            <a:endParaRPr lang="en-US" sz="1400" dirty="0"/>
          </a:p>
        </p:txBody>
      </p:sp>
      <p:sp>
        <p:nvSpPr>
          <p:cNvPr id="9" name="Text 6"/>
          <p:cNvSpPr txBox="1"/>
          <p:nvPr/>
        </p:nvSpPr>
        <p:spPr>
          <a:xfrm>
            <a:off x="5486400" y="5321808"/>
            <a:ext cx="1426464"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Línea de faena</a:t>
            </a:r>
            <a:endParaRPr lang="en-US" sz="1200" dirty="0"/>
          </a:p>
        </p:txBody>
      </p:sp>
      <p:sp>
        <p:nvSpPr>
          <p:cNvPr id="10" name="Text 7"/>
          <p:cNvSpPr txBox="1"/>
          <p:nvPr/>
        </p:nvSpPr>
        <p:spPr>
          <a:xfrm>
            <a:off x="7004304" y="5321808"/>
            <a:ext cx="603504"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Frío</a:t>
            </a:r>
            <a:endParaRPr lang="en-US" sz="1200" dirty="0"/>
          </a:p>
        </p:txBody>
      </p:sp>
      <p:sp>
        <p:nvSpPr>
          <p:cNvPr id="11" name="Text 8"/>
          <p:cNvSpPr txBox="1"/>
          <p:nvPr/>
        </p:nvSpPr>
        <p:spPr>
          <a:xfrm>
            <a:off x="7699248" y="5321808"/>
            <a:ext cx="1014984"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Efluentes</a:t>
            </a:r>
            <a:endParaRPr lang="en-US" sz="1200" dirty="0"/>
          </a:p>
        </p:txBody>
      </p:sp>
      <p:sp>
        <p:nvSpPr>
          <p:cNvPr id="12" name="Text 9"/>
          <p:cNvSpPr txBox="1"/>
          <p:nvPr/>
        </p:nvSpPr>
        <p:spPr>
          <a:xfrm>
            <a:off x="8805672" y="5321808"/>
            <a:ext cx="1097280"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Obra civil</a:t>
            </a:r>
            <a:endParaRPr lang="en-US" sz="1200" dirty="0"/>
          </a:p>
        </p:txBody>
      </p:sp>
      <p:sp>
        <p:nvSpPr>
          <p:cNvPr id="13" name="Text 10"/>
          <p:cNvSpPr txBox="1"/>
          <p:nvPr/>
        </p:nvSpPr>
        <p:spPr>
          <a:xfrm>
            <a:off x="9994392" y="5321808"/>
            <a:ext cx="850392"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Terreno</a:t>
            </a:r>
            <a:endParaRPr lang="en-US" sz="1200" dirty="0"/>
          </a:p>
        </p:txBody>
      </p:sp>
      <p:sp>
        <p:nvSpPr>
          <p:cNvPr id="14" name="Text 11"/>
          <p:cNvSpPr txBox="1"/>
          <p:nvPr/>
        </p:nvSpPr>
        <p:spPr>
          <a:xfrm>
            <a:off x="5486400" y="5733288"/>
            <a:ext cx="932688"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Galpones</a:t>
            </a:r>
            <a:endParaRPr lang="en-US" sz="1200" dirty="0"/>
          </a:p>
        </p:txBody>
      </p:sp>
      <p:sp>
        <p:nvSpPr>
          <p:cNvPr id="15" name="Text 12"/>
          <p:cNvSpPr txBox="1"/>
          <p:nvPr/>
        </p:nvSpPr>
        <p:spPr>
          <a:xfrm>
            <a:off x="6510528" y="5733288"/>
            <a:ext cx="2331720" cy="329184"/>
          </a:xfrm>
          <a:prstGeom prst="roundRect">
            <a:avLst>
              <a:gd name="adj" fmla="val 41667"/>
            </a:avLst>
          </a:prstGeom>
          <a:solidFill>
            <a:srgbClr val="C8641E"/>
          </a:solidFill>
          <a:ln/>
        </p:spPr>
        <p:txBody>
          <a:bodyPr wrap="square" lIns="0" tIns="0" rIns="0" bIns="0" rtlCol="0" anchor="ctr"/>
          <a:lstStyle/>
          <a:p>
            <a:pPr algn="ctr" indent="0" marL="0">
              <a:buNone/>
            </a:pPr>
            <a:r>
              <a:rPr lang="en-US" sz="1200" b="1" dirty="0">
                <a:solidFill>
                  <a:srgbClr val="FFFFFF"/>
                </a:solidFill>
              </a:rPr>
              <a:t>Importación e instalación</a:t>
            </a:r>
            <a:endParaRPr lang="en-US" sz="1200" dirty="0"/>
          </a:p>
        </p:txBody>
      </p:sp>
      <p:sp>
        <p:nvSpPr>
          <p:cNvPr id="16" name="Text 13"/>
          <p:cNvSpPr txBox="1"/>
          <p:nvPr/>
        </p:nvSpPr>
        <p:spPr>
          <a:xfrm>
            <a:off x="548640" y="5577840"/>
            <a:ext cx="4572000" cy="548640"/>
          </a:xfrm>
          <a:prstGeom prst="rect">
            <a:avLst/>
          </a:prstGeom>
          <a:noFill/>
          <a:ln/>
        </p:spPr>
        <p:txBody>
          <a:bodyPr wrap="square" lIns="0" tIns="0" rIns="0" bIns="0" rtlCol="0" anchor="t"/>
          <a:lstStyle/>
          <a:p>
            <a:pPr algn="ctr" indent="0" marL="0">
              <a:buNone/>
            </a:pPr>
            <a:r>
              <a:rPr lang="en-US" sz="1300" i="1" dirty="0">
                <a:solidFill>
                  <a:srgbClr val="5F6B66"/>
                </a:solidFill>
              </a:rPr>
              <a:t>Ningún monto parcial se usa como total.</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Costos operativos y capital de trabajo</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graphicFrame>
        <p:nvGraphicFramePr>
          <p:cNvPr id="4" name="Chart 0" descr=""/>
          <p:cNvGraphicFramePr/>
          <p:nvPr/>
        </p:nvGraphicFramePr>
        <p:xfrm>
          <a:off x="548640" y="1325880"/>
          <a:ext cx="640080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97880"/>
            <a:ext cx="6400800" cy="365760"/>
          </a:xfrm>
          <a:prstGeom prst="rect">
            <a:avLst/>
          </a:prstGeom>
          <a:noFill/>
          <a:ln/>
        </p:spPr>
        <p:txBody>
          <a:bodyPr wrap="square" lIns="0" tIns="0" rIns="0" bIns="0" rtlCol="0" anchor="t"/>
          <a:lstStyle/>
          <a:p>
            <a:pPr indent="0" marL="0">
              <a:buNone/>
            </a:pPr>
            <a:r>
              <a:rPr lang="en-US" sz="1100" dirty="0">
                <a:solidFill>
                  <a:srgbClr val="5F6B66"/>
                </a:solidFill>
              </a:rPr>
              <a:t>Etiquetas redondeadas. «Cuánto cuestan» (costeo por bloques): C0 9,5 % · C1 7,7 % · C2 4,9 % · C3/CF 0 %.</a:t>
            </a:r>
            <a:endParaRPr lang="en-US" sz="1100" dirty="0"/>
          </a:p>
        </p:txBody>
      </p:sp>
      <p:sp>
        <p:nvSpPr>
          <p:cNvPr id="6" name="Text 3"/>
          <p:cNvSpPr txBox="1"/>
          <p:nvPr/>
        </p:nvSpPr>
        <p:spPr>
          <a:xfrm>
            <a:off x="7269480" y="1371600"/>
            <a:ext cx="4370832" cy="914400"/>
          </a:xfrm>
          <a:prstGeom prst="rect">
            <a:avLst/>
          </a:prstGeom>
          <a:noFill/>
          <a:ln/>
        </p:spPr>
        <p:txBody>
          <a:bodyPr wrap="square" lIns="0" tIns="0" rIns="0" bIns="0" rtlCol="0" anchor="ctr"/>
          <a:lstStyle/>
          <a:p>
            <a:pPr indent="0" marL="0">
              <a:buNone/>
            </a:pPr>
            <a:r>
              <a:rPr lang="en-US" sz="1900" b="1" dirty="0">
                <a:solidFill>
                  <a:srgbClr val="1F4D3A"/>
                </a:solidFill>
              </a:rPr>
              <a:t>Sabemos qué costos existen; casi no sabemos cuánto cuestan.</a:t>
            </a:r>
            <a:endParaRPr lang="en-US" sz="1900" dirty="0"/>
          </a:p>
        </p:txBody>
      </p:sp>
      <p:sp>
        <p:nvSpPr>
          <p:cNvPr id="7" name="Text 4"/>
          <p:cNvSpPr txBox="1"/>
          <p:nvPr/>
        </p:nvSpPr>
        <p:spPr>
          <a:xfrm>
            <a:off x="7269480" y="2377440"/>
            <a:ext cx="4370832" cy="914400"/>
          </a:xfrm>
          <a:prstGeom prst="roundRect">
            <a:avLst>
              <a:gd name="adj" fmla="val 8000"/>
            </a:avLst>
          </a:prstGeom>
          <a:solidFill>
            <a:srgbClr val="F8E3E1"/>
          </a:solidFill>
          <a:ln/>
        </p:spPr>
        <p:txBody>
          <a:bodyPr wrap="square" lIns="101600" tIns="101600" rIns="101600" bIns="101600" rtlCol="0" anchor="ctr"/>
          <a:lstStyle/>
          <a:p>
            <a:pPr indent="0" marL="0">
              <a:buNone/>
            </a:pPr>
            <a:r>
              <a:rPr lang="en-US" sz="1400" b="1" dirty="0">
                <a:solidFill>
                  <a:srgbClr val="B3261E"/>
                </a:solidFill>
              </a:rPr>
              <a:t>Hoy ninguna alternativa es costeable. </a:t>
            </a:r>
            <a:pPr indent="0" marL="0">
              <a:buNone/>
            </a:pPr>
            <a:r>
              <a:rPr lang="en-US" sz="1400" dirty="0">
                <a:solidFill>
                  <a:srgbClr val="1E2B24"/>
                </a:solidFill>
              </a:rPr>
              <a:t>Costo por ave, costo operativo total y capital de trabajo: PENDIENTES.</a:t>
            </a:r>
            <a:endParaRPr lang="en-US" sz="1400" dirty="0"/>
          </a:p>
        </p:txBody>
      </p:sp>
      <p:sp>
        <p:nvSpPr>
          <p:cNvPr id="8" name="Text 5"/>
          <p:cNvSpPr txBox="1"/>
          <p:nvPr/>
        </p:nvSpPr>
        <p:spPr>
          <a:xfrm>
            <a:off x="7269480" y="3474720"/>
            <a:ext cx="4370832" cy="320040"/>
          </a:xfrm>
          <a:prstGeom prst="rect">
            <a:avLst/>
          </a:prstGeom>
          <a:noFill/>
          <a:ln/>
        </p:spPr>
        <p:txBody>
          <a:bodyPr wrap="square" lIns="0" tIns="0" rIns="0" bIns="0" rtlCol="0" anchor="t"/>
          <a:lstStyle/>
          <a:p>
            <a:pPr indent="0" marL="0">
              <a:buNone/>
            </a:pPr>
            <a:r>
              <a:rPr lang="en-US" sz="1400" b="1" dirty="0">
                <a:solidFill>
                  <a:srgbClr val="1F4D3A"/>
                </a:solidFill>
              </a:rPr>
              <a:t>Faltan precios de</a:t>
            </a:r>
            <a:endParaRPr lang="en-US" sz="1400" dirty="0"/>
          </a:p>
        </p:txBody>
      </p:sp>
      <p:sp>
        <p:nvSpPr>
          <p:cNvPr id="9" name="Text 6"/>
          <p:cNvSpPr txBox="1"/>
          <p:nvPr/>
        </p:nvSpPr>
        <p:spPr>
          <a:xfrm>
            <a:off x="7269480" y="3840480"/>
            <a:ext cx="4370832" cy="16916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E2B24"/>
                </a:solidFill>
              </a:rPr>
              <a:t>Alimento y pollito</a:t>
            </a:r>
            <a:endParaRPr lang="en-US" sz="1400" dirty="0"/>
          </a:p>
          <a:p>
            <a:pPr marL="203200" indent="-203200">
              <a:spcAft>
                <a:spcPts val="600"/>
              </a:spcAft>
              <a:buSzPct val="100000"/>
              <a:buChar char="•"/>
            </a:pPr>
            <a:r>
              <a:rPr lang="en-US" sz="1400" dirty="0">
                <a:solidFill>
                  <a:srgbClr val="1E2B24"/>
                </a:solidFill>
              </a:rPr>
              <a:t>Tarifa de faena a façon</a:t>
            </a:r>
            <a:endParaRPr lang="en-US" sz="1400" dirty="0"/>
          </a:p>
          <a:p>
            <a:pPr marL="203200" indent="-203200">
              <a:spcAft>
                <a:spcPts val="600"/>
              </a:spcAft>
              <a:buSzPct val="100000"/>
              <a:buChar char="•"/>
            </a:pPr>
            <a:r>
              <a:rPr lang="en-US" sz="1400" dirty="0">
                <a:solidFill>
                  <a:srgbClr val="1E2B24"/>
                </a:solidFill>
              </a:rPr>
              <a:t>Salarios y cargas sociales</a:t>
            </a:r>
            <a:endParaRPr lang="en-US" sz="1400" dirty="0"/>
          </a:p>
          <a:p>
            <a:pPr marL="203200" indent="-203200">
              <a:spcAft>
                <a:spcPts val="600"/>
              </a:spcAft>
              <a:buSzPct val="100000"/>
              <a:buChar char="•"/>
            </a:pPr>
            <a:r>
              <a:rPr lang="en-US" sz="1400" dirty="0">
                <a:solidFill>
                  <a:srgbClr val="1E2B24"/>
                </a:solidFill>
              </a:rPr>
              <a:t>Electricidad, gas y agua</a:t>
            </a:r>
            <a:endParaRPr lang="en-US" sz="1400" dirty="0"/>
          </a:p>
          <a:p>
            <a:pPr marL="203200" indent="-203200">
              <a:spcAft>
                <a:spcPts val="600"/>
              </a:spcAft>
              <a:buSzPct val="100000"/>
              <a:buChar char="•"/>
            </a:pPr>
            <a:r>
              <a:rPr lang="en-US" sz="1400" dirty="0">
                <a:solidFill>
                  <a:srgbClr val="1E2B24"/>
                </a:solidFill>
              </a:rPr>
              <a:t>Fletes</a:t>
            </a:r>
            <a:endParaRPr lang="en-US" sz="1400" dirty="0"/>
          </a:p>
          <a:p>
            <a:pPr marL="203200" indent="-203200">
              <a:spcAft>
                <a:spcPts val="600"/>
              </a:spcAft>
              <a:buSzPct val="100000"/>
              <a:buChar char="•"/>
            </a:pPr>
            <a:r>
              <a:rPr lang="en-US" sz="1400" dirty="0">
                <a:solidFill>
                  <a:srgbClr val="1E2B24"/>
                </a:solidFill>
              </a:rPr>
              <a:t>Plazos de cobro y de pago</a:t>
            </a:r>
            <a:endParaRPr lang="en-US" sz="1400" dirty="0"/>
          </a:p>
        </p:txBody>
      </p:sp>
      <p:sp>
        <p:nvSpPr>
          <p:cNvPr id="10" name="Text 7"/>
          <p:cNvSpPr txBox="1"/>
          <p:nvPr/>
        </p:nvSpPr>
        <p:spPr>
          <a:xfrm>
            <a:off x="7269480" y="5623560"/>
            <a:ext cx="4370832" cy="594360"/>
          </a:xfrm>
          <a:prstGeom prst="rect">
            <a:avLst/>
          </a:prstGeom>
          <a:noFill/>
          <a:ln/>
        </p:spPr>
        <p:txBody>
          <a:bodyPr wrap="square" lIns="0" tIns="0" rIns="0" bIns="0" rtlCol="0" anchor="t"/>
          <a:lstStyle/>
          <a:p>
            <a:pPr indent="0" marL="0">
              <a:buNone/>
            </a:pPr>
            <a:r>
              <a:rPr lang="en-US" sz="1200" i="1" dirty="0">
                <a:solidFill>
                  <a:srgbClr val="5F6B66"/>
                </a:solidFill>
              </a:rPr>
              <a:t>Capital de trabajo: la plata inmovilizada en stock y en lo que los clientes todavía no pagaron.</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Modelo financiero: calcula cuando haya datos</a:t>
            </a:r>
            <a:endParaRPr lang="en-US" sz="3200" dirty="0"/>
          </a:p>
        </p:txBody>
      </p:sp>
      <p:sp>
        <p:nvSpPr>
          <p:cNvPr id="3" name="etiqueta ESCENARIO"/>
          <p:cNvSpPr txBox="1"/>
          <p:nvPr/>
        </p:nvSpPr>
        <p:spPr>
          <a:xfrm>
            <a:off x="10486339" y="603504"/>
            <a:ext cx="1156716" cy="274320"/>
          </a:xfrm>
          <a:prstGeom prst="roundRect">
            <a:avLst>
              <a:gd name="adj" fmla="val 50000"/>
            </a:avLst>
          </a:prstGeom>
          <a:solidFill>
            <a:srgbClr val="6B4FA0"/>
          </a:solidFill>
          <a:ln/>
        </p:spPr>
        <p:txBody>
          <a:bodyPr wrap="square" lIns="0" tIns="0" rIns="0" bIns="0" rtlCol="0" anchor="ctr"/>
          <a:lstStyle/>
          <a:p>
            <a:pPr algn="ctr" indent="0" marL="0">
              <a:buNone/>
            </a:pPr>
            <a:r>
              <a:rPr lang="en-US" sz="1050" b="1" spc="100" kern="0" dirty="0">
                <a:solidFill>
                  <a:srgbClr val="FFFFFF"/>
                </a:solidFill>
              </a:rPr>
              <a:t>ESCENARIO</a:t>
            </a:r>
            <a:endParaRPr lang="en-US" sz="1050" dirty="0"/>
          </a:p>
        </p:txBody>
      </p:sp>
      <p:sp>
        <p:nvSpPr>
          <p:cNvPr id="4" name="etiqueta EVIDENCIA"/>
          <p:cNvSpPr txBox="1"/>
          <p:nvPr/>
        </p:nvSpPr>
        <p:spPr>
          <a:xfrm>
            <a:off x="9238183" y="603504"/>
            <a:ext cx="1156716" cy="274320"/>
          </a:xfrm>
          <a:prstGeom prst="roundRect">
            <a:avLst>
              <a:gd name="adj" fmla="val 50000"/>
            </a:avLst>
          </a:prstGeom>
          <a:solidFill>
            <a:srgbClr val="2E7D4F"/>
          </a:solidFill>
          <a:ln/>
        </p:spPr>
        <p:txBody>
          <a:bodyPr wrap="square" lIns="0" tIns="0" rIns="0" bIns="0" rtlCol="0" anchor="ctr"/>
          <a:lstStyle/>
          <a:p>
            <a:pPr algn="ctr" indent="0" marL="0">
              <a:buNone/>
            </a:pPr>
            <a:r>
              <a:rPr lang="en-US" sz="1050" b="1" spc="100" kern="0" dirty="0">
                <a:solidFill>
                  <a:srgbClr val="FFFFFF"/>
                </a:solidFill>
              </a:rPr>
              <a:t>EVIDENCIA</a:t>
            </a:r>
            <a:endParaRPr lang="en-US" sz="1050" dirty="0"/>
          </a:p>
        </p:txBody>
      </p:sp>
      <p:sp>
        <p:nvSpPr>
          <p:cNvPr id="5" name="Text 3"/>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600" b="1" dirty="0">
                <a:solidFill>
                  <a:srgbClr val="5F6B66"/>
                </a:solidFill>
              </a:rPr>
              <a:t>Qué calcula</a:t>
            </a:r>
            <a:endParaRPr lang="en-US" sz="1600" dirty="0"/>
          </a:p>
        </p:txBody>
      </p:sp>
      <p:sp>
        <p:nvSpPr>
          <p:cNvPr id="6" name="Text 4"/>
          <p:cNvSpPr txBox="1"/>
          <p:nvPr/>
        </p:nvSpPr>
        <p:spPr>
          <a:xfrm>
            <a:off x="548640" y="1783080"/>
            <a:ext cx="2103120" cy="566928"/>
          </a:xfrm>
          <a:prstGeom prst="roundRect">
            <a:avLst>
              <a:gd name="adj" fmla="val 12903"/>
            </a:avLst>
          </a:prstGeom>
          <a:solidFill>
            <a:srgbClr val="EAF2EC"/>
          </a:solidFill>
          <a:ln/>
        </p:spPr>
        <p:txBody>
          <a:bodyPr wrap="square" lIns="101600" tIns="101600" rIns="101600" bIns="101600" rtlCol="0" anchor="ctr"/>
          <a:lstStyle/>
          <a:p>
            <a:pPr indent="0" marL="0">
              <a:buNone/>
            </a:pPr>
            <a:r>
              <a:rPr lang="en-US" sz="1500" b="1" dirty="0">
                <a:solidFill>
                  <a:srgbClr val="1F4D3A"/>
                </a:solidFill>
              </a:rPr>
              <a:t>EBITDA</a:t>
            </a:r>
            <a:endParaRPr lang="en-US" sz="1500" dirty="0"/>
          </a:p>
        </p:txBody>
      </p:sp>
      <p:sp>
        <p:nvSpPr>
          <p:cNvPr id="7" name="Text 5"/>
          <p:cNvSpPr txBox="1"/>
          <p:nvPr/>
        </p:nvSpPr>
        <p:spPr>
          <a:xfrm>
            <a:off x="2788920" y="1783080"/>
            <a:ext cx="3429000" cy="566928"/>
          </a:xfrm>
          <a:prstGeom prst="rect">
            <a:avLst/>
          </a:prstGeom>
          <a:noFill/>
          <a:ln/>
        </p:spPr>
        <p:txBody>
          <a:bodyPr wrap="square" lIns="0" tIns="0" rIns="0" bIns="0" rtlCol="0" anchor="ctr"/>
          <a:lstStyle/>
          <a:p>
            <a:pPr indent="0" marL="0">
              <a:buNone/>
            </a:pPr>
            <a:r>
              <a:rPr lang="en-US" sz="1300" dirty="0">
                <a:solidFill>
                  <a:srgbClr val="1E2B24"/>
                </a:solidFill>
              </a:rPr>
              <a:t>Lo que deja la operación antes de intereses, impuestos y amortizaciones</a:t>
            </a:r>
            <a:endParaRPr lang="en-US" sz="1300" dirty="0"/>
          </a:p>
        </p:txBody>
      </p:sp>
      <p:sp>
        <p:nvSpPr>
          <p:cNvPr id="8" name="Text 6"/>
          <p:cNvSpPr txBox="1"/>
          <p:nvPr/>
        </p:nvSpPr>
        <p:spPr>
          <a:xfrm>
            <a:off x="548640" y="2468880"/>
            <a:ext cx="2103120" cy="566928"/>
          </a:xfrm>
          <a:prstGeom prst="roundRect">
            <a:avLst>
              <a:gd name="adj" fmla="val 12903"/>
            </a:avLst>
          </a:prstGeom>
          <a:solidFill>
            <a:srgbClr val="EAF2EC"/>
          </a:solidFill>
          <a:ln/>
        </p:spPr>
        <p:txBody>
          <a:bodyPr wrap="square" lIns="101600" tIns="101600" rIns="101600" bIns="101600" rtlCol="0" anchor="ctr"/>
          <a:lstStyle/>
          <a:p>
            <a:pPr indent="0" marL="0">
              <a:buNone/>
            </a:pPr>
            <a:r>
              <a:rPr lang="en-US" sz="1500" b="1" dirty="0">
                <a:solidFill>
                  <a:srgbClr val="1F4D3A"/>
                </a:solidFill>
              </a:rPr>
              <a:t>Flujo de caja (FCFF)</a:t>
            </a:r>
            <a:endParaRPr lang="en-US" sz="1500" dirty="0"/>
          </a:p>
        </p:txBody>
      </p:sp>
      <p:sp>
        <p:nvSpPr>
          <p:cNvPr id="9" name="Text 7"/>
          <p:cNvSpPr txBox="1"/>
          <p:nvPr/>
        </p:nvSpPr>
        <p:spPr>
          <a:xfrm>
            <a:off x="2788920" y="2468880"/>
            <a:ext cx="3429000" cy="566928"/>
          </a:xfrm>
          <a:prstGeom prst="rect">
            <a:avLst/>
          </a:prstGeom>
          <a:noFill/>
          <a:ln/>
        </p:spPr>
        <p:txBody>
          <a:bodyPr wrap="square" lIns="0" tIns="0" rIns="0" bIns="0" rtlCol="0" anchor="ctr"/>
          <a:lstStyle/>
          <a:p>
            <a:pPr indent="0" marL="0">
              <a:buNone/>
            </a:pPr>
            <a:r>
              <a:rPr lang="en-US" sz="1300" dirty="0">
                <a:solidFill>
                  <a:srgbClr val="1E2B24"/>
                </a:solidFill>
              </a:rPr>
              <a:t>La caja que genera el proyecto después de invertir</a:t>
            </a:r>
            <a:endParaRPr lang="en-US" sz="1300" dirty="0"/>
          </a:p>
        </p:txBody>
      </p:sp>
      <p:sp>
        <p:nvSpPr>
          <p:cNvPr id="10" name="Text 8"/>
          <p:cNvSpPr txBox="1"/>
          <p:nvPr/>
        </p:nvSpPr>
        <p:spPr>
          <a:xfrm>
            <a:off x="548640" y="3154680"/>
            <a:ext cx="2103120" cy="566928"/>
          </a:xfrm>
          <a:prstGeom prst="roundRect">
            <a:avLst>
              <a:gd name="adj" fmla="val 12903"/>
            </a:avLst>
          </a:prstGeom>
          <a:solidFill>
            <a:srgbClr val="EAF2EC"/>
          </a:solidFill>
          <a:ln/>
        </p:spPr>
        <p:txBody>
          <a:bodyPr wrap="square" lIns="101600" tIns="101600" rIns="101600" bIns="101600" rtlCol="0" anchor="ctr"/>
          <a:lstStyle/>
          <a:p>
            <a:pPr indent="0" marL="0">
              <a:buNone/>
            </a:pPr>
            <a:r>
              <a:rPr lang="en-US" sz="1500" b="1" dirty="0">
                <a:solidFill>
                  <a:srgbClr val="1F4D3A"/>
                </a:solidFill>
              </a:rPr>
              <a:t>VAN</a:t>
            </a:r>
            <a:endParaRPr lang="en-US" sz="1500" dirty="0"/>
          </a:p>
        </p:txBody>
      </p:sp>
      <p:sp>
        <p:nvSpPr>
          <p:cNvPr id="11" name="Text 9"/>
          <p:cNvSpPr txBox="1"/>
          <p:nvPr/>
        </p:nvSpPr>
        <p:spPr>
          <a:xfrm>
            <a:off x="2788920" y="3154680"/>
            <a:ext cx="3429000" cy="566928"/>
          </a:xfrm>
          <a:prstGeom prst="rect">
            <a:avLst/>
          </a:prstGeom>
          <a:noFill/>
          <a:ln/>
        </p:spPr>
        <p:txBody>
          <a:bodyPr wrap="square" lIns="0" tIns="0" rIns="0" bIns="0" rtlCol="0" anchor="ctr"/>
          <a:lstStyle/>
          <a:p>
            <a:pPr indent="0" marL="0">
              <a:buNone/>
            </a:pPr>
            <a:r>
              <a:rPr lang="en-US" sz="1300" dirty="0">
                <a:solidFill>
                  <a:srgbClr val="1E2B24"/>
                </a:solidFill>
              </a:rPr>
              <a:t>Cuánto valor crea por encima del rendimiento que se le exige</a:t>
            </a:r>
            <a:endParaRPr lang="en-US" sz="1300" dirty="0"/>
          </a:p>
        </p:txBody>
      </p:sp>
      <p:sp>
        <p:nvSpPr>
          <p:cNvPr id="12" name="Text 10"/>
          <p:cNvSpPr txBox="1"/>
          <p:nvPr/>
        </p:nvSpPr>
        <p:spPr>
          <a:xfrm>
            <a:off x="548640" y="3840480"/>
            <a:ext cx="2103120" cy="566928"/>
          </a:xfrm>
          <a:prstGeom prst="roundRect">
            <a:avLst>
              <a:gd name="adj" fmla="val 12903"/>
            </a:avLst>
          </a:prstGeom>
          <a:solidFill>
            <a:srgbClr val="EAF2EC"/>
          </a:solidFill>
          <a:ln/>
        </p:spPr>
        <p:txBody>
          <a:bodyPr wrap="square" lIns="101600" tIns="101600" rIns="101600" bIns="101600" rtlCol="0" anchor="ctr"/>
          <a:lstStyle/>
          <a:p>
            <a:pPr indent="0" marL="0">
              <a:buNone/>
            </a:pPr>
            <a:r>
              <a:rPr lang="en-US" sz="1500" b="1" dirty="0">
                <a:solidFill>
                  <a:srgbClr val="1F4D3A"/>
                </a:solidFill>
              </a:rPr>
              <a:t>TIR</a:t>
            </a:r>
            <a:endParaRPr lang="en-US" sz="1500" dirty="0"/>
          </a:p>
        </p:txBody>
      </p:sp>
      <p:sp>
        <p:nvSpPr>
          <p:cNvPr id="13" name="Text 11"/>
          <p:cNvSpPr txBox="1"/>
          <p:nvPr/>
        </p:nvSpPr>
        <p:spPr>
          <a:xfrm>
            <a:off x="2788920" y="3840480"/>
            <a:ext cx="3429000" cy="566928"/>
          </a:xfrm>
          <a:prstGeom prst="rect">
            <a:avLst/>
          </a:prstGeom>
          <a:noFill/>
          <a:ln/>
        </p:spPr>
        <p:txBody>
          <a:bodyPr wrap="square" lIns="0" tIns="0" rIns="0" bIns="0" rtlCol="0" anchor="ctr"/>
          <a:lstStyle/>
          <a:p>
            <a:pPr indent="0" marL="0">
              <a:buNone/>
            </a:pPr>
            <a:r>
              <a:rPr lang="en-US" sz="1300" dirty="0">
                <a:solidFill>
                  <a:srgbClr val="1E2B24"/>
                </a:solidFill>
              </a:rPr>
              <a:t>El rendimiento implícito del proyecto</a:t>
            </a:r>
            <a:endParaRPr lang="en-US" sz="1300" dirty="0"/>
          </a:p>
        </p:txBody>
      </p:sp>
      <p:sp>
        <p:nvSpPr>
          <p:cNvPr id="14" name="Text 12"/>
          <p:cNvSpPr txBox="1"/>
          <p:nvPr/>
        </p:nvSpPr>
        <p:spPr>
          <a:xfrm>
            <a:off x="548640" y="4526280"/>
            <a:ext cx="2103120" cy="566928"/>
          </a:xfrm>
          <a:prstGeom prst="roundRect">
            <a:avLst>
              <a:gd name="adj" fmla="val 12903"/>
            </a:avLst>
          </a:prstGeom>
          <a:solidFill>
            <a:srgbClr val="EAF2EC"/>
          </a:solidFill>
          <a:ln/>
        </p:spPr>
        <p:txBody>
          <a:bodyPr wrap="square" lIns="101600" tIns="101600" rIns="101600" bIns="101600" rtlCol="0" anchor="ctr"/>
          <a:lstStyle/>
          <a:p>
            <a:pPr indent="0" marL="0">
              <a:buNone/>
            </a:pPr>
            <a:r>
              <a:rPr lang="en-US" sz="1500" b="1" dirty="0">
                <a:solidFill>
                  <a:srgbClr val="1F4D3A"/>
                </a:solidFill>
              </a:rPr>
              <a:t>Payback</a:t>
            </a:r>
            <a:endParaRPr lang="en-US" sz="1500" dirty="0"/>
          </a:p>
        </p:txBody>
      </p:sp>
      <p:sp>
        <p:nvSpPr>
          <p:cNvPr id="15" name="Text 13"/>
          <p:cNvSpPr txBox="1"/>
          <p:nvPr/>
        </p:nvSpPr>
        <p:spPr>
          <a:xfrm>
            <a:off x="2788920" y="4526280"/>
            <a:ext cx="3429000" cy="566928"/>
          </a:xfrm>
          <a:prstGeom prst="rect">
            <a:avLst/>
          </a:prstGeom>
          <a:noFill/>
          <a:ln/>
        </p:spPr>
        <p:txBody>
          <a:bodyPr wrap="square" lIns="0" tIns="0" rIns="0" bIns="0" rtlCol="0" anchor="ctr"/>
          <a:lstStyle/>
          <a:p>
            <a:pPr indent="0" marL="0">
              <a:buNone/>
            </a:pPr>
            <a:r>
              <a:rPr lang="en-US" sz="1300" dirty="0">
                <a:solidFill>
                  <a:srgbClr val="1E2B24"/>
                </a:solidFill>
              </a:rPr>
              <a:t>Cuánto tarda en recuperar la plata invertida</a:t>
            </a:r>
            <a:endParaRPr lang="en-US" sz="1300" dirty="0"/>
          </a:p>
        </p:txBody>
      </p:sp>
      <p:sp>
        <p:nvSpPr>
          <p:cNvPr id="16" name="Text 14"/>
          <p:cNvSpPr txBox="1"/>
          <p:nvPr/>
        </p:nvSpPr>
        <p:spPr>
          <a:xfrm>
            <a:off x="548640" y="5212080"/>
            <a:ext cx="2103120" cy="566928"/>
          </a:xfrm>
          <a:prstGeom prst="roundRect">
            <a:avLst>
              <a:gd name="adj" fmla="val 12903"/>
            </a:avLst>
          </a:prstGeom>
          <a:solidFill>
            <a:srgbClr val="EAF2EC"/>
          </a:solidFill>
          <a:ln/>
        </p:spPr>
        <p:txBody>
          <a:bodyPr wrap="square" lIns="101600" tIns="101600" rIns="101600" bIns="101600" rtlCol="0" anchor="ctr"/>
          <a:lstStyle/>
          <a:p>
            <a:pPr indent="0" marL="0">
              <a:buNone/>
            </a:pPr>
            <a:r>
              <a:rPr lang="en-US" sz="1500" b="1" dirty="0">
                <a:solidFill>
                  <a:srgbClr val="1F4D3A"/>
                </a:solidFill>
              </a:rPr>
              <a:t>DSCR</a:t>
            </a:r>
            <a:endParaRPr lang="en-US" sz="1500" dirty="0"/>
          </a:p>
        </p:txBody>
      </p:sp>
      <p:sp>
        <p:nvSpPr>
          <p:cNvPr id="17" name="Text 15"/>
          <p:cNvSpPr txBox="1"/>
          <p:nvPr/>
        </p:nvSpPr>
        <p:spPr>
          <a:xfrm>
            <a:off x="2788920" y="5212080"/>
            <a:ext cx="3429000" cy="566928"/>
          </a:xfrm>
          <a:prstGeom prst="rect">
            <a:avLst/>
          </a:prstGeom>
          <a:noFill/>
          <a:ln/>
        </p:spPr>
        <p:txBody>
          <a:bodyPr wrap="square" lIns="0" tIns="0" rIns="0" bIns="0" rtlCol="0" anchor="ctr"/>
          <a:lstStyle/>
          <a:p>
            <a:pPr indent="0" marL="0">
              <a:buNone/>
            </a:pPr>
            <a:r>
              <a:rPr lang="en-US" sz="1300" dirty="0">
                <a:solidFill>
                  <a:srgbClr val="1E2B24"/>
                </a:solidFill>
              </a:rPr>
              <a:t>Si la caja alcanza para pagar la deuda, mes a mes</a:t>
            </a:r>
            <a:endParaRPr lang="en-US" sz="1300" dirty="0"/>
          </a:p>
        </p:txBody>
      </p:sp>
      <p:sp>
        <p:nvSpPr>
          <p:cNvPr id="18" name="tarjeta"/>
          <p:cNvSpPr/>
          <p:nvPr/>
        </p:nvSpPr>
        <p:spPr>
          <a:xfrm>
            <a:off x="6583680" y="1325880"/>
            <a:ext cx="5056632" cy="2148840"/>
          </a:xfrm>
          <a:prstGeom prst="roundRect">
            <a:avLst>
              <a:gd name="adj" fmla="val 3404"/>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9" name="etiqueta EVIDENCIA"/>
          <p:cNvSpPr txBox="1"/>
          <p:nvPr/>
        </p:nvSpPr>
        <p:spPr>
          <a:xfrm>
            <a:off x="6812280" y="1508760"/>
            <a:ext cx="1156716" cy="274320"/>
          </a:xfrm>
          <a:prstGeom prst="roundRect">
            <a:avLst>
              <a:gd name="adj" fmla="val 50000"/>
            </a:avLst>
          </a:prstGeom>
          <a:solidFill>
            <a:srgbClr val="2E7D4F"/>
          </a:solidFill>
          <a:ln/>
        </p:spPr>
        <p:txBody>
          <a:bodyPr wrap="square" lIns="0" tIns="0" rIns="0" bIns="0" rtlCol="0" anchor="ctr"/>
          <a:lstStyle/>
          <a:p>
            <a:pPr algn="ctr" indent="0" marL="0">
              <a:buNone/>
            </a:pPr>
            <a:r>
              <a:rPr lang="en-US" sz="1050" b="1" spc="100" kern="0" dirty="0">
                <a:solidFill>
                  <a:srgbClr val="FFFFFF"/>
                </a:solidFill>
              </a:rPr>
              <a:t>EVIDENCIA</a:t>
            </a:r>
            <a:endParaRPr lang="en-US" sz="1050" dirty="0"/>
          </a:p>
        </p:txBody>
      </p:sp>
      <p:sp>
        <p:nvSpPr>
          <p:cNvPr id="20" name="Text 18"/>
          <p:cNvSpPr txBox="1"/>
          <p:nvPr/>
        </p:nvSpPr>
        <p:spPr>
          <a:xfrm>
            <a:off x="6812280" y="1874520"/>
            <a:ext cx="4663440" cy="594360"/>
          </a:xfrm>
          <a:prstGeom prst="rect">
            <a:avLst/>
          </a:prstGeom>
          <a:noFill/>
          <a:ln/>
        </p:spPr>
        <p:txBody>
          <a:bodyPr wrap="square" lIns="0" tIns="0" rIns="0" bIns="0" rtlCol="0" anchor="ctr"/>
          <a:lstStyle/>
          <a:p>
            <a:pPr indent="0" marL="0">
              <a:buNone/>
            </a:pPr>
            <a:r>
              <a:rPr lang="en-US" sz="2600" b="1" dirty="0">
                <a:solidFill>
                  <a:srgbClr val="B3261E"/>
                </a:solidFill>
              </a:rPr>
              <a:t>0 corridas publicables</a:t>
            </a:r>
            <a:endParaRPr lang="en-US" sz="2600" dirty="0"/>
          </a:p>
        </p:txBody>
      </p:sp>
      <p:sp>
        <p:nvSpPr>
          <p:cNvPr id="21" name="Text 19"/>
          <p:cNvSpPr txBox="1"/>
          <p:nvPr/>
        </p:nvSpPr>
        <p:spPr>
          <a:xfrm>
            <a:off x="6812280" y="2514600"/>
            <a:ext cx="4663440" cy="868680"/>
          </a:xfrm>
          <a:prstGeom prst="rect">
            <a:avLst/>
          </a:prstGeom>
          <a:noFill/>
          <a:ln/>
        </p:spPr>
        <p:txBody>
          <a:bodyPr wrap="square" lIns="0" tIns="0" rIns="0" bIns="0" rtlCol="0" anchor="t"/>
          <a:lstStyle/>
          <a:p>
            <a:pPr indent="0" marL="0">
              <a:buNone/>
            </a:pPr>
            <a:r>
              <a:rPr lang="en-US" sz="1300" dirty="0">
                <a:solidFill>
                  <a:srgbClr val="1E2B24"/>
                </a:solidFill>
              </a:rPr>
              <a:t>Con datos reales: 0 de 42 corridas en modo evidencia y 0 de 54 alternativas del optimizador tienen resultados publicables.</a:t>
            </a:r>
            <a:endParaRPr lang="en-US" sz="1300" dirty="0"/>
          </a:p>
        </p:txBody>
      </p:sp>
      <p:sp>
        <p:nvSpPr>
          <p:cNvPr id="22" name="tarjeta"/>
          <p:cNvSpPr/>
          <p:nvPr/>
        </p:nvSpPr>
        <p:spPr>
          <a:xfrm>
            <a:off x="6583680" y="3657600"/>
            <a:ext cx="5056632" cy="1828800"/>
          </a:xfrm>
          <a:prstGeom prst="roundRect">
            <a:avLst>
              <a:gd name="adj" fmla="val 4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3" name="etiqueta ESCENARIO"/>
          <p:cNvSpPr txBox="1"/>
          <p:nvPr/>
        </p:nvSpPr>
        <p:spPr>
          <a:xfrm>
            <a:off x="6812280" y="3840480"/>
            <a:ext cx="1156716" cy="274320"/>
          </a:xfrm>
          <a:prstGeom prst="roundRect">
            <a:avLst>
              <a:gd name="adj" fmla="val 50000"/>
            </a:avLst>
          </a:prstGeom>
          <a:solidFill>
            <a:srgbClr val="6B4FA0"/>
          </a:solidFill>
          <a:ln/>
        </p:spPr>
        <p:txBody>
          <a:bodyPr wrap="square" lIns="0" tIns="0" rIns="0" bIns="0" rtlCol="0" anchor="ctr"/>
          <a:lstStyle/>
          <a:p>
            <a:pPr algn="ctr" indent="0" marL="0">
              <a:buNone/>
            </a:pPr>
            <a:r>
              <a:rPr lang="en-US" sz="1050" b="1" spc="100" kern="0" dirty="0">
                <a:solidFill>
                  <a:srgbClr val="FFFFFF"/>
                </a:solidFill>
              </a:rPr>
              <a:t>ESCENARIO</a:t>
            </a:r>
            <a:endParaRPr lang="en-US" sz="1050" dirty="0"/>
          </a:p>
        </p:txBody>
      </p:sp>
      <p:sp>
        <p:nvSpPr>
          <p:cNvPr id="24" name="Text 22"/>
          <p:cNvSpPr txBox="1"/>
          <p:nvPr/>
        </p:nvSpPr>
        <p:spPr>
          <a:xfrm>
            <a:off x="6812280" y="4206240"/>
            <a:ext cx="4663440" cy="502920"/>
          </a:xfrm>
          <a:prstGeom prst="rect">
            <a:avLst/>
          </a:prstGeom>
          <a:noFill/>
          <a:ln/>
        </p:spPr>
        <p:txBody>
          <a:bodyPr wrap="square" lIns="0" tIns="0" rIns="0" bIns="0" rtlCol="0" anchor="ctr"/>
          <a:lstStyle/>
          <a:p>
            <a:pPr indent="0" marL="0">
              <a:buNone/>
            </a:pPr>
            <a:r>
              <a:rPr lang="en-US" sz="2400" b="1" dirty="0">
                <a:solidFill>
                  <a:srgbClr val="6B4FA0"/>
                </a:solidFill>
              </a:rPr>
              <a:t>Sí puede simular</a:t>
            </a:r>
            <a:endParaRPr lang="en-US" sz="2400" dirty="0"/>
          </a:p>
        </p:txBody>
      </p:sp>
      <p:sp>
        <p:nvSpPr>
          <p:cNvPr id="25" name="Text 23"/>
          <p:cNvSpPr txBox="1"/>
          <p:nvPr/>
        </p:nvSpPr>
        <p:spPr>
          <a:xfrm>
            <a:off x="6812280" y="4736592"/>
            <a:ext cx="4663440" cy="685800"/>
          </a:xfrm>
          <a:prstGeom prst="rect">
            <a:avLst/>
          </a:prstGeom>
          <a:noFill/>
          <a:ln/>
        </p:spPr>
        <p:txBody>
          <a:bodyPr wrap="square" lIns="0" tIns="0" rIns="0" bIns="0" rtlCol="0" anchor="t"/>
          <a:lstStyle/>
          <a:p>
            <a:pPr indent="0" marL="0">
              <a:buNone/>
            </a:pPr>
            <a:r>
              <a:rPr lang="en-US" sz="1300" dirty="0">
                <a:solidFill>
                  <a:srgbClr val="1E2B24"/>
                </a:solidFill>
              </a:rPr>
              <a:t>Con precios, costos y demanda hipotéticos, rotulado SIMULACIÓN. Nunca se mezcla con la evidencia.</a:t>
            </a:r>
            <a:endParaRPr lang="en-US" sz="1300" dirty="0"/>
          </a:p>
        </p:txBody>
      </p:sp>
      <p:sp>
        <p:nvSpPr>
          <p:cNvPr id="26" name="Text 24"/>
          <p:cNvSpPr txBox="1"/>
          <p:nvPr/>
        </p:nvSpPr>
        <p:spPr>
          <a:xfrm>
            <a:off x="6583680" y="5623560"/>
            <a:ext cx="5056632" cy="640080"/>
          </a:xfrm>
          <a:prstGeom prst="roundRect">
            <a:avLst>
              <a:gd name="adj" fmla="val 11429"/>
            </a:avLst>
          </a:prstGeom>
          <a:solidFill>
            <a:srgbClr val="FBF1DC"/>
          </a:solidFill>
          <a:ln/>
        </p:spPr>
        <p:txBody>
          <a:bodyPr wrap="square" lIns="101600" tIns="101600" rIns="101600" bIns="101600" rtlCol="0" anchor="ctr"/>
          <a:lstStyle/>
          <a:p>
            <a:pPr indent="0" marL="0">
              <a:buNone/>
            </a:pPr>
            <a:r>
              <a:rPr lang="en-US" sz="1300" b="1" dirty="0">
                <a:solidFill>
                  <a:srgbClr val="1F4D3A"/>
                </a:solidFill>
              </a:rPr>
              <a:t>Hallazgo: </a:t>
            </a:r>
            <a:pPr indent="0" marL="0">
              <a:buNone/>
            </a:pPr>
            <a:r>
              <a:rPr lang="en-US" sz="1300" dirty="0">
                <a:solidFill>
                  <a:srgbClr val="1E2B24"/>
                </a:solidFill>
              </a:rPr>
              <a:t>la plata necesaria no es solo la inversión. El pico de fondos suma el arranque y el capital de trabajo.</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Riesgos y optimizador</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tiqueta ESCENARIO"/>
          <p:cNvSpPr txBox="1"/>
          <p:nvPr/>
        </p:nvSpPr>
        <p:spPr>
          <a:xfrm>
            <a:off x="9238183" y="603504"/>
            <a:ext cx="1156716" cy="274320"/>
          </a:xfrm>
          <a:prstGeom prst="roundRect">
            <a:avLst>
              <a:gd name="adj" fmla="val 50000"/>
            </a:avLst>
          </a:prstGeom>
          <a:solidFill>
            <a:srgbClr val="6B4FA0"/>
          </a:solidFill>
          <a:ln/>
        </p:spPr>
        <p:txBody>
          <a:bodyPr wrap="square" lIns="0" tIns="0" rIns="0" bIns="0" rtlCol="0" anchor="ctr"/>
          <a:lstStyle/>
          <a:p>
            <a:pPr algn="ctr" indent="0" marL="0">
              <a:buNone/>
            </a:pPr>
            <a:r>
              <a:rPr lang="en-US" sz="1050" b="1" spc="100" kern="0" dirty="0">
                <a:solidFill>
                  <a:srgbClr val="FFFFFF"/>
                </a:solidFill>
              </a:rPr>
              <a:t>ESCENARIO</a:t>
            </a:r>
            <a:endParaRPr lang="en-US" sz="1050" dirty="0"/>
          </a:p>
        </p:txBody>
      </p:sp>
      <p:sp>
        <p:nvSpPr>
          <p:cNvPr id="5" name="Sensibilidad"/>
          <p:cNvSpPr/>
          <p:nvPr/>
        </p:nvSpPr>
        <p:spPr>
          <a:xfrm>
            <a:off x="548640" y="1325880"/>
            <a:ext cx="2103120" cy="251460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6" name="círculo FaSlidersH"/>
          <p:cNvSpPr/>
          <p:nvPr/>
        </p:nvSpPr>
        <p:spPr>
          <a:xfrm>
            <a:off x="731520" y="1508760"/>
            <a:ext cx="640080" cy="640080"/>
          </a:xfrm>
          <a:prstGeom prst="ellipse">
            <a:avLst/>
          </a:prstGeom>
          <a:solidFill>
            <a:srgbClr val="1F4D3A"/>
          </a:solidFill>
          <a:ln w="12700">
            <a:solidFill>
              <a:srgbClr val="1F4D3A"/>
            </a:solidFill>
            <a:prstDash val="solid"/>
          </a:ln>
        </p:spPr>
      </p:sp>
      <p:pic>
        <p:nvPicPr>
          <p:cNvPr id="7" name="Image 0" descr="FaSlidersH">    </p:cNvPr>
          <p:cNvPicPr>
            <a:picLocks noChangeAspect="1"/>
          </p:cNvPicPr>
          <p:nvPr/>
        </p:nvPicPr>
        <p:blipFill>
          <a:blip r:embed="rId1"/>
          <a:stretch>
            <a:fillRect/>
          </a:stretch>
        </p:blipFill>
        <p:spPr>
          <a:xfrm>
            <a:off x="885139" y="1662379"/>
            <a:ext cx="332842" cy="332842"/>
          </a:xfrm>
          <a:prstGeom prst="rect">
            <a:avLst/>
          </a:prstGeom>
        </p:spPr>
      </p:pic>
      <p:sp>
        <p:nvSpPr>
          <p:cNvPr id="8" name="Text 5"/>
          <p:cNvSpPr txBox="1"/>
          <p:nvPr/>
        </p:nvSpPr>
        <p:spPr>
          <a:xfrm>
            <a:off x="731520" y="2240280"/>
            <a:ext cx="1737360" cy="411480"/>
          </a:xfrm>
          <a:prstGeom prst="rect">
            <a:avLst/>
          </a:prstGeom>
          <a:noFill/>
          <a:ln/>
        </p:spPr>
        <p:txBody>
          <a:bodyPr wrap="square" lIns="0" tIns="0" rIns="0" bIns="0" rtlCol="0" anchor="t"/>
          <a:lstStyle/>
          <a:p>
            <a:pPr indent="0" marL="0">
              <a:buNone/>
            </a:pPr>
            <a:r>
              <a:rPr lang="en-US" sz="1600" b="1" dirty="0">
                <a:solidFill>
                  <a:srgbClr val="1F4D3A"/>
                </a:solidFill>
              </a:rPr>
              <a:t>Sensibilidad</a:t>
            </a:r>
            <a:endParaRPr lang="en-US" sz="1600" dirty="0"/>
          </a:p>
        </p:txBody>
      </p:sp>
      <p:sp>
        <p:nvSpPr>
          <p:cNvPr id="9" name="Text 6"/>
          <p:cNvSpPr txBox="1"/>
          <p:nvPr/>
        </p:nvSpPr>
        <p:spPr>
          <a:xfrm>
            <a:off x="731520" y="2651760"/>
            <a:ext cx="1737360" cy="1097280"/>
          </a:xfrm>
          <a:prstGeom prst="rect">
            <a:avLst/>
          </a:prstGeom>
          <a:noFill/>
          <a:ln/>
        </p:spPr>
        <p:txBody>
          <a:bodyPr wrap="square" lIns="0" tIns="0" rIns="0" bIns="0" rtlCol="0" anchor="t"/>
          <a:lstStyle/>
          <a:p>
            <a:pPr indent="0" marL="0">
              <a:buNone/>
            </a:pPr>
            <a:r>
              <a:rPr lang="en-US" sz="1250" dirty="0">
                <a:solidFill>
                  <a:srgbClr val="1E2B24"/>
                </a:solidFill>
              </a:rPr>
              <a:t>¿Qué pasa si sube el alimento o baja el precio?</a:t>
            </a:r>
            <a:endParaRPr lang="en-US" sz="1250" dirty="0"/>
          </a:p>
        </p:txBody>
      </p:sp>
      <p:sp>
        <p:nvSpPr>
          <p:cNvPr id="10" name="Stress"/>
          <p:cNvSpPr/>
          <p:nvPr/>
        </p:nvSpPr>
        <p:spPr>
          <a:xfrm>
            <a:off x="2795778" y="1325880"/>
            <a:ext cx="2103120" cy="251460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1" name="círculo FaBolt"/>
          <p:cNvSpPr/>
          <p:nvPr/>
        </p:nvSpPr>
        <p:spPr>
          <a:xfrm>
            <a:off x="2978658" y="1508760"/>
            <a:ext cx="640080" cy="640080"/>
          </a:xfrm>
          <a:prstGeom prst="ellipse">
            <a:avLst/>
          </a:prstGeom>
          <a:solidFill>
            <a:srgbClr val="1F4D3A"/>
          </a:solidFill>
          <a:ln w="12700">
            <a:solidFill>
              <a:srgbClr val="1F4D3A"/>
            </a:solidFill>
            <a:prstDash val="solid"/>
          </a:ln>
        </p:spPr>
      </p:sp>
      <p:pic>
        <p:nvPicPr>
          <p:cNvPr id="12" name="Image 1" descr="FaBolt">    </p:cNvPr>
          <p:cNvPicPr>
            <a:picLocks noChangeAspect="1"/>
          </p:cNvPicPr>
          <p:nvPr/>
        </p:nvPicPr>
        <p:blipFill>
          <a:blip r:embed="rId2"/>
          <a:stretch>
            <a:fillRect/>
          </a:stretch>
        </p:blipFill>
        <p:spPr>
          <a:xfrm>
            <a:off x="3132277" y="1662379"/>
            <a:ext cx="332842" cy="332842"/>
          </a:xfrm>
          <a:prstGeom prst="rect">
            <a:avLst/>
          </a:prstGeom>
        </p:spPr>
      </p:pic>
      <p:sp>
        <p:nvSpPr>
          <p:cNvPr id="13" name="Text 9"/>
          <p:cNvSpPr txBox="1"/>
          <p:nvPr/>
        </p:nvSpPr>
        <p:spPr>
          <a:xfrm>
            <a:off x="2978658" y="2240280"/>
            <a:ext cx="1737360" cy="411480"/>
          </a:xfrm>
          <a:prstGeom prst="rect">
            <a:avLst/>
          </a:prstGeom>
          <a:noFill/>
          <a:ln/>
        </p:spPr>
        <p:txBody>
          <a:bodyPr wrap="square" lIns="0" tIns="0" rIns="0" bIns="0" rtlCol="0" anchor="t"/>
          <a:lstStyle/>
          <a:p>
            <a:pPr indent="0" marL="0">
              <a:buNone/>
            </a:pPr>
            <a:r>
              <a:rPr lang="en-US" sz="1600" b="1" dirty="0">
                <a:solidFill>
                  <a:srgbClr val="1F4D3A"/>
                </a:solidFill>
              </a:rPr>
              <a:t>Stress</a:t>
            </a:r>
            <a:endParaRPr lang="en-US" sz="1600" dirty="0"/>
          </a:p>
        </p:txBody>
      </p:sp>
      <p:sp>
        <p:nvSpPr>
          <p:cNvPr id="14" name="Text 10"/>
          <p:cNvSpPr txBox="1"/>
          <p:nvPr/>
        </p:nvSpPr>
        <p:spPr>
          <a:xfrm>
            <a:off x="2978658" y="2651760"/>
            <a:ext cx="1737360" cy="1097280"/>
          </a:xfrm>
          <a:prstGeom prst="rect">
            <a:avLst/>
          </a:prstGeom>
          <a:noFill/>
          <a:ln/>
        </p:spPr>
        <p:txBody>
          <a:bodyPr wrap="square" lIns="0" tIns="0" rIns="0" bIns="0" rtlCol="0" anchor="t"/>
          <a:lstStyle/>
          <a:p>
            <a:pPr indent="0" marL="0">
              <a:buNone/>
            </a:pPr>
            <a:r>
              <a:rPr lang="en-US" sz="1250" dirty="0">
                <a:solidFill>
                  <a:srgbClr val="1E2B24"/>
                </a:solidFill>
              </a:rPr>
              <a:t>¿Y si varias cosas salen mal al mismo tiempo?</a:t>
            </a:r>
            <a:endParaRPr lang="en-US" sz="1250" dirty="0"/>
          </a:p>
        </p:txBody>
      </p:sp>
      <p:sp>
        <p:nvSpPr>
          <p:cNvPr id="15" name="Puntos de quiebre"/>
          <p:cNvSpPr/>
          <p:nvPr/>
        </p:nvSpPr>
        <p:spPr>
          <a:xfrm>
            <a:off x="5042916" y="1325880"/>
            <a:ext cx="2103120" cy="251460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6" name="círculo FaExclamationTriangle"/>
          <p:cNvSpPr/>
          <p:nvPr/>
        </p:nvSpPr>
        <p:spPr>
          <a:xfrm>
            <a:off x="5225796" y="1508760"/>
            <a:ext cx="640080" cy="640080"/>
          </a:xfrm>
          <a:prstGeom prst="ellipse">
            <a:avLst/>
          </a:prstGeom>
          <a:solidFill>
            <a:srgbClr val="1F4D3A"/>
          </a:solidFill>
          <a:ln w="12700">
            <a:solidFill>
              <a:srgbClr val="1F4D3A"/>
            </a:solidFill>
            <a:prstDash val="solid"/>
          </a:ln>
        </p:spPr>
      </p:sp>
      <p:pic>
        <p:nvPicPr>
          <p:cNvPr id="17" name="Image 2" descr="FaExclamationTriangle">    </p:cNvPr>
          <p:cNvPicPr>
            <a:picLocks noChangeAspect="1"/>
          </p:cNvPicPr>
          <p:nvPr/>
        </p:nvPicPr>
        <p:blipFill>
          <a:blip r:embed="rId3"/>
          <a:stretch>
            <a:fillRect/>
          </a:stretch>
        </p:blipFill>
        <p:spPr>
          <a:xfrm>
            <a:off x="5379415" y="1662379"/>
            <a:ext cx="332842" cy="332842"/>
          </a:xfrm>
          <a:prstGeom prst="rect">
            <a:avLst/>
          </a:prstGeom>
        </p:spPr>
      </p:pic>
      <p:sp>
        <p:nvSpPr>
          <p:cNvPr id="18" name="Text 13"/>
          <p:cNvSpPr txBox="1"/>
          <p:nvPr/>
        </p:nvSpPr>
        <p:spPr>
          <a:xfrm>
            <a:off x="5225796" y="2240280"/>
            <a:ext cx="1737360" cy="411480"/>
          </a:xfrm>
          <a:prstGeom prst="rect">
            <a:avLst/>
          </a:prstGeom>
          <a:noFill/>
          <a:ln/>
        </p:spPr>
        <p:txBody>
          <a:bodyPr wrap="square" lIns="0" tIns="0" rIns="0" bIns="0" rtlCol="0" anchor="t"/>
          <a:lstStyle/>
          <a:p>
            <a:pPr indent="0" marL="0">
              <a:buNone/>
            </a:pPr>
            <a:r>
              <a:rPr lang="en-US" sz="1600" b="1" dirty="0">
                <a:solidFill>
                  <a:srgbClr val="1F4D3A"/>
                </a:solidFill>
              </a:rPr>
              <a:t>Puntos de quiebre</a:t>
            </a:r>
            <a:endParaRPr lang="en-US" sz="1600" dirty="0"/>
          </a:p>
        </p:txBody>
      </p:sp>
      <p:sp>
        <p:nvSpPr>
          <p:cNvPr id="19" name="Text 14"/>
          <p:cNvSpPr txBox="1"/>
          <p:nvPr/>
        </p:nvSpPr>
        <p:spPr>
          <a:xfrm>
            <a:off x="5225796" y="2651760"/>
            <a:ext cx="1737360" cy="1097280"/>
          </a:xfrm>
          <a:prstGeom prst="rect">
            <a:avLst/>
          </a:prstGeom>
          <a:noFill/>
          <a:ln/>
        </p:spPr>
        <p:txBody>
          <a:bodyPr wrap="square" lIns="0" tIns="0" rIns="0" bIns="0" rtlCol="0" anchor="t"/>
          <a:lstStyle/>
          <a:p>
            <a:pPr indent="0" marL="0">
              <a:buNone/>
            </a:pPr>
            <a:r>
              <a:rPr lang="en-US" sz="1250" dirty="0">
                <a:solidFill>
                  <a:srgbClr val="1E2B24"/>
                </a:solidFill>
              </a:rPr>
              <a:t>¿Hasta qué precio o costo aguanta el proyecto?</a:t>
            </a:r>
            <a:endParaRPr lang="en-US" sz="1250" dirty="0"/>
          </a:p>
        </p:txBody>
      </p:sp>
      <p:sp>
        <p:nvSpPr>
          <p:cNvPr id="20" name="Monte Carlo"/>
          <p:cNvSpPr/>
          <p:nvPr/>
        </p:nvSpPr>
        <p:spPr>
          <a:xfrm>
            <a:off x="7290054" y="1325880"/>
            <a:ext cx="2103120" cy="251460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1" name="círculo FaChartBar"/>
          <p:cNvSpPr/>
          <p:nvPr/>
        </p:nvSpPr>
        <p:spPr>
          <a:xfrm>
            <a:off x="7472934" y="1508760"/>
            <a:ext cx="640080" cy="640080"/>
          </a:xfrm>
          <a:prstGeom prst="ellipse">
            <a:avLst/>
          </a:prstGeom>
          <a:solidFill>
            <a:srgbClr val="1F4D3A"/>
          </a:solidFill>
          <a:ln w="12700">
            <a:solidFill>
              <a:srgbClr val="1F4D3A"/>
            </a:solidFill>
            <a:prstDash val="solid"/>
          </a:ln>
        </p:spPr>
      </p:sp>
      <p:pic>
        <p:nvPicPr>
          <p:cNvPr id="22" name="Image 3" descr="FaChartBar">    </p:cNvPr>
          <p:cNvPicPr>
            <a:picLocks noChangeAspect="1"/>
          </p:cNvPicPr>
          <p:nvPr/>
        </p:nvPicPr>
        <p:blipFill>
          <a:blip r:embed="rId4"/>
          <a:stretch>
            <a:fillRect/>
          </a:stretch>
        </p:blipFill>
        <p:spPr>
          <a:xfrm>
            <a:off x="7626553" y="1662379"/>
            <a:ext cx="332842" cy="332842"/>
          </a:xfrm>
          <a:prstGeom prst="rect">
            <a:avLst/>
          </a:prstGeom>
        </p:spPr>
      </p:pic>
      <p:sp>
        <p:nvSpPr>
          <p:cNvPr id="23" name="Text 17"/>
          <p:cNvSpPr txBox="1"/>
          <p:nvPr/>
        </p:nvSpPr>
        <p:spPr>
          <a:xfrm>
            <a:off x="7472934" y="2240280"/>
            <a:ext cx="1737360" cy="411480"/>
          </a:xfrm>
          <a:prstGeom prst="rect">
            <a:avLst/>
          </a:prstGeom>
          <a:noFill/>
          <a:ln/>
        </p:spPr>
        <p:txBody>
          <a:bodyPr wrap="square" lIns="0" tIns="0" rIns="0" bIns="0" rtlCol="0" anchor="t"/>
          <a:lstStyle/>
          <a:p>
            <a:pPr indent="0" marL="0">
              <a:buNone/>
            </a:pPr>
            <a:r>
              <a:rPr lang="en-US" sz="1600" b="1" dirty="0">
                <a:solidFill>
                  <a:srgbClr val="1F4D3A"/>
                </a:solidFill>
              </a:rPr>
              <a:t>Monte Carlo</a:t>
            </a:r>
            <a:endParaRPr lang="en-US" sz="1600" dirty="0"/>
          </a:p>
        </p:txBody>
      </p:sp>
      <p:sp>
        <p:nvSpPr>
          <p:cNvPr id="24" name="Text 18"/>
          <p:cNvSpPr txBox="1"/>
          <p:nvPr/>
        </p:nvSpPr>
        <p:spPr>
          <a:xfrm>
            <a:off x="7472934" y="2651760"/>
            <a:ext cx="1737360" cy="1097280"/>
          </a:xfrm>
          <a:prstGeom prst="rect">
            <a:avLst/>
          </a:prstGeom>
          <a:noFill/>
          <a:ln/>
        </p:spPr>
        <p:txBody>
          <a:bodyPr wrap="square" lIns="0" tIns="0" rIns="0" bIns="0" rtlCol="0" anchor="t"/>
          <a:lstStyle/>
          <a:p>
            <a:pPr indent="0" marL="0">
              <a:buNone/>
            </a:pPr>
            <a:r>
              <a:rPr lang="en-US" sz="1250" dirty="0">
                <a:solidFill>
                  <a:srgbClr val="1E2B24"/>
                </a:solidFill>
              </a:rPr>
              <a:t>Preparado. Hoy no disponible: faltan distribuciones con respaldo.</a:t>
            </a:r>
            <a:endParaRPr lang="en-US" sz="1250" dirty="0"/>
          </a:p>
        </p:txBody>
      </p:sp>
      <p:sp>
        <p:nvSpPr>
          <p:cNvPr id="25" name="Optimizador"/>
          <p:cNvSpPr/>
          <p:nvPr/>
        </p:nvSpPr>
        <p:spPr>
          <a:xfrm>
            <a:off x="9537192" y="1325880"/>
            <a:ext cx="2103120" cy="251460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6" name="círculo FaBullseye"/>
          <p:cNvSpPr/>
          <p:nvPr/>
        </p:nvSpPr>
        <p:spPr>
          <a:xfrm>
            <a:off x="9720072" y="1508760"/>
            <a:ext cx="640080" cy="640080"/>
          </a:xfrm>
          <a:prstGeom prst="ellipse">
            <a:avLst/>
          </a:prstGeom>
          <a:solidFill>
            <a:srgbClr val="E3A12F"/>
          </a:solidFill>
          <a:ln w="12700">
            <a:solidFill>
              <a:srgbClr val="E3A12F"/>
            </a:solidFill>
            <a:prstDash val="solid"/>
          </a:ln>
        </p:spPr>
      </p:sp>
      <p:pic>
        <p:nvPicPr>
          <p:cNvPr id="27" name="Image 4" descr="FaBullseye">    </p:cNvPr>
          <p:cNvPicPr>
            <a:picLocks noChangeAspect="1"/>
          </p:cNvPicPr>
          <p:nvPr/>
        </p:nvPicPr>
        <p:blipFill>
          <a:blip r:embed="rId5"/>
          <a:stretch>
            <a:fillRect/>
          </a:stretch>
        </p:blipFill>
        <p:spPr>
          <a:xfrm>
            <a:off x="9873691" y="1662379"/>
            <a:ext cx="332842" cy="332842"/>
          </a:xfrm>
          <a:prstGeom prst="rect">
            <a:avLst/>
          </a:prstGeom>
        </p:spPr>
      </p:pic>
      <p:sp>
        <p:nvSpPr>
          <p:cNvPr id="28" name="Text 21"/>
          <p:cNvSpPr txBox="1"/>
          <p:nvPr/>
        </p:nvSpPr>
        <p:spPr>
          <a:xfrm>
            <a:off x="9720072" y="2240280"/>
            <a:ext cx="1737360" cy="411480"/>
          </a:xfrm>
          <a:prstGeom prst="rect">
            <a:avLst/>
          </a:prstGeom>
          <a:noFill/>
          <a:ln/>
        </p:spPr>
        <p:txBody>
          <a:bodyPr wrap="square" lIns="0" tIns="0" rIns="0" bIns="0" rtlCol="0" anchor="t"/>
          <a:lstStyle/>
          <a:p>
            <a:pPr indent="0" marL="0">
              <a:buNone/>
            </a:pPr>
            <a:r>
              <a:rPr lang="en-US" sz="1600" b="1" dirty="0">
                <a:solidFill>
                  <a:srgbClr val="1F4D3A"/>
                </a:solidFill>
              </a:rPr>
              <a:t>Optimizador</a:t>
            </a:r>
            <a:endParaRPr lang="en-US" sz="1600" dirty="0"/>
          </a:p>
        </p:txBody>
      </p:sp>
      <p:sp>
        <p:nvSpPr>
          <p:cNvPr id="29" name="Text 22"/>
          <p:cNvSpPr txBox="1"/>
          <p:nvPr/>
        </p:nvSpPr>
        <p:spPr>
          <a:xfrm>
            <a:off x="9720072" y="2651760"/>
            <a:ext cx="1737360" cy="1097280"/>
          </a:xfrm>
          <a:prstGeom prst="rect">
            <a:avLst/>
          </a:prstGeom>
          <a:noFill/>
          <a:ln/>
        </p:spPr>
        <p:txBody>
          <a:bodyPr wrap="square" lIns="0" tIns="0" rIns="0" bIns="0" rtlCol="0" anchor="t"/>
          <a:lstStyle/>
          <a:p>
            <a:pPr indent="0" marL="0">
              <a:buNone/>
            </a:pPr>
            <a:r>
              <a:rPr lang="en-US" sz="1250" dirty="0">
                <a:solidFill>
                  <a:srgbClr val="1E2B24"/>
                </a:solidFill>
              </a:rPr>
              <a:t>Busca la alternativa que mejor cumple el objetivo que se declare.</a:t>
            </a:r>
            <a:endParaRPr lang="en-US" sz="1250" dirty="0"/>
          </a:p>
        </p:txBody>
      </p:sp>
      <p:sp>
        <p:nvSpPr>
          <p:cNvPr id="30" name="tarjeta"/>
          <p:cNvSpPr/>
          <p:nvPr/>
        </p:nvSpPr>
        <p:spPr>
          <a:xfrm>
            <a:off x="548640" y="4114800"/>
            <a:ext cx="7315200" cy="2103120"/>
          </a:xfrm>
          <a:prstGeom prst="roundRect">
            <a:avLst>
              <a:gd name="adj" fmla="val 3478"/>
            </a:avLst>
          </a:prstGeom>
          <a:solidFill>
            <a:srgbClr val="1F4D3A"/>
          </a:solidFill>
          <a:ln w="9525">
            <a:solidFill>
              <a:srgbClr val="1F4D3A"/>
            </a:solidFill>
            <a:prstDash val="solid"/>
          </a:ln>
          <a:effectLst>
            <a:outerShdw sx="100000" sy="100000" kx="0" ky="0" algn="bl" rotWithShape="0" blurRad="76200" dist="19050" dir="5400000">
              <a:srgbClr val="000000">
                <a:alpha val="12000"/>
              </a:srgbClr>
            </a:outerShdw>
          </a:effectLst>
        </p:spPr>
      </p:sp>
      <p:sp>
        <p:nvSpPr>
          <p:cNvPr id="31" name="círculo FaPauseCircle"/>
          <p:cNvSpPr/>
          <p:nvPr/>
        </p:nvSpPr>
        <p:spPr>
          <a:xfrm>
            <a:off x="822960" y="4389120"/>
            <a:ext cx="777240" cy="777240"/>
          </a:xfrm>
          <a:prstGeom prst="ellipse">
            <a:avLst/>
          </a:prstGeom>
          <a:solidFill>
            <a:srgbClr val="E3A12F"/>
          </a:solidFill>
          <a:ln w="12700">
            <a:solidFill>
              <a:srgbClr val="E3A12F"/>
            </a:solidFill>
            <a:prstDash val="solid"/>
          </a:ln>
        </p:spPr>
      </p:sp>
      <p:pic>
        <p:nvPicPr>
          <p:cNvPr id="32" name="Image 5" descr="FaPauseCircle">    </p:cNvPr>
          <p:cNvPicPr>
            <a:picLocks noChangeAspect="1"/>
          </p:cNvPicPr>
          <p:nvPr/>
        </p:nvPicPr>
        <p:blipFill>
          <a:blip r:embed="rId6"/>
          <a:stretch>
            <a:fillRect/>
          </a:stretch>
        </p:blipFill>
        <p:spPr>
          <a:xfrm>
            <a:off x="1009498" y="4575658"/>
            <a:ext cx="404165" cy="404165"/>
          </a:xfrm>
          <a:prstGeom prst="rect">
            <a:avLst/>
          </a:prstGeom>
        </p:spPr>
      </p:pic>
      <p:sp>
        <p:nvSpPr>
          <p:cNvPr id="33" name="Text 25"/>
          <p:cNvSpPr txBox="1"/>
          <p:nvPr/>
        </p:nvSpPr>
        <p:spPr>
          <a:xfrm>
            <a:off x="1783080" y="4315968"/>
            <a:ext cx="5852160" cy="868680"/>
          </a:xfrm>
          <a:prstGeom prst="rect">
            <a:avLst/>
          </a:prstGeom>
          <a:noFill/>
          <a:ln/>
        </p:spPr>
        <p:txBody>
          <a:bodyPr wrap="square" lIns="0" tIns="0" rIns="0" bIns="0" rtlCol="0" anchor="ctr"/>
          <a:lstStyle/>
          <a:p>
            <a:pPr indent="0" marL="0">
              <a:buNone/>
            </a:pPr>
            <a:r>
              <a:rPr lang="en-US" sz="2100" b="1" dirty="0">
                <a:solidFill>
                  <a:srgbClr val="FFFFFF"/>
                </a:solidFill>
              </a:rPr>
              <a:t>Una respuesta válida del optimizador: NO INVERTIR AÚN</a:t>
            </a:r>
            <a:endParaRPr lang="en-US" sz="2100" dirty="0"/>
          </a:p>
        </p:txBody>
      </p:sp>
      <p:sp>
        <p:nvSpPr>
          <p:cNvPr id="34" name="Text 26"/>
          <p:cNvSpPr txBox="1"/>
          <p:nvPr/>
        </p:nvSpPr>
        <p:spPr>
          <a:xfrm>
            <a:off x="822960" y="5257800"/>
            <a:ext cx="6858000" cy="868680"/>
          </a:xfrm>
          <a:prstGeom prst="rect">
            <a:avLst/>
          </a:prstGeom>
          <a:noFill/>
          <a:ln/>
        </p:spPr>
        <p:txBody>
          <a:bodyPr wrap="square" lIns="0" tIns="0" rIns="0" bIns="0" rtlCol="0" anchor="t"/>
          <a:lstStyle/>
          <a:p>
            <a:pPr indent="0" marL="0">
              <a:buNone/>
            </a:pPr>
            <a:r>
              <a:rPr lang="en-US" sz="1400" dirty="0">
                <a:solidFill>
                  <a:srgbClr val="D7E4DB"/>
                </a:solidFill>
              </a:rPr>
              <a:t>No es un fracaso. Aparece por reglas explícitas: ninguna alternativa cumple las condiciones, el capital no alcanza, el VAN es negativo o el riesgo es demasiado alto.</a:t>
            </a:r>
            <a:endParaRPr lang="en-US" sz="1400" dirty="0"/>
          </a:p>
        </p:txBody>
      </p:sp>
      <p:sp>
        <p:nvSpPr>
          <p:cNvPr id="35" name="tarjeta"/>
          <p:cNvSpPr/>
          <p:nvPr/>
        </p:nvSpPr>
        <p:spPr>
          <a:xfrm>
            <a:off x="8138160" y="4114800"/>
            <a:ext cx="3502152" cy="2103120"/>
          </a:xfrm>
          <a:prstGeom prst="roundRect">
            <a:avLst>
              <a:gd name="adj" fmla="val 3478"/>
            </a:avLst>
          </a:prstGeom>
          <a:solidFill>
            <a:srgbClr val="EAF2EC"/>
          </a:solidFill>
          <a:ln w="9525">
            <a:solidFill>
              <a:srgbClr val="EAF2EC"/>
            </a:solidFill>
            <a:prstDash val="solid"/>
          </a:ln>
        </p:spPr>
      </p:sp>
      <p:sp>
        <p:nvSpPr>
          <p:cNvPr id="36" name="Text 28"/>
          <p:cNvSpPr txBox="1"/>
          <p:nvPr/>
        </p:nvSpPr>
        <p:spPr>
          <a:xfrm>
            <a:off x="8366760" y="4206240"/>
            <a:ext cx="3108960" cy="822960"/>
          </a:xfrm>
          <a:prstGeom prst="rect">
            <a:avLst/>
          </a:prstGeom>
          <a:noFill/>
          <a:ln/>
        </p:spPr>
        <p:txBody>
          <a:bodyPr wrap="square" lIns="0" tIns="0" rIns="0" bIns="0" rtlCol="0" anchor="ctr"/>
          <a:lstStyle/>
          <a:p>
            <a:pPr indent="0" marL="0">
              <a:buNone/>
            </a:pPr>
            <a:r>
              <a:rPr lang="en-US" sz="4400" b="1" dirty="0">
                <a:solidFill>
                  <a:srgbClr val="1F4D3A"/>
                </a:solidFill>
              </a:rPr>
              <a:t>34</a:t>
            </a:r>
            <a:endParaRPr lang="en-US" sz="4400" dirty="0"/>
          </a:p>
        </p:txBody>
      </p:sp>
      <p:sp>
        <p:nvSpPr>
          <p:cNvPr id="37" name="Text 29"/>
          <p:cNvSpPr txBox="1"/>
          <p:nvPr/>
        </p:nvSpPr>
        <p:spPr>
          <a:xfrm>
            <a:off x="8366760" y="5029200"/>
            <a:ext cx="3108960" cy="1097280"/>
          </a:xfrm>
          <a:prstGeom prst="rect">
            <a:avLst/>
          </a:prstGeom>
          <a:noFill/>
          <a:ln/>
        </p:spPr>
        <p:txBody>
          <a:bodyPr wrap="square" lIns="0" tIns="0" rIns="0" bIns="0" rtlCol="0" anchor="t"/>
          <a:lstStyle/>
          <a:p>
            <a:pPr indent="0" marL="0">
              <a:buNone/>
            </a:pPr>
            <a:r>
              <a:rPr lang="en-US" sz="1250" dirty="0">
                <a:solidFill>
                  <a:srgbClr val="1E2B24"/>
                </a:solidFill>
              </a:rPr>
              <a:t>riesgos registrados (sanitarios, granos, tipo de cambio, energía, competencia…). Probabilidad propia del proyecto: PENDIENTE.</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App V1: el estudio en lenguaje simple</a:t>
            </a:r>
            <a:endParaRPr lang="en-US" sz="3200" dirty="0"/>
          </a:p>
        </p:txBody>
      </p:sp>
      <p:pic>
        <p:nvPicPr>
          <p:cNvPr id="3" name="Image 0" descr="Pantalla de inicio de la App V1">    </p:cNvPr>
          <p:cNvPicPr>
            <a:picLocks noChangeAspect="1"/>
          </p:cNvPicPr>
          <p:nvPr/>
        </p:nvPicPr>
        <p:blipFill>
          <a:blip r:embed="rId1"/>
          <a:stretch>
            <a:fillRect/>
          </a:stretch>
        </p:blipFill>
        <p:spPr>
          <a:xfrm>
            <a:off x="548640" y="1325880"/>
            <a:ext cx="6720840" cy="4776795"/>
          </a:xfrm>
          <a:prstGeom prst="rect">
            <a:avLst/>
          </a:prstGeom>
          <a:effectLst>
            <a:outerShdw sx="100000" sy="100000" kx="0" ky="0" algn="bl" rotWithShape="0" blurRad="101600" dist="25400" dir="5400000">
              <a:srgbClr val="000000">
                <a:alpha val="18000"/>
              </a:srgbClr>
            </a:outerShdw>
          </a:effectLst>
        </p:spPr>
      </p:pic>
      <p:sp>
        <p:nvSpPr>
          <p:cNvPr id="4" name="Text 1"/>
          <p:cNvSpPr txBox="1"/>
          <p:nvPr/>
        </p:nvSpPr>
        <p:spPr>
          <a:xfrm>
            <a:off x="548640" y="6148395"/>
            <a:ext cx="6720840" cy="274320"/>
          </a:xfrm>
          <a:prstGeom prst="rect">
            <a:avLst/>
          </a:prstGeom>
          <a:noFill/>
          <a:ln/>
        </p:spPr>
        <p:txBody>
          <a:bodyPr wrap="square" lIns="0" tIns="0" rIns="0" bIns="0" rtlCol="0" anchor="t"/>
          <a:lstStyle/>
          <a:p>
            <a:pPr indent="0" marL="0">
              <a:buNone/>
            </a:pPr>
            <a:r>
              <a:rPr lang="en-US" sz="1050" i="1" dirty="0">
                <a:solidFill>
                  <a:srgbClr val="5F6B66"/>
                </a:solidFill>
              </a:rPr>
              <a:t>Captura real de la App V1: pantalla de inicio (2026-10-05)</a:t>
            </a:r>
            <a:endParaRPr lang="en-US" sz="1050" dirty="0"/>
          </a:p>
        </p:txBody>
      </p:sp>
      <p:sp>
        <p:nvSpPr>
          <p:cNvPr id="5" name="círculo FaBook"/>
          <p:cNvSpPr/>
          <p:nvPr/>
        </p:nvSpPr>
        <p:spPr>
          <a:xfrm>
            <a:off x="7589520" y="1371600"/>
            <a:ext cx="640080" cy="640080"/>
          </a:xfrm>
          <a:prstGeom prst="ellipse">
            <a:avLst/>
          </a:prstGeom>
          <a:solidFill>
            <a:srgbClr val="1F4D3A"/>
          </a:solidFill>
          <a:ln w="12700">
            <a:solidFill>
              <a:srgbClr val="1F4D3A"/>
            </a:solidFill>
            <a:prstDash val="solid"/>
          </a:ln>
        </p:spPr>
      </p:sp>
      <p:pic>
        <p:nvPicPr>
          <p:cNvPr id="6" name="Image 1" descr="FaBook">    </p:cNvPr>
          <p:cNvPicPr>
            <a:picLocks noChangeAspect="1"/>
          </p:cNvPicPr>
          <p:nvPr/>
        </p:nvPicPr>
        <p:blipFill>
          <a:blip r:embed="rId2"/>
          <a:stretch>
            <a:fillRect/>
          </a:stretch>
        </p:blipFill>
        <p:spPr>
          <a:xfrm>
            <a:off x="7743139" y="1525219"/>
            <a:ext cx="332842" cy="332842"/>
          </a:xfrm>
          <a:prstGeom prst="rect">
            <a:avLst/>
          </a:prstGeom>
        </p:spPr>
      </p:pic>
      <p:sp>
        <p:nvSpPr>
          <p:cNvPr id="7" name="Text 3"/>
          <p:cNvSpPr txBox="1"/>
          <p:nvPr/>
        </p:nvSpPr>
        <p:spPr>
          <a:xfrm>
            <a:off x="8366760" y="1325880"/>
            <a:ext cx="3273552" cy="457200"/>
          </a:xfrm>
          <a:prstGeom prst="rect">
            <a:avLst/>
          </a:prstGeom>
          <a:noFill/>
          <a:ln/>
        </p:spPr>
        <p:txBody>
          <a:bodyPr wrap="square" lIns="0" tIns="0" rIns="0" bIns="0" rtlCol="0" anchor="ctr"/>
          <a:lstStyle/>
          <a:p>
            <a:pPr indent="0" marL="0">
              <a:buNone/>
            </a:pPr>
            <a:r>
              <a:rPr lang="en-US" sz="1600" b="1" dirty="0">
                <a:solidFill>
                  <a:srgbClr val="1F4D3A"/>
                </a:solidFill>
              </a:rPr>
              <a:t>Entender el proyecto</a:t>
            </a:r>
            <a:endParaRPr lang="en-US" sz="1600" dirty="0"/>
          </a:p>
        </p:txBody>
      </p:sp>
      <p:sp>
        <p:nvSpPr>
          <p:cNvPr id="8" name="Text 4"/>
          <p:cNvSpPr txBox="1"/>
          <p:nvPr/>
        </p:nvSpPr>
        <p:spPr>
          <a:xfrm>
            <a:off x="8366760" y="1783080"/>
            <a:ext cx="3273552" cy="1005840"/>
          </a:xfrm>
          <a:prstGeom prst="rect">
            <a:avLst/>
          </a:prstGeom>
          <a:noFill/>
          <a:ln/>
        </p:spPr>
        <p:txBody>
          <a:bodyPr wrap="square" lIns="0" tIns="0" rIns="0" bIns="0" rtlCol="0" anchor="t"/>
          <a:lstStyle/>
          <a:p>
            <a:pPr indent="0" marL="0">
              <a:buNone/>
            </a:pPr>
            <a:r>
              <a:rPr lang="en-US" sz="1300" dirty="0">
                <a:solidFill>
                  <a:srgbClr val="1E2B24"/>
                </a:solidFill>
              </a:rPr>
              <a:t>26 temas, cada uno en 5 preguntas: qué es, por qué importa, qué se modeló, qué se sabe y qué falta.</a:t>
            </a:r>
            <a:endParaRPr lang="en-US" sz="1300" dirty="0"/>
          </a:p>
        </p:txBody>
      </p:sp>
      <p:sp>
        <p:nvSpPr>
          <p:cNvPr id="9" name="círculo FaSearch"/>
          <p:cNvSpPr/>
          <p:nvPr/>
        </p:nvSpPr>
        <p:spPr>
          <a:xfrm>
            <a:off x="7589520" y="2971800"/>
            <a:ext cx="640080" cy="640080"/>
          </a:xfrm>
          <a:prstGeom prst="ellipse">
            <a:avLst/>
          </a:prstGeom>
          <a:solidFill>
            <a:srgbClr val="1F4D3A"/>
          </a:solidFill>
          <a:ln w="12700">
            <a:solidFill>
              <a:srgbClr val="1F4D3A"/>
            </a:solidFill>
            <a:prstDash val="solid"/>
          </a:ln>
        </p:spPr>
      </p:sp>
      <p:pic>
        <p:nvPicPr>
          <p:cNvPr id="10" name="Image 2" descr="FaSearch">    </p:cNvPr>
          <p:cNvPicPr>
            <a:picLocks noChangeAspect="1"/>
          </p:cNvPicPr>
          <p:nvPr/>
        </p:nvPicPr>
        <p:blipFill>
          <a:blip r:embed="rId3"/>
          <a:stretch>
            <a:fillRect/>
          </a:stretch>
        </p:blipFill>
        <p:spPr>
          <a:xfrm>
            <a:off x="7743139" y="3125419"/>
            <a:ext cx="332842" cy="332842"/>
          </a:xfrm>
          <a:prstGeom prst="rect">
            <a:avLst/>
          </a:prstGeom>
        </p:spPr>
      </p:pic>
      <p:sp>
        <p:nvSpPr>
          <p:cNvPr id="11" name="Text 6"/>
          <p:cNvSpPr txBox="1"/>
          <p:nvPr/>
        </p:nvSpPr>
        <p:spPr>
          <a:xfrm>
            <a:off x="8366760" y="2926080"/>
            <a:ext cx="3273552" cy="457200"/>
          </a:xfrm>
          <a:prstGeom prst="rect">
            <a:avLst/>
          </a:prstGeom>
          <a:noFill/>
          <a:ln/>
        </p:spPr>
        <p:txBody>
          <a:bodyPr wrap="square" lIns="0" tIns="0" rIns="0" bIns="0" rtlCol="0" anchor="ctr"/>
          <a:lstStyle/>
          <a:p>
            <a:pPr indent="0" marL="0">
              <a:buNone/>
            </a:pPr>
            <a:r>
              <a:rPr lang="en-US" sz="1600" b="1" dirty="0">
                <a:solidFill>
                  <a:srgbClr val="1F4D3A"/>
                </a:solidFill>
              </a:rPr>
              <a:t>Ver dónde estamos parados</a:t>
            </a:r>
            <a:endParaRPr lang="en-US" sz="1600" dirty="0"/>
          </a:p>
        </p:txBody>
      </p:sp>
      <p:sp>
        <p:nvSpPr>
          <p:cNvPr id="12" name="Text 7"/>
          <p:cNvSpPr txBox="1"/>
          <p:nvPr/>
        </p:nvSpPr>
        <p:spPr>
          <a:xfrm>
            <a:off x="8366760" y="3383280"/>
            <a:ext cx="3273552" cy="1005840"/>
          </a:xfrm>
          <a:prstGeom prst="rect">
            <a:avLst/>
          </a:prstGeom>
          <a:noFill/>
          <a:ln/>
        </p:spPr>
        <p:txBody>
          <a:bodyPr wrap="square" lIns="0" tIns="0" rIns="0" bIns="0" rtlCol="0" anchor="t"/>
          <a:lstStyle/>
          <a:p>
            <a:pPr indent="0" marL="0">
              <a:buNone/>
            </a:pPr>
            <a:r>
              <a:rPr lang="en-US" sz="1300" dirty="0">
                <a:solidFill>
                  <a:srgbClr val="1E2B24"/>
                </a:solidFill>
              </a:rPr>
              <a:t>Qué está terminado, qué está pendiente, qué se puede simular y qué no se puede decidir todavía.</a:t>
            </a:r>
            <a:endParaRPr lang="en-US" sz="1300" dirty="0"/>
          </a:p>
        </p:txBody>
      </p:sp>
      <p:sp>
        <p:nvSpPr>
          <p:cNvPr id="13" name="círculo FaGraduationCap"/>
          <p:cNvSpPr/>
          <p:nvPr/>
        </p:nvSpPr>
        <p:spPr>
          <a:xfrm>
            <a:off x="7589520" y="4572000"/>
            <a:ext cx="640080" cy="640080"/>
          </a:xfrm>
          <a:prstGeom prst="ellipse">
            <a:avLst/>
          </a:prstGeom>
          <a:solidFill>
            <a:srgbClr val="1F4D3A"/>
          </a:solidFill>
          <a:ln w="12700">
            <a:solidFill>
              <a:srgbClr val="1F4D3A"/>
            </a:solidFill>
            <a:prstDash val="solid"/>
          </a:ln>
        </p:spPr>
      </p:sp>
      <p:pic>
        <p:nvPicPr>
          <p:cNvPr id="14" name="Image 3" descr="FaGraduationCap">    </p:cNvPr>
          <p:cNvPicPr>
            <a:picLocks noChangeAspect="1"/>
          </p:cNvPicPr>
          <p:nvPr/>
        </p:nvPicPr>
        <p:blipFill>
          <a:blip r:embed="rId4"/>
          <a:stretch>
            <a:fillRect/>
          </a:stretch>
        </p:blipFill>
        <p:spPr>
          <a:xfrm>
            <a:off x="7743139" y="4725619"/>
            <a:ext cx="332842" cy="332842"/>
          </a:xfrm>
          <a:prstGeom prst="rect">
            <a:avLst/>
          </a:prstGeom>
        </p:spPr>
      </p:pic>
      <p:sp>
        <p:nvSpPr>
          <p:cNvPr id="15" name="Text 9"/>
          <p:cNvSpPr txBox="1"/>
          <p:nvPr/>
        </p:nvSpPr>
        <p:spPr>
          <a:xfrm>
            <a:off x="8366760" y="4526280"/>
            <a:ext cx="3273552" cy="457200"/>
          </a:xfrm>
          <a:prstGeom prst="rect">
            <a:avLst/>
          </a:prstGeom>
          <a:noFill/>
          <a:ln/>
        </p:spPr>
        <p:txBody>
          <a:bodyPr wrap="square" lIns="0" tIns="0" rIns="0" bIns="0" rtlCol="0" anchor="ctr"/>
          <a:lstStyle/>
          <a:p>
            <a:pPr indent="0" marL="0">
              <a:buNone/>
            </a:pPr>
            <a:r>
              <a:rPr lang="en-US" sz="1600" b="1" dirty="0">
                <a:solidFill>
                  <a:srgbClr val="1F4D3A"/>
                </a:solidFill>
              </a:rPr>
              <a:t>Sin saber de finanzas</a:t>
            </a:r>
            <a:endParaRPr lang="en-US" sz="1600" dirty="0"/>
          </a:p>
        </p:txBody>
      </p:sp>
      <p:sp>
        <p:nvSpPr>
          <p:cNvPr id="16" name="Text 10"/>
          <p:cNvSpPr txBox="1"/>
          <p:nvPr/>
        </p:nvSpPr>
        <p:spPr>
          <a:xfrm>
            <a:off x="8366760" y="4983480"/>
            <a:ext cx="3273552" cy="1005840"/>
          </a:xfrm>
          <a:prstGeom prst="rect">
            <a:avLst/>
          </a:prstGeom>
          <a:noFill/>
          <a:ln/>
        </p:spPr>
        <p:txBody>
          <a:bodyPr wrap="square" lIns="0" tIns="0" rIns="0" bIns="0" rtlCol="0" anchor="t"/>
          <a:lstStyle/>
          <a:p>
            <a:pPr indent="0" marL="0">
              <a:buNone/>
            </a:pPr>
            <a:r>
              <a:rPr lang="en-US" sz="1300" dirty="0">
                <a:solidFill>
                  <a:srgbClr val="1E2B24"/>
                </a:solidFill>
              </a:rPr>
              <a:t>Cada término técnico tiene su «?» y hay un diccionario y un buscador.</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App V1: modo simple y modo experto</a:t>
            </a:r>
            <a:endParaRPr lang="en-US" sz="3200" dirty="0"/>
          </a:p>
        </p:txBody>
      </p:sp>
      <p:sp>
        <p:nvSpPr>
          <p:cNvPr id="3" name="etiqueta ESCENARIO"/>
          <p:cNvSpPr txBox="1"/>
          <p:nvPr/>
        </p:nvSpPr>
        <p:spPr>
          <a:xfrm>
            <a:off x="10486339" y="603504"/>
            <a:ext cx="1156716" cy="274320"/>
          </a:xfrm>
          <a:prstGeom prst="roundRect">
            <a:avLst>
              <a:gd name="adj" fmla="val 50000"/>
            </a:avLst>
          </a:prstGeom>
          <a:solidFill>
            <a:srgbClr val="6B4FA0"/>
          </a:solidFill>
          <a:ln/>
        </p:spPr>
        <p:txBody>
          <a:bodyPr wrap="square" lIns="0" tIns="0" rIns="0" bIns="0" rtlCol="0" anchor="ctr"/>
          <a:lstStyle/>
          <a:p>
            <a:pPr algn="ctr" indent="0" marL="0">
              <a:buNone/>
            </a:pPr>
            <a:r>
              <a:rPr lang="en-US" sz="1050" b="1" spc="100" kern="0" dirty="0">
                <a:solidFill>
                  <a:srgbClr val="FFFFFF"/>
                </a:solidFill>
              </a:rPr>
              <a:t>ESCENARIO</a:t>
            </a:r>
            <a:endParaRPr lang="en-US" sz="1050" dirty="0"/>
          </a:p>
        </p:txBody>
      </p:sp>
      <p:pic>
        <p:nvPicPr>
          <p:cNvPr id="4" name="Image 0" descr="Modo simple: simular en 5 preguntas">    </p:cNvPr>
          <p:cNvPicPr>
            <a:picLocks noChangeAspect="1"/>
          </p:cNvPicPr>
          <p:nvPr/>
        </p:nvPicPr>
        <p:blipFill>
          <a:blip r:embed="rId1"/>
          <a:stretch>
            <a:fillRect/>
          </a:stretch>
        </p:blipFill>
        <p:spPr>
          <a:xfrm>
            <a:off x="548640" y="1325880"/>
            <a:ext cx="5120640" cy="3639463"/>
          </a:xfrm>
          <a:prstGeom prst="rect">
            <a:avLst/>
          </a:prstGeom>
          <a:effectLst>
            <a:outerShdw sx="100000" sy="100000" kx="0" ky="0" algn="bl" rotWithShape="0" blurRad="101600" dist="25400" dir="5400000">
              <a:srgbClr val="000000">
                <a:alpha val="18000"/>
              </a:srgbClr>
            </a:outerShdw>
          </a:effectLst>
        </p:spPr>
      </p:pic>
      <p:sp>
        <p:nvSpPr>
          <p:cNvPr id="5" name="Text 2"/>
          <p:cNvSpPr txBox="1"/>
          <p:nvPr/>
        </p:nvSpPr>
        <p:spPr>
          <a:xfrm>
            <a:off x="548640" y="5011063"/>
            <a:ext cx="5120640" cy="274320"/>
          </a:xfrm>
          <a:prstGeom prst="rect">
            <a:avLst/>
          </a:prstGeom>
          <a:noFill/>
          <a:ln/>
        </p:spPr>
        <p:txBody>
          <a:bodyPr wrap="square" lIns="0" tIns="0" rIns="0" bIns="0" rtlCol="0" anchor="t"/>
          <a:lstStyle/>
          <a:p>
            <a:pPr indent="0" marL="0">
              <a:buNone/>
            </a:pPr>
            <a:r>
              <a:rPr lang="en-US" sz="1050" i="1" dirty="0">
                <a:solidFill>
                  <a:srgbClr val="5F6B66"/>
                </a:solidFill>
              </a:rPr>
              <a:t>Captura real · Modo simple: simular en 5 preguntas</a:t>
            </a:r>
            <a:endParaRPr lang="en-US" sz="1050" dirty="0"/>
          </a:p>
        </p:txBody>
      </p:sp>
      <p:pic>
        <p:nvPicPr>
          <p:cNvPr id="6" name="Image 1" descr="¿Dónde estamos parados? Qué se puede simular y qué no se puede decidir">    </p:cNvPr>
          <p:cNvPicPr>
            <a:picLocks noChangeAspect="1"/>
          </p:cNvPicPr>
          <p:nvPr/>
        </p:nvPicPr>
        <p:blipFill>
          <a:blip r:embed="rId2"/>
          <a:stretch>
            <a:fillRect/>
          </a:stretch>
        </p:blipFill>
        <p:spPr>
          <a:xfrm>
            <a:off x="6519672" y="1325880"/>
            <a:ext cx="5120640" cy="3639463"/>
          </a:xfrm>
          <a:prstGeom prst="rect">
            <a:avLst/>
          </a:prstGeom>
          <a:effectLst>
            <a:outerShdw sx="100000" sy="100000" kx="0" ky="0" algn="bl" rotWithShape="0" blurRad="101600" dist="25400" dir="5400000">
              <a:srgbClr val="000000">
                <a:alpha val="18000"/>
              </a:srgbClr>
            </a:outerShdw>
          </a:effectLst>
        </p:spPr>
      </p:pic>
      <p:sp>
        <p:nvSpPr>
          <p:cNvPr id="7" name="Text 3"/>
          <p:cNvSpPr txBox="1"/>
          <p:nvPr/>
        </p:nvSpPr>
        <p:spPr>
          <a:xfrm>
            <a:off x="6519672" y="5011063"/>
            <a:ext cx="5120640" cy="274320"/>
          </a:xfrm>
          <a:prstGeom prst="rect">
            <a:avLst/>
          </a:prstGeom>
          <a:noFill/>
          <a:ln/>
        </p:spPr>
        <p:txBody>
          <a:bodyPr wrap="square" lIns="0" tIns="0" rIns="0" bIns="0" rtlCol="0" anchor="t"/>
          <a:lstStyle/>
          <a:p>
            <a:pPr indent="0" marL="0">
              <a:buNone/>
            </a:pPr>
            <a:r>
              <a:rPr lang="en-US" sz="1050" i="1" dirty="0">
                <a:solidFill>
                  <a:srgbClr val="5F6B66"/>
                </a:solidFill>
              </a:rPr>
              <a:t>Captura real · ¿Dónde estamos parados? Qué se puede simular y qué no se puede decidir</a:t>
            </a:r>
            <a:endParaRPr lang="en-US" sz="1050" dirty="0"/>
          </a:p>
        </p:txBody>
      </p:sp>
      <p:sp>
        <p:nvSpPr>
          <p:cNvPr id="8" name="Text 4"/>
          <p:cNvSpPr txBox="1"/>
          <p:nvPr/>
        </p:nvSpPr>
        <p:spPr>
          <a:xfrm>
            <a:off x="548640" y="5349240"/>
            <a:ext cx="3557016" cy="960120"/>
          </a:xfrm>
          <a:prstGeom prst="roundRect">
            <a:avLst>
              <a:gd name="adj" fmla="val 7619"/>
            </a:avLst>
          </a:prstGeom>
          <a:solidFill>
            <a:srgbClr val="EAF2EC"/>
          </a:solidFill>
          <a:ln/>
        </p:spPr>
        <p:txBody>
          <a:bodyPr wrap="square" lIns="101600" tIns="101600" rIns="101600" bIns="101600" rtlCol="0" anchor="t"/>
          <a:lstStyle/>
          <a:p>
            <a:pPr indent="0" marL="0">
              <a:buNone/>
            </a:pPr>
            <a:r>
              <a:rPr lang="en-US" sz="1500" b="1" dirty="0">
                <a:solidFill>
                  <a:srgbClr val="1F4D3A"/>
                </a:solidFill>
              </a:rPr>
              <a:t>Modo simple</a:t>
            </a:r>
            <a:endParaRPr lang="en-US" sz="1200" dirty="0"/>
          </a:p>
          <a:p>
            <a:pPr indent="0" marL="0">
              <a:buNone/>
            </a:pPr>
            <a:r>
              <a:rPr lang="en-US" sz="1200" dirty="0">
                <a:solidFill>
                  <a:srgbClr val="1E2B24"/>
                </a:solidFill>
              </a:rPr>
              <a:t>Objetivo, capital, demanda, alternativa y precios. «No sé» es una respuesta válida: nunca se completa con ceros.</a:t>
            </a:r>
            <a:endParaRPr lang="en-US" sz="1200" dirty="0"/>
          </a:p>
        </p:txBody>
      </p:sp>
      <p:sp>
        <p:nvSpPr>
          <p:cNvPr id="9" name="Text 5"/>
          <p:cNvSpPr txBox="1"/>
          <p:nvPr/>
        </p:nvSpPr>
        <p:spPr>
          <a:xfrm>
            <a:off x="4306824" y="5349240"/>
            <a:ext cx="3557016" cy="960120"/>
          </a:xfrm>
          <a:prstGeom prst="roundRect">
            <a:avLst>
              <a:gd name="adj" fmla="val 7619"/>
            </a:avLst>
          </a:prstGeom>
          <a:solidFill>
            <a:srgbClr val="EAF2EC"/>
          </a:solidFill>
          <a:ln/>
        </p:spPr>
        <p:txBody>
          <a:bodyPr wrap="square" lIns="101600" tIns="101600" rIns="101600" bIns="101600" rtlCol="0" anchor="t"/>
          <a:lstStyle/>
          <a:p>
            <a:pPr indent="0" marL="0">
              <a:buNone/>
            </a:pPr>
            <a:r>
              <a:rPr lang="en-US" sz="1500" b="1" dirty="0">
                <a:solidFill>
                  <a:srgbClr val="1F4D3A"/>
                </a:solidFill>
              </a:rPr>
              <a:t>Modo experto</a:t>
            </a:r>
            <a:endParaRPr lang="en-US" sz="1200" dirty="0"/>
          </a:p>
          <a:p>
            <a:pPr indent="0" marL="0">
              <a:buNone/>
            </a:pPr>
            <a:r>
              <a:rPr lang="en-US" sz="1200" dirty="0">
                <a:solidFill>
                  <a:srgbClr val="1E2B24"/>
                </a:solidFill>
              </a:rPr>
              <a:t>Todos los datos del motor, para análisis: costos por módulo, impuestos, tasa, deuda y stress.</a:t>
            </a:r>
            <a:endParaRPr lang="en-US" sz="1200" dirty="0"/>
          </a:p>
        </p:txBody>
      </p:sp>
      <p:sp>
        <p:nvSpPr>
          <p:cNvPr id="10" name="Text 6"/>
          <p:cNvSpPr txBox="1"/>
          <p:nvPr/>
        </p:nvSpPr>
        <p:spPr>
          <a:xfrm>
            <a:off x="8065008" y="5349240"/>
            <a:ext cx="3557016" cy="960120"/>
          </a:xfrm>
          <a:prstGeom prst="roundRect">
            <a:avLst>
              <a:gd name="adj" fmla="val 7619"/>
            </a:avLst>
          </a:prstGeom>
          <a:solidFill>
            <a:srgbClr val="EAF2EC"/>
          </a:solidFill>
          <a:ln/>
        </p:spPr>
        <p:txBody>
          <a:bodyPr wrap="square" lIns="101600" tIns="101600" rIns="101600" bIns="101600" rtlCol="0" anchor="t"/>
          <a:lstStyle/>
          <a:p>
            <a:pPr indent="0" marL="0">
              <a:buNone/>
            </a:pPr>
            <a:r>
              <a:rPr lang="en-US" sz="1500" b="1" dirty="0">
                <a:solidFill>
                  <a:srgbClr val="1F4D3A"/>
                </a:solidFill>
              </a:rPr>
              <a:t>Qué responde</a:t>
            </a:r>
            <a:endParaRPr lang="en-US" sz="1200" dirty="0"/>
          </a:p>
          <a:p>
            <a:pPr indent="0" marL="0">
              <a:buNone/>
            </a:pPr>
            <a:r>
              <a:rPr lang="en-US" sz="1200" dirty="0">
                <a:solidFill>
                  <a:srgbClr val="1E2B24"/>
                </a:solidFill>
              </a:rPr>
              <a:t>¿Qué pasa si…? ¿Qué alternativa cumple mi objetivo? ¿Cuánto capital de trabajo? ¿Qué falta validar?</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Qué falta validar: 12 paquetes de trabajo de campo</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tarjeta"/>
          <p:cNvSpPr/>
          <p:nvPr/>
        </p:nvSpPr>
        <p:spPr>
          <a:xfrm>
            <a:off x="548640" y="1325880"/>
            <a:ext cx="2148840" cy="987552"/>
          </a:xfrm>
          <a:prstGeom prst="roundRect">
            <a:avLst>
              <a:gd name="adj" fmla="val 7407"/>
            </a:avLst>
          </a:prstGeom>
          <a:solidFill>
            <a:srgbClr val="F8E3E1"/>
          </a:solidFill>
          <a:ln w="9525">
            <a:solidFill>
              <a:srgbClr val="F8E3E1"/>
            </a:solidFill>
            <a:prstDash val="solid"/>
          </a:ln>
        </p:spPr>
      </p:sp>
      <p:sp>
        <p:nvSpPr>
          <p:cNvPr id="5" name="círculo FaHandshake"/>
          <p:cNvSpPr/>
          <p:nvPr/>
        </p:nvSpPr>
        <p:spPr>
          <a:xfrm>
            <a:off x="685800" y="1508760"/>
            <a:ext cx="566928" cy="566928"/>
          </a:xfrm>
          <a:prstGeom prst="ellipse">
            <a:avLst/>
          </a:prstGeom>
          <a:solidFill>
            <a:srgbClr val="FFFFFF"/>
          </a:solidFill>
          <a:ln w="12700">
            <a:solidFill>
              <a:srgbClr val="FFFFFF"/>
            </a:solidFill>
            <a:prstDash val="solid"/>
          </a:ln>
        </p:spPr>
      </p:sp>
      <p:pic>
        <p:nvPicPr>
          <p:cNvPr id="6" name="Image 0" descr="FaHandshake">    </p:cNvPr>
          <p:cNvPicPr>
            <a:picLocks noChangeAspect="1"/>
          </p:cNvPicPr>
          <p:nvPr/>
        </p:nvPicPr>
        <p:blipFill>
          <a:blip r:embed="rId1"/>
          <a:stretch>
            <a:fillRect/>
          </a:stretch>
        </p:blipFill>
        <p:spPr>
          <a:xfrm>
            <a:off x="821863" y="1644823"/>
            <a:ext cx="294803" cy="294803"/>
          </a:xfrm>
          <a:prstGeom prst="rect">
            <a:avLst/>
          </a:prstGeom>
        </p:spPr>
      </p:pic>
      <p:sp>
        <p:nvSpPr>
          <p:cNvPr id="7" name="Text 4"/>
          <p:cNvSpPr txBox="1"/>
          <p:nvPr/>
        </p:nvSpPr>
        <p:spPr>
          <a:xfrm>
            <a:off x="1353312" y="1417320"/>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Clientes</a:t>
            </a:r>
            <a:endParaRPr lang="en-US" sz="1300" dirty="0"/>
          </a:p>
        </p:txBody>
      </p:sp>
      <p:sp>
        <p:nvSpPr>
          <p:cNvPr id="8" name="Text 5"/>
          <p:cNvSpPr txBox="1"/>
          <p:nvPr/>
        </p:nvSpPr>
        <p:spPr>
          <a:xfrm>
            <a:off x="1353312" y="1929384"/>
            <a:ext cx="457200" cy="256032"/>
          </a:xfrm>
          <a:prstGeom prst="roundRect">
            <a:avLst>
              <a:gd name="adj" fmla="val 42857"/>
            </a:avLst>
          </a:prstGeom>
          <a:solidFill>
            <a:srgbClr val="B3261E"/>
          </a:solidFill>
          <a:ln/>
        </p:spPr>
        <p:txBody>
          <a:bodyPr wrap="square" lIns="0" tIns="0" rIns="0" bIns="0" rtlCol="0" anchor="ctr"/>
          <a:lstStyle/>
          <a:p>
            <a:pPr algn="ctr" indent="0" marL="0">
              <a:buNone/>
            </a:pPr>
            <a:r>
              <a:rPr lang="en-US" sz="1100" b="1" dirty="0">
                <a:solidFill>
                  <a:srgbClr val="FFFFFF"/>
                </a:solidFill>
              </a:rPr>
              <a:t>P1</a:t>
            </a:r>
            <a:endParaRPr lang="en-US" sz="1100" dirty="0"/>
          </a:p>
        </p:txBody>
      </p:sp>
      <p:sp>
        <p:nvSpPr>
          <p:cNvPr id="9" name="tarjeta"/>
          <p:cNvSpPr/>
          <p:nvPr/>
        </p:nvSpPr>
        <p:spPr>
          <a:xfrm>
            <a:off x="2852928" y="1325880"/>
            <a:ext cx="2148840" cy="987552"/>
          </a:xfrm>
          <a:prstGeom prst="roundRect">
            <a:avLst>
              <a:gd name="adj" fmla="val 7407"/>
            </a:avLst>
          </a:prstGeom>
          <a:solidFill>
            <a:srgbClr val="F8E3E1"/>
          </a:solidFill>
          <a:ln w="9525">
            <a:solidFill>
              <a:srgbClr val="F8E3E1"/>
            </a:solidFill>
            <a:prstDash val="solid"/>
          </a:ln>
        </p:spPr>
      </p:sp>
      <p:sp>
        <p:nvSpPr>
          <p:cNvPr id="10" name="círculo GiFactory"/>
          <p:cNvSpPr/>
          <p:nvPr/>
        </p:nvSpPr>
        <p:spPr>
          <a:xfrm>
            <a:off x="2990088" y="1508760"/>
            <a:ext cx="566928" cy="566928"/>
          </a:xfrm>
          <a:prstGeom prst="ellipse">
            <a:avLst/>
          </a:prstGeom>
          <a:solidFill>
            <a:srgbClr val="FFFFFF"/>
          </a:solidFill>
          <a:ln w="12700">
            <a:solidFill>
              <a:srgbClr val="FFFFFF"/>
            </a:solidFill>
            <a:prstDash val="solid"/>
          </a:ln>
        </p:spPr>
      </p:sp>
      <p:pic>
        <p:nvPicPr>
          <p:cNvPr id="11" name="Image 1" descr="GiFactory">    </p:cNvPr>
          <p:cNvPicPr>
            <a:picLocks noChangeAspect="1"/>
          </p:cNvPicPr>
          <p:nvPr/>
        </p:nvPicPr>
        <p:blipFill>
          <a:blip r:embed="rId2"/>
          <a:stretch>
            <a:fillRect/>
          </a:stretch>
        </p:blipFill>
        <p:spPr>
          <a:xfrm>
            <a:off x="3126151" y="1644823"/>
            <a:ext cx="294803" cy="294803"/>
          </a:xfrm>
          <a:prstGeom prst="rect">
            <a:avLst/>
          </a:prstGeom>
        </p:spPr>
      </p:pic>
      <p:sp>
        <p:nvSpPr>
          <p:cNvPr id="12" name="Text 8"/>
          <p:cNvSpPr txBox="1"/>
          <p:nvPr/>
        </p:nvSpPr>
        <p:spPr>
          <a:xfrm>
            <a:off x="3657600" y="1417320"/>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Planta y maquinaria</a:t>
            </a:r>
            <a:endParaRPr lang="en-US" sz="1300" dirty="0"/>
          </a:p>
        </p:txBody>
      </p:sp>
      <p:sp>
        <p:nvSpPr>
          <p:cNvPr id="13" name="Text 9"/>
          <p:cNvSpPr txBox="1"/>
          <p:nvPr/>
        </p:nvSpPr>
        <p:spPr>
          <a:xfrm>
            <a:off x="3657600" y="1929384"/>
            <a:ext cx="457200" cy="256032"/>
          </a:xfrm>
          <a:prstGeom prst="roundRect">
            <a:avLst>
              <a:gd name="adj" fmla="val 42857"/>
            </a:avLst>
          </a:prstGeom>
          <a:solidFill>
            <a:srgbClr val="B3261E"/>
          </a:solidFill>
          <a:ln/>
        </p:spPr>
        <p:txBody>
          <a:bodyPr wrap="square" lIns="0" tIns="0" rIns="0" bIns="0" rtlCol="0" anchor="ctr"/>
          <a:lstStyle/>
          <a:p>
            <a:pPr algn="ctr" indent="0" marL="0">
              <a:buNone/>
            </a:pPr>
            <a:r>
              <a:rPr lang="en-US" sz="1100" b="1" dirty="0">
                <a:solidFill>
                  <a:srgbClr val="FFFFFF"/>
                </a:solidFill>
              </a:rPr>
              <a:t>P1</a:t>
            </a:r>
            <a:endParaRPr lang="en-US" sz="1100" dirty="0"/>
          </a:p>
        </p:txBody>
      </p:sp>
      <p:sp>
        <p:nvSpPr>
          <p:cNvPr id="14" name="tarjeta"/>
          <p:cNvSpPr/>
          <p:nvPr/>
        </p:nvSpPr>
        <p:spPr>
          <a:xfrm>
            <a:off x="5157216" y="1325880"/>
            <a:ext cx="2148840" cy="987552"/>
          </a:xfrm>
          <a:prstGeom prst="roundRect">
            <a:avLst>
              <a:gd name="adj" fmla="val 7407"/>
            </a:avLst>
          </a:prstGeom>
          <a:solidFill>
            <a:srgbClr val="F8E3E1"/>
          </a:solidFill>
          <a:ln w="9525">
            <a:solidFill>
              <a:srgbClr val="F8E3E1"/>
            </a:solidFill>
            <a:prstDash val="solid"/>
          </a:ln>
        </p:spPr>
      </p:sp>
      <p:sp>
        <p:nvSpPr>
          <p:cNvPr id="15" name="círculo GiCorn"/>
          <p:cNvSpPr/>
          <p:nvPr/>
        </p:nvSpPr>
        <p:spPr>
          <a:xfrm>
            <a:off x="5294376" y="1508760"/>
            <a:ext cx="566928" cy="566928"/>
          </a:xfrm>
          <a:prstGeom prst="ellipse">
            <a:avLst/>
          </a:prstGeom>
          <a:solidFill>
            <a:srgbClr val="FFFFFF"/>
          </a:solidFill>
          <a:ln w="12700">
            <a:solidFill>
              <a:srgbClr val="FFFFFF"/>
            </a:solidFill>
            <a:prstDash val="solid"/>
          </a:ln>
        </p:spPr>
      </p:sp>
      <p:pic>
        <p:nvPicPr>
          <p:cNvPr id="16" name="Image 2" descr="GiCorn">    </p:cNvPr>
          <p:cNvPicPr>
            <a:picLocks noChangeAspect="1"/>
          </p:cNvPicPr>
          <p:nvPr/>
        </p:nvPicPr>
        <p:blipFill>
          <a:blip r:embed="rId3"/>
          <a:stretch>
            <a:fillRect/>
          </a:stretch>
        </p:blipFill>
        <p:spPr>
          <a:xfrm>
            <a:off x="5430439" y="1644823"/>
            <a:ext cx="294803" cy="294803"/>
          </a:xfrm>
          <a:prstGeom prst="rect">
            <a:avLst/>
          </a:prstGeom>
        </p:spPr>
      </p:pic>
      <p:sp>
        <p:nvSpPr>
          <p:cNvPr id="17" name="Text 12"/>
          <p:cNvSpPr txBox="1"/>
          <p:nvPr/>
        </p:nvSpPr>
        <p:spPr>
          <a:xfrm>
            <a:off x="5961888" y="1417320"/>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Alimento</a:t>
            </a:r>
            <a:endParaRPr lang="en-US" sz="1300" dirty="0"/>
          </a:p>
        </p:txBody>
      </p:sp>
      <p:sp>
        <p:nvSpPr>
          <p:cNvPr id="18" name="Text 13"/>
          <p:cNvSpPr txBox="1"/>
          <p:nvPr/>
        </p:nvSpPr>
        <p:spPr>
          <a:xfrm>
            <a:off x="5961888" y="1929384"/>
            <a:ext cx="457200" cy="256032"/>
          </a:xfrm>
          <a:prstGeom prst="roundRect">
            <a:avLst>
              <a:gd name="adj" fmla="val 42857"/>
            </a:avLst>
          </a:prstGeom>
          <a:solidFill>
            <a:srgbClr val="B3261E"/>
          </a:solidFill>
          <a:ln/>
        </p:spPr>
        <p:txBody>
          <a:bodyPr wrap="square" lIns="0" tIns="0" rIns="0" bIns="0" rtlCol="0" anchor="ctr"/>
          <a:lstStyle/>
          <a:p>
            <a:pPr algn="ctr" indent="0" marL="0">
              <a:buNone/>
            </a:pPr>
            <a:r>
              <a:rPr lang="en-US" sz="1100" b="1" dirty="0">
                <a:solidFill>
                  <a:srgbClr val="FFFFFF"/>
                </a:solidFill>
              </a:rPr>
              <a:t>P1</a:t>
            </a:r>
            <a:endParaRPr lang="en-US" sz="1100" dirty="0"/>
          </a:p>
        </p:txBody>
      </p:sp>
      <p:sp>
        <p:nvSpPr>
          <p:cNvPr id="19" name="tarjeta"/>
          <p:cNvSpPr/>
          <p:nvPr/>
        </p:nvSpPr>
        <p:spPr>
          <a:xfrm>
            <a:off x="548640" y="2450592"/>
            <a:ext cx="2148840" cy="987552"/>
          </a:xfrm>
          <a:prstGeom prst="roundRect">
            <a:avLst>
              <a:gd name="adj" fmla="val 7407"/>
            </a:avLst>
          </a:prstGeom>
          <a:solidFill>
            <a:srgbClr val="F8E3E1"/>
          </a:solidFill>
          <a:ln w="9525">
            <a:solidFill>
              <a:srgbClr val="F8E3E1"/>
            </a:solidFill>
            <a:prstDash val="solid"/>
          </a:ln>
        </p:spPr>
      </p:sp>
      <p:sp>
        <p:nvSpPr>
          <p:cNvPr id="20" name="círculo FaEgg"/>
          <p:cNvSpPr/>
          <p:nvPr/>
        </p:nvSpPr>
        <p:spPr>
          <a:xfrm>
            <a:off x="685800" y="2633472"/>
            <a:ext cx="566928" cy="566928"/>
          </a:xfrm>
          <a:prstGeom prst="ellipse">
            <a:avLst/>
          </a:prstGeom>
          <a:solidFill>
            <a:srgbClr val="FFFFFF"/>
          </a:solidFill>
          <a:ln w="12700">
            <a:solidFill>
              <a:srgbClr val="FFFFFF"/>
            </a:solidFill>
            <a:prstDash val="solid"/>
          </a:ln>
        </p:spPr>
      </p:sp>
      <p:pic>
        <p:nvPicPr>
          <p:cNvPr id="21" name="Image 3" descr="FaEgg">    </p:cNvPr>
          <p:cNvPicPr>
            <a:picLocks noChangeAspect="1"/>
          </p:cNvPicPr>
          <p:nvPr/>
        </p:nvPicPr>
        <p:blipFill>
          <a:blip r:embed="rId4"/>
          <a:stretch>
            <a:fillRect/>
          </a:stretch>
        </p:blipFill>
        <p:spPr>
          <a:xfrm>
            <a:off x="821863" y="2769535"/>
            <a:ext cx="294803" cy="294803"/>
          </a:xfrm>
          <a:prstGeom prst="rect">
            <a:avLst/>
          </a:prstGeom>
        </p:spPr>
      </p:pic>
      <p:sp>
        <p:nvSpPr>
          <p:cNvPr id="22" name="Text 16"/>
          <p:cNvSpPr txBox="1"/>
          <p:nvPr/>
        </p:nvSpPr>
        <p:spPr>
          <a:xfrm>
            <a:off x="1353312" y="2542032"/>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Pollitos</a:t>
            </a:r>
            <a:endParaRPr lang="en-US" sz="1300" dirty="0"/>
          </a:p>
        </p:txBody>
      </p:sp>
      <p:sp>
        <p:nvSpPr>
          <p:cNvPr id="23" name="Text 17"/>
          <p:cNvSpPr txBox="1"/>
          <p:nvPr/>
        </p:nvSpPr>
        <p:spPr>
          <a:xfrm>
            <a:off x="1353312" y="3054096"/>
            <a:ext cx="457200" cy="256032"/>
          </a:xfrm>
          <a:prstGeom prst="roundRect">
            <a:avLst>
              <a:gd name="adj" fmla="val 42857"/>
            </a:avLst>
          </a:prstGeom>
          <a:solidFill>
            <a:srgbClr val="B3261E"/>
          </a:solidFill>
          <a:ln/>
        </p:spPr>
        <p:txBody>
          <a:bodyPr wrap="square" lIns="0" tIns="0" rIns="0" bIns="0" rtlCol="0" anchor="ctr"/>
          <a:lstStyle/>
          <a:p>
            <a:pPr algn="ctr" indent="0" marL="0">
              <a:buNone/>
            </a:pPr>
            <a:r>
              <a:rPr lang="en-US" sz="1100" b="1" dirty="0">
                <a:solidFill>
                  <a:srgbClr val="FFFFFF"/>
                </a:solidFill>
              </a:rPr>
              <a:t>P1</a:t>
            </a:r>
            <a:endParaRPr lang="en-US" sz="1100" dirty="0"/>
          </a:p>
        </p:txBody>
      </p:sp>
      <p:sp>
        <p:nvSpPr>
          <p:cNvPr id="24" name="tarjeta"/>
          <p:cNvSpPr/>
          <p:nvPr/>
        </p:nvSpPr>
        <p:spPr>
          <a:xfrm>
            <a:off x="2852928" y="2450592"/>
            <a:ext cx="2148840" cy="987552"/>
          </a:xfrm>
          <a:prstGeom prst="roundRect">
            <a:avLst>
              <a:gd name="adj" fmla="val 7407"/>
            </a:avLst>
          </a:prstGeom>
          <a:solidFill>
            <a:srgbClr val="F8E3E1"/>
          </a:solidFill>
          <a:ln w="9525">
            <a:solidFill>
              <a:srgbClr val="F8E3E1"/>
            </a:solidFill>
            <a:prstDash val="solid"/>
          </a:ln>
        </p:spPr>
      </p:sp>
      <p:sp>
        <p:nvSpPr>
          <p:cNvPr id="25" name="círculo GiBarn"/>
          <p:cNvSpPr/>
          <p:nvPr/>
        </p:nvSpPr>
        <p:spPr>
          <a:xfrm>
            <a:off x="2990088" y="2633472"/>
            <a:ext cx="566928" cy="566928"/>
          </a:xfrm>
          <a:prstGeom prst="ellipse">
            <a:avLst/>
          </a:prstGeom>
          <a:solidFill>
            <a:srgbClr val="FFFFFF"/>
          </a:solidFill>
          <a:ln w="12700">
            <a:solidFill>
              <a:srgbClr val="FFFFFF"/>
            </a:solidFill>
            <a:prstDash val="solid"/>
          </a:ln>
        </p:spPr>
      </p:sp>
      <p:pic>
        <p:nvPicPr>
          <p:cNvPr id="26" name="Image 4" descr="GiBarn">    </p:cNvPr>
          <p:cNvPicPr>
            <a:picLocks noChangeAspect="1"/>
          </p:cNvPicPr>
          <p:nvPr/>
        </p:nvPicPr>
        <p:blipFill>
          <a:blip r:embed="rId5"/>
          <a:stretch>
            <a:fillRect/>
          </a:stretch>
        </p:blipFill>
        <p:spPr>
          <a:xfrm>
            <a:off x="3126151" y="2769535"/>
            <a:ext cx="294803" cy="294803"/>
          </a:xfrm>
          <a:prstGeom prst="rect">
            <a:avLst/>
          </a:prstGeom>
        </p:spPr>
      </p:pic>
      <p:sp>
        <p:nvSpPr>
          <p:cNvPr id="27" name="Text 20"/>
          <p:cNvSpPr txBox="1"/>
          <p:nvPr/>
        </p:nvSpPr>
        <p:spPr>
          <a:xfrm>
            <a:off x="3657600" y="2542032"/>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Granjas</a:t>
            </a:r>
            <a:endParaRPr lang="en-US" sz="1300" dirty="0"/>
          </a:p>
        </p:txBody>
      </p:sp>
      <p:sp>
        <p:nvSpPr>
          <p:cNvPr id="28" name="Text 21"/>
          <p:cNvSpPr txBox="1"/>
          <p:nvPr/>
        </p:nvSpPr>
        <p:spPr>
          <a:xfrm>
            <a:off x="3657600" y="3054096"/>
            <a:ext cx="457200" cy="256032"/>
          </a:xfrm>
          <a:prstGeom prst="roundRect">
            <a:avLst>
              <a:gd name="adj" fmla="val 42857"/>
            </a:avLst>
          </a:prstGeom>
          <a:solidFill>
            <a:srgbClr val="B3261E"/>
          </a:solidFill>
          <a:ln/>
        </p:spPr>
        <p:txBody>
          <a:bodyPr wrap="square" lIns="0" tIns="0" rIns="0" bIns="0" rtlCol="0" anchor="ctr"/>
          <a:lstStyle/>
          <a:p>
            <a:pPr algn="ctr" indent="0" marL="0">
              <a:buNone/>
            </a:pPr>
            <a:r>
              <a:rPr lang="en-US" sz="1100" b="1" dirty="0">
                <a:solidFill>
                  <a:srgbClr val="FFFFFF"/>
                </a:solidFill>
              </a:rPr>
              <a:t>P1</a:t>
            </a:r>
            <a:endParaRPr lang="en-US" sz="1100" dirty="0"/>
          </a:p>
        </p:txBody>
      </p:sp>
      <p:sp>
        <p:nvSpPr>
          <p:cNvPr id="29" name="tarjeta"/>
          <p:cNvSpPr/>
          <p:nvPr/>
        </p:nvSpPr>
        <p:spPr>
          <a:xfrm>
            <a:off x="5157216" y="2450592"/>
            <a:ext cx="2148840" cy="987552"/>
          </a:xfrm>
          <a:prstGeom prst="roundRect">
            <a:avLst>
              <a:gd name="adj" fmla="val 7407"/>
            </a:avLst>
          </a:prstGeom>
          <a:solidFill>
            <a:srgbClr val="EAF2EC"/>
          </a:solidFill>
          <a:ln w="9525">
            <a:solidFill>
              <a:srgbClr val="EAF2EC"/>
            </a:solidFill>
            <a:prstDash val="solid"/>
          </a:ln>
        </p:spPr>
      </p:sp>
      <p:sp>
        <p:nvSpPr>
          <p:cNvPr id="30" name="círculo FaPlug"/>
          <p:cNvSpPr/>
          <p:nvPr/>
        </p:nvSpPr>
        <p:spPr>
          <a:xfrm>
            <a:off x="5294376" y="2633472"/>
            <a:ext cx="566928" cy="566928"/>
          </a:xfrm>
          <a:prstGeom prst="ellipse">
            <a:avLst/>
          </a:prstGeom>
          <a:solidFill>
            <a:srgbClr val="FFFFFF"/>
          </a:solidFill>
          <a:ln w="12700">
            <a:solidFill>
              <a:srgbClr val="FFFFFF"/>
            </a:solidFill>
            <a:prstDash val="solid"/>
          </a:ln>
        </p:spPr>
      </p:sp>
      <p:pic>
        <p:nvPicPr>
          <p:cNvPr id="31" name="Image 5" descr="FaPlug">    </p:cNvPr>
          <p:cNvPicPr>
            <a:picLocks noChangeAspect="1"/>
          </p:cNvPicPr>
          <p:nvPr/>
        </p:nvPicPr>
        <p:blipFill>
          <a:blip r:embed="rId6"/>
          <a:stretch>
            <a:fillRect/>
          </a:stretch>
        </p:blipFill>
        <p:spPr>
          <a:xfrm>
            <a:off x="5430439" y="2769535"/>
            <a:ext cx="294803" cy="294803"/>
          </a:xfrm>
          <a:prstGeom prst="rect">
            <a:avLst/>
          </a:prstGeom>
        </p:spPr>
      </p:pic>
      <p:sp>
        <p:nvSpPr>
          <p:cNvPr id="32" name="Text 24"/>
          <p:cNvSpPr txBox="1"/>
          <p:nvPr/>
        </p:nvSpPr>
        <p:spPr>
          <a:xfrm>
            <a:off x="5961888" y="2542032"/>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Agua, energía y gas</a:t>
            </a:r>
            <a:endParaRPr lang="en-US" sz="1300" dirty="0"/>
          </a:p>
        </p:txBody>
      </p:sp>
      <p:sp>
        <p:nvSpPr>
          <p:cNvPr id="33" name="Text 25"/>
          <p:cNvSpPr txBox="1"/>
          <p:nvPr/>
        </p:nvSpPr>
        <p:spPr>
          <a:xfrm>
            <a:off x="5961888" y="3054096"/>
            <a:ext cx="457200" cy="256032"/>
          </a:xfrm>
          <a:prstGeom prst="roundRect">
            <a:avLst>
              <a:gd name="adj" fmla="val 42857"/>
            </a:avLst>
          </a:prstGeom>
          <a:solidFill>
            <a:srgbClr val="C8641E"/>
          </a:solidFill>
          <a:ln/>
        </p:spPr>
        <p:txBody>
          <a:bodyPr wrap="square" lIns="0" tIns="0" rIns="0" bIns="0" rtlCol="0" anchor="ctr"/>
          <a:lstStyle/>
          <a:p>
            <a:pPr algn="ctr" indent="0" marL="0">
              <a:buNone/>
            </a:pPr>
            <a:r>
              <a:rPr lang="en-US" sz="1100" b="1" dirty="0">
                <a:solidFill>
                  <a:srgbClr val="FFFFFF"/>
                </a:solidFill>
              </a:rPr>
              <a:t>P2</a:t>
            </a:r>
            <a:endParaRPr lang="en-US" sz="1100" dirty="0"/>
          </a:p>
        </p:txBody>
      </p:sp>
      <p:sp>
        <p:nvSpPr>
          <p:cNvPr id="34" name="tarjeta"/>
          <p:cNvSpPr/>
          <p:nvPr/>
        </p:nvSpPr>
        <p:spPr>
          <a:xfrm>
            <a:off x="548640" y="3575304"/>
            <a:ext cx="2148840" cy="987552"/>
          </a:xfrm>
          <a:prstGeom prst="roundRect">
            <a:avLst>
              <a:gd name="adj" fmla="val 7407"/>
            </a:avLst>
          </a:prstGeom>
          <a:solidFill>
            <a:srgbClr val="EAF2EC"/>
          </a:solidFill>
          <a:ln w="9525">
            <a:solidFill>
              <a:srgbClr val="EAF2EC"/>
            </a:solidFill>
            <a:prstDash val="solid"/>
          </a:ln>
        </p:spPr>
      </p:sp>
      <p:sp>
        <p:nvSpPr>
          <p:cNvPr id="35" name="círculo FaMap"/>
          <p:cNvSpPr/>
          <p:nvPr/>
        </p:nvSpPr>
        <p:spPr>
          <a:xfrm>
            <a:off x="685800" y="3758184"/>
            <a:ext cx="566928" cy="566928"/>
          </a:xfrm>
          <a:prstGeom prst="ellipse">
            <a:avLst/>
          </a:prstGeom>
          <a:solidFill>
            <a:srgbClr val="FFFFFF"/>
          </a:solidFill>
          <a:ln w="12700">
            <a:solidFill>
              <a:srgbClr val="FFFFFF"/>
            </a:solidFill>
            <a:prstDash val="solid"/>
          </a:ln>
        </p:spPr>
      </p:sp>
      <p:pic>
        <p:nvPicPr>
          <p:cNvPr id="36" name="Image 6" descr="FaMap">    </p:cNvPr>
          <p:cNvPicPr>
            <a:picLocks noChangeAspect="1"/>
          </p:cNvPicPr>
          <p:nvPr/>
        </p:nvPicPr>
        <p:blipFill>
          <a:blip r:embed="rId7"/>
          <a:stretch>
            <a:fillRect/>
          </a:stretch>
        </p:blipFill>
        <p:spPr>
          <a:xfrm>
            <a:off x="821863" y="3894247"/>
            <a:ext cx="294803" cy="294803"/>
          </a:xfrm>
          <a:prstGeom prst="rect">
            <a:avLst/>
          </a:prstGeom>
        </p:spPr>
      </p:pic>
      <p:sp>
        <p:nvSpPr>
          <p:cNvPr id="37" name="Text 28"/>
          <p:cNvSpPr txBox="1"/>
          <p:nvPr/>
        </p:nvSpPr>
        <p:spPr>
          <a:xfrm>
            <a:off x="1353312" y="3666744"/>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Terreno</a:t>
            </a:r>
            <a:endParaRPr lang="en-US" sz="1300" dirty="0"/>
          </a:p>
        </p:txBody>
      </p:sp>
      <p:sp>
        <p:nvSpPr>
          <p:cNvPr id="38" name="Text 29"/>
          <p:cNvSpPr txBox="1"/>
          <p:nvPr/>
        </p:nvSpPr>
        <p:spPr>
          <a:xfrm>
            <a:off x="1353312" y="4178808"/>
            <a:ext cx="457200" cy="256032"/>
          </a:xfrm>
          <a:prstGeom prst="roundRect">
            <a:avLst>
              <a:gd name="adj" fmla="val 42857"/>
            </a:avLst>
          </a:prstGeom>
          <a:solidFill>
            <a:srgbClr val="C8641E"/>
          </a:solidFill>
          <a:ln/>
        </p:spPr>
        <p:txBody>
          <a:bodyPr wrap="square" lIns="0" tIns="0" rIns="0" bIns="0" rtlCol="0" anchor="ctr"/>
          <a:lstStyle/>
          <a:p>
            <a:pPr algn="ctr" indent="0" marL="0">
              <a:buNone/>
            </a:pPr>
            <a:r>
              <a:rPr lang="en-US" sz="1100" b="1" dirty="0">
                <a:solidFill>
                  <a:srgbClr val="FFFFFF"/>
                </a:solidFill>
              </a:rPr>
              <a:t>P2</a:t>
            </a:r>
            <a:endParaRPr lang="en-US" sz="1100" dirty="0"/>
          </a:p>
        </p:txBody>
      </p:sp>
      <p:sp>
        <p:nvSpPr>
          <p:cNvPr id="39" name="tarjeta"/>
          <p:cNvSpPr/>
          <p:nvPr/>
        </p:nvSpPr>
        <p:spPr>
          <a:xfrm>
            <a:off x="2852928" y="3575304"/>
            <a:ext cx="2148840" cy="987552"/>
          </a:xfrm>
          <a:prstGeom prst="roundRect">
            <a:avLst>
              <a:gd name="adj" fmla="val 7407"/>
            </a:avLst>
          </a:prstGeom>
          <a:solidFill>
            <a:srgbClr val="EAF2EC"/>
          </a:solidFill>
          <a:ln w="9525">
            <a:solidFill>
              <a:srgbClr val="EAF2EC"/>
            </a:solidFill>
            <a:prstDash val="solid"/>
          </a:ln>
        </p:spPr>
      </p:sp>
      <p:sp>
        <p:nvSpPr>
          <p:cNvPr id="40" name="círculo FaTruck"/>
          <p:cNvSpPr/>
          <p:nvPr/>
        </p:nvSpPr>
        <p:spPr>
          <a:xfrm>
            <a:off x="2990088" y="3758184"/>
            <a:ext cx="566928" cy="566928"/>
          </a:xfrm>
          <a:prstGeom prst="ellipse">
            <a:avLst/>
          </a:prstGeom>
          <a:solidFill>
            <a:srgbClr val="FFFFFF"/>
          </a:solidFill>
          <a:ln w="12700">
            <a:solidFill>
              <a:srgbClr val="FFFFFF"/>
            </a:solidFill>
            <a:prstDash val="solid"/>
          </a:ln>
        </p:spPr>
      </p:sp>
      <p:pic>
        <p:nvPicPr>
          <p:cNvPr id="41" name="Image 7" descr="FaTruck">    </p:cNvPr>
          <p:cNvPicPr>
            <a:picLocks noChangeAspect="1"/>
          </p:cNvPicPr>
          <p:nvPr/>
        </p:nvPicPr>
        <p:blipFill>
          <a:blip r:embed="rId8"/>
          <a:stretch>
            <a:fillRect/>
          </a:stretch>
        </p:blipFill>
        <p:spPr>
          <a:xfrm>
            <a:off x="3126151" y="3894247"/>
            <a:ext cx="294803" cy="294803"/>
          </a:xfrm>
          <a:prstGeom prst="rect">
            <a:avLst/>
          </a:prstGeom>
        </p:spPr>
      </p:pic>
      <p:sp>
        <p:nvSpPr>
          <p:cNvPr id="42" name="Text 32"/>
          <p:cNvSpPr txBox="1"/>
          <p:nvPr/>
        </p:nvSpPr>
        <p:spPr>
          <a:xfrm>
            <a:off x="3657600" y="3666744"/>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Logística</a:t>
            </a:r>
            <a:endParaRPr lang="en-US" sz="1300" dirty="0"/>
          </a:p>
        </p:txBody>
      </p:sp>
      <p:sp>
        <p:nvSpPr>
          <p:cNvPr id="43" name="Text 33"/>
          <p:cNvSpPr txBox="1"/>
          <p:nvPr/>
        </p:nvSpPr>
        <p:spPr>
          <a:xfrm>
            <a:off x="3657600" y="4178808"/>
            <a:ext cx="457200" cy="256032"/>
          </a:xfrm>
          <a:prstGeom prst="roundRect">
            <a:avLst>
              <a:gd name="adj" fmla="val 42857"/>
            </a:avLst>
          </a:prstGeom>
          <a:solidFill>
            <a:srgbClr val="C8641E"/>
          </a:solidFill>
          <a:ln/>
        </p:spPr>
        <p:txBody>
          <a:bodyPr wrap="square" lIns="0" tIns="0" rIns="0" bIns="0" rtlCol="0" anchor="ctr"/>
          <a:lstStyle/>
          <a:p>
            <a:pPr algn="ctr" indent="0" marL="0">
              <a:buNone/>
            </a:pPr>
            <a:r>
              <a:rPr lang="en-US" sz="1100" b="1" dirty="0">
                <a:solidFill>
                  <a:srgbClr val="FFFFFF"/>
                </a:solidFill>
              </a:rPr>
              <a:t>P2</a:t>
            </a:r>
            <a:endParaRPr lang="en-US" sz="1100" dirty="0"/>
          </a:p>
        </p:txBody>
      </p:sp>
      <p:sp>
        <p:nvSpPr>
          <p:cNvPr id="44" name="tarjeta"/>
          <p:cNvSpPr/>
          <p:nvPr/>
        </p:nvSpPr>
        <p:spPr>
          <a:xfrm>
            <a:off x="5157216" y="3575304"/>
            <a:ext cx="2148840" cy="987552"/>
          </a:xfrm>
          <a:prstGeom prst="roundRect">
            <a:avLst>
              <a:gd name="adj" fmla="val 7407"/>
            </a:avLst>
          </a:prstGeom>
          <a:solidFill>
            <a:srgbClr val="EAF2EC"/>
          </a:solidFill>
          <a:ln w="9525">
            <a:solidFill>
              <a:srgbClr val="EAF2EC"/>
            </a:solidFill>
            <a:prstDash val="solid"/>
          </a:ln>
        </p:spPr>
      </p:sp>
      <p:sp>
        <p:nvSpPr>
          <p:cNvPr id="45" name="círculo FaUsers"/>
          <p:cNvSpPr/>
          <p:nvPr/>
        </p:nvSpPr>
        <p:spPr>
          <a:xfrm>
            <a:off x="5294376" y="3758184"/>
            <a:ext cx="566928" cy="566928"/>
          </a:xfrm>
          <a:prstGeom prst="ellipse">
            <a:avLst/>
          </a:prstGeom>
          <a:solidFill>
            <a:srgbClr val="FFFFFF"/>
          </a:solidFill>
          <a:ln w="12700">
            <a:solidFill>
              <a:srgbClr val="FFFFFF"/>
            </a:solidFill>
            <a:prstDash val="solid"/>
          </a:ln>
        </p:spPr>
      </p:sp>
      <p:pic>
        <p:nvPicPr>
          <p:cNvPr id="46" name="Image 8" descr="FaUsers">    </p:cNvPr>
          <p:cNvPicPr>
            <a:picLocks noChangeAspect="1"/>
          </p:cNvPicPr>
          <p:nvPr/>
        </p:nvPicPr>
        <p:blipFill>
          <a:blip r:embed="rId9"/>
          <a:stretch>
            <a:fillRect/>
          </a:stretch>
        </p:blipFill>
        <p:spPr>
          <a:xfrm>
            <a:off x="5430439" y="3894247"/>
            <a:ext cx="294803" cy="294803"/>
          </a:xfrm>
          <a:prstGeom prst="rect">
            <a:avLst/>
          </a:prstGeom>
        </p:spPr>
      </p:pic>
      <p:sp>
        <p:nvSpPr>
          <p:cNvPr id="47" name="Text 36"/>
          <p:cNvSpPr txBox="1"/>
          <p:nvPr/>
        </p:nvSpPr>
        <p:spPr>
          <a:xfrm>
            <a:off x="5961888" y="3666744"/>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Recursos humanos</a:t>
            </a:r>
            <a:endParaRPr lang="en-US" sz="1300" dirty="0"/>
          </a:p>
        </p:txBody>
      </p:sp>
      <p:sp>
        <p:nvSpPr>
          <p:cNvPr id="48" name="Text 37"/>
          <p:cNvSpPr txBox="1"/>
          <p:nvPr/>
        </p:nvSpPr>
        <p:spPr>
          <a:xfrm>
            <a:off x="5961888" y="4178808"/>
            <a:ext cx="457200" cy="256032"/>
          </a:xfrm>
          <a:prstGeom prst="roundRect">
            <a:avLst>
              <a:gd name="adj" fmla="val 42857"/>
            </a:avLst>
          </a:prstGeom>
          <a:solidFill>
            <a:srgbClr val="C8641E"/>
          </a:solidFill>
          <a:ln/>
        </p:spPr>
        <p:txBody>
          <a:bodyPr wrap="square" lIns="0" tIns="0" rIns="0" bIns="0" rtlCol="0" anchor="ctr"/>
          <a:lstStyle/>
          <a:p>
            <a:pPr algn="ctr" indent="0" marL="0">
              <a:buNone/>
            </a:pPr>
            <a:r>
              <a:rPr lang="en-US" sz="1100" b="1" dirty="0">
                <a:solidFill>
                  <a:srgbClr val="FFFFFF"/>
                </a:solidFill>
              </a:rPr>
              <a:t>P2</a:t>
            </a:r>
            <a:endParaRPr lang="en-US" sz="1100" dirty="0"/>
          </a:p>
        </p:txBody>
      </p:sp>
      <p:sp>
        <p:nvSpPr>
          <p:cNvPr id="49" name="tarjeta"/>
          <p:cNvSpPr/>
          <p:nvPr/>
        </p:nvSpPr>
        <p:spPr>
          <a:xfrm>
            <a:off x="548640" y="4700016"/>
            <a:ext cx="2148840" cy="987552"/>
          </a:xfrm>
          <a:prstGeom prst="roundRect">
            <a:avLst>
              <a:gd name="adj" fmla="val 7407"/>
            </a:avLst>
          </a:prstGeom>
          <a:solidFill>
            <a:srgbClr val="EAF2EC"/>
          </a:solidFill>
          <a:ln w="9525">
            <a:solidFill>
              <a:srgbClr val="EAF2EC"/>
            </a:solidFill>
            <a:prstDash val="solid"/>
          </a:ln>
        </p:spPr>
      </p:sp>
      <p:sp>
        <p:nvSpPr>
          <p:cNvPr id="50" name="círculo FaUniversity"/>
          <p:cNvSpPr/>
          <p:nvPr/>
        </p:nvSpPr>
        <p:spPr>
          <a:xfrm>
            <a:off x="685800" y="4882896"/>
            <a:ext cx="566928" cy="566928"/>
          </a:xfrm>
          <a:prstGeom prst="ellipse">
            <a:avLst/>
          </a:prstGeom>
          <a:solidFill>
            <a:srgbClr val="FFFFFF"/>
          </a:solidFill>
          <a:ln w="12700">
            <a:solidFill>
              <a:srgbClr val="FFFFFF"/>
            </a:solidFill>
            <a:prstDash val="solid"/>
          </a:ln>
        </p:spPr>
      </p:sp>
      <p:pic>
        <p:nvPicPr>
          <p:cNvPr id="51" name="Image 9" descr="FaUniversity">    </p:cNvPr>
          <p:cNvPicPr>
            <a:picLocks noChangeAspect="1"/>
          </p:cNvPicPr>
          <p:nvPr/>
        </p:nvPicPr>
        <p:blipFill>
          <a:blip r:embed="rId10"/>
          <a:stretch>
            <a:fillRect/>
          </a:stretch>
        </p:blipFill>
        <p:spPr>
          <a:xfrm>
            <a:off x="821863" y="5018959"/>
            <a:ext cx="294803" cy="294803"/>
          </a:xfrm>
          <a:prstGeom prst="rect">
            <a:avLst/>
          </a:prstGeom>
        </p:spPr>
      </p:pic>
      <p:sp>
        <p:nvSpPr>
          <p:cNvPr id="52" name="Text 40"/>
          <p:cNvSpPr txBox="1"/>
          <p:nvPr/>
        </p:nvSpPr>
        <p:spPr>
          <a:xfrm>
            <a:off x="1353312" y="4791456"/>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Impuestos</a:t>
            </a:r>
            <a:endParaRPr lang="en-US" sz="1300" dirty="0"/>
          </a:p>
        </p:txBody>
      </p:sp>
      <p:sp>
        <p:nvSpPr>
          <p:cNvPr id="53" name="Text 41"/>
          <p:cNvSpPr txBox="1"/>
          <p:nvPr/>
        </p:nvSpPr>
        <p:spPr>
          <a:xfrm>
            <a:off x="1353312" y="5303520"/>
            <a:ext cx="457200" cy="256032"/>
          </a:xfrm>
          <a:prstGeom prst="roundRect">
            <a:avLst>
              <a:gd name="adj" fmla="val 42857"/>
            </a:avLst>
          </a:prstGeom>
          <a:solidFill>
            <a:srgbClr val="C8641E"/>
          </a:solidFill>
          <a:ln/>
        </p:spPr>
        <p:txBody>
          <a:bodyPr wrap="square" lIns="0" tIns="0" rIns="0" bIns="0" rtlCol="0" anchor="ctr"/>
          <a:lstStyle/>
          <a:p>
            <a:pPr algn="ctr" indent="0" marL="0">
              <a:buNone/>
            </a:pPr>
            <a:r>
              <a:rPr lang="en-US" sz="1100" b="1" dirty="0">
                <a:solidFill>
                  <a:srgbClr val="FFFFFF"/>
                </a:solidFill>
              </a:rPr>
              <a:t>P2</a:t>
            </a:r>
            <a:endParaRPr lang="en-US" sz="1100" dirty="0"/>
          </a:p>
        </p:txBody>
      </p:sp>
      <p:sp>
        <p:nvSpPr>
          <p:cNvPr id="54" name="tarjeta"/>
          <p:cNvSpPr/>
          <p:nvPr/>
        </p:nvSpPr>
        <p:spPr>
          <a:xfrm>
            <a:off x="2852928" y="4700016"/>
            <a:ext cx="2148840" cy="987552"/>
          </a:xfrm>
          <a:prstGeom prst="roundRect">
            <a:avLst>
              <a:gd name="adj" fmla="val 7407"/>
            </a:avLst>
          </a:prstGeom>
          <a:solidFill>
            <a:srgbClr val="EAF2EC"/>
          </a:solidFill>
          <a:ln w="9525">
            <a:solidFill>
              <a:srgbClr val="EAF2EC"/>
            </a:solidFill>
            <a:prstDash val="solid"/>
          </a:ln>
        </p:spPr>
      </p:sp>
      <p:sp>
        <p:nvSpPr>
          <p:cNvPr id="55" name="círculo FaMoneyBillWave"/>
          <p:cNvSpPr/>
          <p:nvPr/>
        </p:nvSpPr>
        <p:spPr>
          <a:xfrm>
            <a:off x="2990088" y="4882896"/>
            <a:ext cx="566928" cy="566928"/>
          </a:xfrm>
          <a:prstGeom prst="ellipse">
            <a:avLst/>
          </a:prstGeom>
          <a:solidFill>
            <a:srgbClr val="FFFFFF"/>
          </a:solidFill>
          <a:ln w="12700">
            <a:solidFill>
              <a:srgbClr val="FFFFFF"/>
            </a:solidFill>
            <a:prstDash val="solid"/>
          </a:ln>
        </p:spPr>
      </p:sp>
      <p:pic>
        <p:nvPicPr>
          <p:cNvPr id="56" name="Image 10" descr="FaMoneyBillWave">    </p:cNvPr>
          <p:cNvPicPr>
            <a:picLocks noChangeAspect="1"/>
          </p:cNvPicPr>
          <p:nvPr/>
        </p:nvPicPr>
        <p:blipFill>
          <a:blip r:embed="rId11"/>
          <a:stretch>
            <a:fillRect/>
          </a:stretch>
        </p:blipFill>
        <p:spPr>
          <a:xfrm>
            <a:off x="3126151" y="5018959"/>
            <a:ext cx="294803" cy="294803"/>
          </a:xfrm>
          <a:prstGeom prst="rect">
            <a:avLst/>
          </a:prstGeom>
        </p:spPr>
      </p:pic>
      <p:sp>
        <p:nvSpPr>
          <p:cNvPr id="57" name="Text 44"/>
          <p:cNvSpPr txBox="1"/>
          <p:nvPr/>
        </p:nvSpPr>
        <p:spPr>
          <a:xfrm>
            <a:off x="3657600" y="4791456"/>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Financiamiento</a:t>
            </a:r>
            <a:endParaRPr lang="en-US" sz="1300" dirty="0"/>
          </a:p>
        </p:txBody>
      </p:sp>
      <p:sp>
        <p:nvSpPr>
          <p:cNvPr id="58" name="Text 45"/>
          <p:cNvSpPr txBox="1"/>
          <p:nvPr/>
        </p:nvSpPr>
        <p:spPr>
          <a:xfrm>
            <a:off x="3657600" y="5303520"/>
            <a:ext cx="457200" cy="256032"/>
          </a:xfrm>
          <a:prstGeom prst="roundRect">
            <a:avLst>
              <a:gd name="adj" fmla="val 42857"/>
            </a:avLst>
          </a:prstGeom>
          <a:solidFill>
            <a:srgbClr val="C8641E"/>
          </a:solidFill>
          <a:ln/>
        </p:spPr>
        <p:txBody>
          <a:bodyPr wrap="square" lIns="0" tIns="0" rIns="0" bIns="0" rtlCol="0" anchor="ctr"/>
          <a:lstStyle/>
          <a:p>
            <a:pPr algn="ctr" indent="0" marL="0">
              <a:buNone/>
            </a:pPr>
            <a:r>
              <a:rPr lang="en-US" sz="1100" b="1" dirty="0">
                <a:solidFill>
                  <a:srgbClr val="FFFFFF"/>
                </a:solidFill>
              </a:rPr>
              <a:t>P2</a:t>
            </a:r>
            <a:endParaRPr lang="en-US" sz="1100" dirty="0"/>
          </a:p>
        </p:txBody>
      </p:sp>
      <p:sp>
        <p:nvSpPr>
          <p:cNvPr id="59" name="tarjeta"/>
          <p:cNvSpPr/>
          <p:nvPr/>
        </p:nvSpPr>
        <p:spPr>
          <a:xfrm>
            <a:off x="5157216" y="4700016"/>
            <a:ext cx="2148840" cy="987552"/>
          </a:xfrm>
          <a:prstGeom prst="roundRect">
            <a:avLst>
              <a:gd name="adj" fmla="val 7407"/>
            </a:avLst>
          </a:prstGeom>
          <a:solidFill>
            <a:srgbClr val="EAF2EC"/>
          </a:solidFill>
          <a:ln w="9525">
            <a:solidFill>
              <a:srgbClr val="EAF2EC"/>
            </a:solidFill>
            <a:prstDash val="solid"/>
          </a:ln>
        </p:spPr>
      </p:sp>
      <p:sp>
        <p:nvSpPr>
          <p:cNvPr id="60" name="círculo FaShip"/>
          <p:cNvSpPr/>
          <p:nvPr/>
        </p:nvSpPr>
        <p:spPr>
          <a:xfrm>
            <a:off x="5294376" y="4882896"/>
            <a:ext cx="566928" cy="566928"/>
          </a:xfrm>
          <a:prstGeom prst="ellipse">
            <a:avLst/>
          </a:prstGeom>
          <a:solidFill>
            <a:srgbClr val="FFFFFF"/>
          </a:solidFill>
          <a:ln w="12700">
            <a:solidFill>
              <a:srgbClr val="FFFFFF"/>
            </a:solidFill>
            <a:prstDash val="solid"/>
          </a:ln>
        </p:spPr>
      </p:sp>
      <p:pic>
        <p:nvPicPr>
          <p:cNvPr id="61" name="Image 11" descr="FaShip">    </p:cNvPr>
          <p:cNvPicPr>
            <a:picLocks noChangeAspect="1"/>
          </p:cNvPicPr>
          <p:nvPr/>
        </p:nvPicPr>
        <p:blipFill>
          <a:blip r:embed="rId12"/>
          <a:stretch>
            <a:fillRect/>
          </a:stretch>
        </p:blipFill>
        <p:spPr>
          <a:xfrm>
            <a:off x="5430439" y="5018959"/>
            <a:ext cx="294803" cy="294803"/>
          </a:xfrm>
          <a:prstGeom prst="rect">
            <a:avLst/>
          </a:prstGeom>
        </p:spPr>
      </p:pic>
      <p:sp>
        <p:nvSpPr>
          <p:cNvPr id="62" name="Text 48"/>
          <p:cNvSpPr txBox="1"/>
          <p:nvPr/>
        </p:nvSpPr>
        <p:spPr>
          <a:xfrm>
            <a:off x="5961888" y="4791456"/>
            <a:ext cx="1252728" cy="502920"/>
          </a:xfrm>
          <a:prstGeom prst="rect">
            <a:avLst/>
          </a:prstGeom>
          <a:noFill/>
          <a:ln/>
        </p:spPr>
        <p:txBody>
          <a:bodyPr wrap="square" lIns="0" tIns="0" rIns="0" bIns="0" rtlCol="0" anchor="ctr"/>
          <a:lstStyle/>
          <a:p>
            <a:pPr indent="0" marL="0">
              <a:buNone/>
            </a:pPr>
            <a:r>
              <a:rPr lang="en-US" sz="1300" b="1" dirty="0">
                <a:solidFill>
                  <a:srgbClr val="1F4D3A"/>
                </a:solidFill>
              </a:rPr>
              <a:t>Exportación</a:t>
            </a:r>
            <a:endParaRPr lang="en-US" sz="1300" dirty="0"/>
          </a:p>
        </p:txBody>
      </p:sp>
      <p:sp>
        <p:nvSpPr>
          <p:cNvPr id="63" name="Text 49"/>
          <p:cNvSpPr txBox="1"/>
          <p:nvPr/>
        </p:nvSpPr>
        <p:spPr>
          <a:xfrm>
            <a:off x="5961888" y="5303520"/>
            <a:ext cx="457200" cy="256032"/>
          </a:xfrm>
          <a:prstGeom prst="roundRect">
            <a:avLst>
              <a:gd name="adj" fmla="val 42857"/>
            </a:avLst>
          </a:prstGeom>
          <a:solidFill>
            <a:srgbClr val="5F6B66"/>
          </a:solidFill>
          <a:ln/>
        </p:spPr>
        <p:txBody>
          <a:bodyPr wrap="square" lIns="0" tIns="0" rIns="0" bIns="0" rtlCol="0" anchor="ctr"/>
          <a:lstStyle/>
          <a:p>
            <a:pPr algn="ctr" indent="0" marL="0">
              <a:buNone/>
            </a:pPr>
            <a:r>
              <a:rPr lang="en-US" sz="1100" b="1" dirty="0">
                <a:solidFill>
                  <a:srgbClr val="FFFFFF"/>
                </a:solidFill>
              </a:rPr>
              <a:t>P4</a:t>
            </a:r>
            <a:endParaRPr lang="en-US" sz="1100" dirty="0"/>
          </a:p>
        </p:txBody>
      </p:sp>
      <p:sp>
        <p:nvSpPr>
          <p:cNvPr id="64" name="Text 50"/>
          <p:cNvSpPr txBox="1"/>
          <p:nvPr/>
        </p:nvSpPr>
        <p:spPr>
          <a:xfrm>
            <a:off x="548640" y="5852160"/>
            <a:ext cx="6766560" cy="411480"/>
          </a:xfrm>
          <a:prstGeom prst="rect">
            <a:avLst/>
          </a:prstGeom>
          <a:noFill/>
          <a:ln/>
        </p:spPr>
        <p:txBody>
          <a:bodyPr wrap="square" lIns="0" tIns="0" rIns="0" bIns="0" rtlCol="0" anchor="t"/>
          <a:lstStyle/>
          <a:p>
            <a:pPr indent="0" marL="0">
              <a:buNone/>
            </a:pPr>
            <a:r>
              <a:rPr lang="en-US" sz="1100" b="1" dirty="0">
                <a:solidFill>
                  <a:srgbClr val="B3261E"/>
                </a:solidFill>
              </a:rPr>
              <a:t>P1 </a:t>
            </a:r>
            <a:pPr indent="0" marL="0">
              <a:buNone/>
            </a:pPr>
            <a:r>
              <a:rPr lang="en-US" sz="1100" dirty="0">
                <a:solidFill>
                  <a:srgbClr val="5F6B66"/>
                </a:solidFill>
              </a:rPr>
              <a:t>sin esto, ningún resultado económico se puede publicar  ·  </a:t>
            </a:r>
            <a:pPr indent="0" marL="0">
              <a:buNone/>
            </a:pPr>
            <a:r>
              <a:rPr lang="en-US" sz="1100" b="1" dirty="0">
                <a:solidFill>
                  <a:srgbClr val="C8641E"/>
                </a:solidFill>
              </a:rPr>
              <a:t>P2 </a:t>
            </a:r>
            <a:pPr indent="0" marL="0">
              <a:buNone/>
            </a:pPr>
            <a:r>
              <a:rPr lang="en-US" sz="1100" dirty="0">
                <a:solidFill>
                  <a:srgbClr val="5F6B66"/>
                </a:solidFill>
              </a:rPr>
              <a:t>para flujo, VAN y costos completos  ·  </a:t>
            </a:r>
            <a:pPr indent="0" marL="0">
              <a:buNone/>
            </a:pPr>
            <a:r>
              <a:rPr lang="en-US" sz="1100" b="1" dirty="0">
                <a:solidFill>
                  <a:srgbClr val="5F6B66"/>
                </a:solidFill>
              </a:rPr>
              <a:t>P4 </a:t>
            </a:r>
            <a:pPr indent="0" marL="0">
              <a:buNone/>
            </a:pPr>
            <a:r>
              <a:rPr lang="en-US" sz="1100" dirty="0">
                <a:solidFill>
                  <a:srgbClr val="5F6B66"/>
                </a:solidFill>
              </a:rPr>
              <a:t>etapa futura</a:t>
            </a:r>
            <a:endParaRPr lang="en-US" sz="1100" dirty="0"/>
          </a:p>
        </p:txBody>
      </p:sp>
      <p:pic>
        <p:nvPicPr>
          <p:cNvPr id="65" name="Image 12" descr="Checklist de validación en la App V1">    </p:cNvPr>
          <p:cNvPicPr>
            <a:picLocks noChangeAspect="1"/>
          </p:cNvPicPr>
          <p:nvPr/>
        </p:nvPicPr>
        <p:blipFill>
          <a:blip r:embed="rId13"/>
          <a:stretch>
            <a:fillRect/>
          </a:stretch>
        </p:blipFill>
        <p:spPr>
          <a:xfrm>
            <a:off x="7525512" y="1325880"/>
            <a:ext cx="4114800" cy="2924569"/>
          </a:xfrm>
          <a:prstGeom prst="rect">
            <a:avLst/>
          </a:prstGeom>
          <a:effectLst>
            <a:outerShdw sx="100000" sy="100000" kx="0" ky="0" algn="bl" rotWithShape="0" blurRad="101600" dist="25400" dir="5400000">
              <a:srgbClr val="000000">
                <a:alpha val="18000"/>
              </a:srgbClr>
            </a:outerShdw>
          </a:effectLst>
        </p:spPr>
      </p:pic>
      <p:sp>
        <p:nvSpPr>
          <p:cNvPr id="66" name="Text 51"/>
          <p:cNvSpPr txBox="1"/>
          <p:nvPr/>
        </p:nvSpPr>
        <p:spPr>
          <a:xfrm>
            <a:off x="7525512" y="4296169"/>
            <a:ext cx="4114800" cy="411480"/>
          </a:xfrm>
          <a:prstGeom prst="rect">
            <a:avLst/>
          </a:prstGeom>
          <a:noFill/>
          <a:ln/>
        </p:spPr>
        <p:txBody>
          <a:bodyPr wrap="square" lIns="0" tIns="0" rIns="0" bIns="0" rtlCol="0" anchor="t"/>
          <a:lstStyle/>
          <a:p>
            <a:pPr indent="0" marL="0">
              <a:buNone/>
            </a:pPr>
            <a:r>
              <a:rPr lang="en-US" sz="1050" i="1" dirty="0">
                <a:solidFill>
                  <a:srgbClr val="5F6B66"/>
                </a:solidFill>
              </a:rPr>
              <a:t>Captura real · checklist de la app: qué pedir, a quién y en qué unidad</a:t>
            </a:r>
            <a:endParaRPr lang="en-US" sz="1050" dirty="0"/>
          </a:p>
        </p:txBody>
      </p:sp>
      <p:sp>
        <p:nvSpPr>
          <p:cNvPr id="67" name="Text 52"/>
          <p:cNvSpPr txBox="1"/>
          <p:nvPr/>
        </p:nvSpPr>
        <p:spPr>
          <a:xfrm>
            <a:off x="7525512" y="4709160"/>
            <a:ext cx="4114800" cy="1051560"/>
          </a:xfrm>
          <a:prstGeom prst="rect">
            <a:avLst/>
          </a:prstGeom>
          <a:noFill/>
          <a:ln/>
        </p:spPr>
        <p:txBody>
          <a:bodyPr wrap="square" lIns="0" tIns="0" rIns="0" bIns="0" rtlCol="0" anchor="ctr"/>
          <a:lstStyle/>
          <a:p>
            <a:pPr indent="0" marL="0">
              <a:buNone/>
            </a:pPr>
            <a:r>
              <a:rPr lang="en-US" sz="3000" b="1" dirty="0">
                <a:solidFill>
                  <a:srgbClr val="B3261E"/>
                </a:solidFill>
              </a:rPr>
              <a:t>0 de 180</a:t>
            </a:r>
            <a:endParaRPr lang="en-US" sz="1400" dirty="0"/>
          </a:p>
          <a:p>
            <a:pPr indent="0" marL="0">
              <a:buNone/>
            </a:pPr>
            <a:r>
              <a:rPr lang="en-US" sz="1300" dirty="0">
                <a:solidFill>
                  <a:srgbClr val="1E2B24"/>
                </a:solidFill>
              </a:rPr>
              <a:t>datos por validar están validados hoy</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Roadmap recomendado del estudio</a:t>
            </a:r>
            <a:endParaRPr lang="en-US" sz="3200" dirty="0"/>
          </a:p>
        </p:txBody>
      </p:sp>
      <p:sp>
        <p:nvSpPr>
          <p:cNvPr id="3" name="FASE 1"/>
          <p:cNvSpPr/>
          <p:nvPr/>
        </p:nvSpPr>
        <p:spPr>
          <a:xfrm>
            <a:off x="548640" y="1417320"/>
            <a:ext cx="2240280" cy="868680"/>
          </a:xfrm>
          <a:prstGeom prst="homePlate">
            <a:avLst/>
          </a:prstGeom>
          <a:solidFill>
            <a:srgbClr val="1F4D3A"/>
          </a:solidFill>
          <a:ln w="12700">
            <a:solidFill>
              <a:srgbClr val="1F4D3A"/>
            </a:solidFill>
            <a:prstDash val="solid"/>
          </a:ln>
        </p:spPr>
      </p:sp>
      <p:sp>
        <p:nvSpPr>
          <p:cNvPr id="4" name="Text 2"/>
          <p:cNvSpPr txBox="1"/>
          <p:nvPr/>
        </p:nvSpPr>
        <p:spPr>
          <a:xfrm>
            <a:off x="731520" y="1417320"/>
            <a:ext cx="1508760" cy="868680"/>
          </a:xfrm>
          <a:prstGeom prst="rect">
            <a:avLst/>
          </a:prstGeom>
          <a:noFill/>
          <a:ln/>
        </p:spPr>
        <p:txBody>
          <a:bodyPr wrap="square" lIns="0" tIns="0" rIns="0" bIns="0" rtlCol="0" anchor="ctr"/>
          <a:lstStyle/>
          <a:p>
            <a:pPr indent="0" marL="0">
              <a:buNone/>
            </a:pPr>
            <a:r>
              <a:rPr lang="en-US" sz="1800" b="1" dirty="0">
                <a:solidFill>
                  <a:srgbClr val="FFFFFF"/>
                </a:solidFill>
              </a:rPr>
              <a:t>FASE 1</a:t>
            </a:r>
            <a:endParaRPr lang="en-US" sz="1800" dirty="0"/>
          </a:p>
        </p:txBody>
      </p:sp>
      <p:sp>
        <p:nvSpPr>
          <p:cNvPr id="5" name="fase 1"/>
          <p:cNvSpPr/>
          <p:nvPr/>
        </p:nvSpPr>
        <p:spPr>
          <a:xfrm>
            <a:off x="594360" y="2560320"/>
            <a:ext cx="2057400" cy="3017520"/>
          </a:xfrm>
          <a:prstGeom prst="roundRect">
            <a:avLst>
              <a:gd name="adj" fmla="val 355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6" name="Text 4"/>
          <p:cNvSpPr txBox="1"/>
          <p:nvPr/>
        </p:nvSpPr>
        <p:spPr>
          <a:xfrm>
            <a:off x="749808" y="2670048"/>
            <a:ext cx="1746504" cy="731520"/>
          </a:xfrm>
          <a:prstGeom prst="rect">
            <a:avLst/>
          </a:prstGeom>
          <a:noFill/>
          <a:ln/>
        </p:spPr>
        <p:txBody>
          <a:bodyPr wrap="square" lIns="0" tIns="0" rIns="0" bIns="0" rtlCol="0" anchor="ctr"/>
          <a:lstStyle/>
          <a:p>
            <a:pPr indent="0" marL="0">
              <a:buNone/>
            </a:pPr>
            <a:r>
              <a:rPr lang="en-US" sz="1500" b="1" dirty="0">
                <a:solidFill>
                  <a:srgbClr val="1F4D3A"/>
                </a:solidFill>
              </a:rPr>
              <a:t>Validar demanda y clientes</a:t>
            </a:r>
            <a:endParaRPr lang="en-US" sz="1500" dirty="0"/>
          </a:p>
        </p:txBody>
      </p:sp>
      <p:sp>
        <p:nvSpPr>
          <p:cNvPr id="7" name="Text 5"/>
          <p:cNvSpPr txBox="1"/>
          <p:nvPr/>
        </p:nvSpPr>
        <p:spPr>
          <a:xfrm>
            <a:off x="749808" y="3474720"/>
            <a:ext cx="1746504" cy="20116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E2B24"/>
                </a:solidFill>
              </a:rPr>
              <a:t>Volumen por producto y local</a:t>
            </a:r>
            <a:endParaRPr lang="en-US" sz="1300" dirty="0"/>
          </a:p>
          <a:p>
            <a:pPr marL="203200" indent="-203200">
              <a:spcAft>
                <a:spcPts val="600"/>
              </a:spcAft>
              <a:buSzPct val="100000"/>
              <a:buChar char="•"/>
            </a:pPr>
            <a:r>
              <a:rPr lang="en-US" sz="1300" dirty="0">
                <a:solidFill>
                  <a:srgbClr val="1E2B24"/>
                </a:solidFill>
              </a:rPr>
              <a:t>Precios y condiciones de pago</a:t>
            </a:r>
            <a:endParaRPr lang="en-US" sz="1300" dirty="0"/>
          </a:p>
          <a:p>
            <a:pPr marL="203200" indent="-203200">
              <a:spcAft>
                <a:spcPts val="600"/>
              </a:spcAft>
              <a:buSzPct val="100000"/>
              <a:buChar char="•"/>
            </a:pPr>
            <a:r>
              <a:rPr lang="en-US" sz="1300" dirty="0">
                <a:solidFill>
                  <a:srgbClr val="1E2B24"/>
                </a:solidFill>
              </a:rPr>
              <a:t>Cartas de intención</a:t>
            </a:r>
            <a:endParaRPr lang="en-US" sz="1300" dirty="0"/>
          </a:p>
        </p:txBody>
      </p:sp>
      <p:sp>
        <p:nvSpPr>
          <p:cNvPr id="8" name="FASE 2"/>
          <p:cNvSpPr/>
          <p:nvPr/>
        </p:nvSpPr>
        <p:spPr>
          <a:xfrm>
            <a:off x="2761488" y="1417320"/>
            <a:ext cx="2240280" cy="868680"/>
          </a:xfrm>
          <a:prstGeom prst="chevron">
            <a:avLst/>
          </a:prstGeom>
          <a:solidFill>
            <a:srgbClr val="1F4D3A"/>
          </a:solidFill>
          <a:ln w="12700">
            <a:solidFill>
              <a:srgbClr val="1F4D3A"/>
            </a:solidFill>
            <a:prstDash val="solid"/>
          </a:ln>
        </p:spPr>
      </p:sp>
      <p:sp>
        <p:nvSpPr>
          <p:cNvPr id="9" name="Text 7"/>
          <p:cNvSpPr txBox="1"/>
          <p:nvPr/>
        </p:nvSpPr>
        <p:spPr>
          <a:xfrm>
            <a:off x="3172968" y="1417320"/>
            <a:ext cx="1508760" cy="868680"/>
          </a:xfrm>
          <a:prstGeom prst="rect">
            <a:avLst/>
          </a:prstGeom>
          <a:noFill/>
          <a:ln/>
        </p:spPr>
        <p:txBody>
          <a:bodyPr wrap="square" lIns="0" tIns="0" rIns="0" bIns="0" rtlCol="0" anchor="ctr"/>
          <a:lstStyle/>
          <a:p>
            <a:pPr indent="0" marL="0">
              <a:buNone/>
            </a:pPr>
            <a:r>
              <a:rPr lang="en-US" sz="1800" b="1" dirty="0">
                <a:solidFill>
                  <a:srgbClr val="FFFFFF"/>
                </a:solidFill>
              </a:rPr>
              <a:t>FASE 2</a:t>
            </a:r>
            <a:endParaRPr lang="en-US" sz="1800" dirty="0"/>
          </a:p>
        </p:txBody>
      </p:sp>
      <p:sp>
        <p:nvSpPr>
          <p:cNvPr id="10" name="fase 2"/>
          <p:cNvSpPr/>
          <p:nvPr/>
        </p:nvSpPr>
        <p:spPr>
          <a:xfrm>
            <a:off x="2807208" y="2560320"/>
            <a:ext cx="2057400" cy="3017520"/>
          </a:xfrm>
          <a:prstGeom prst="roundRect">
            <a:avLst>
              <a:gd name="adj" fmla="val 355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1" name="Text 9"/>
          <p:cNvSpPr txBox="1"/>
          <p:nvPr/>
        </p:nvSpPr>
        <p:spPr>
          <a:xfrm>
            <a:off x="2962656" y="2670048"/>
            <a:ext cx="1746504" cy="731520"/>
          </a:xfrm>
          <a:prstGeom prst="rect">
            <a:avLst/>
          </a:prstGeom>
          <a:noFill/>
          <a:ln/>
        </p:spPr>
        <p:txBody>
          <a:bodyPr wrap="square" lIns="0" tIns="0" rIns="0" bIns="0" rtlCol="0" anchor="ctr"/>
          <a:lstStyle/>
          <a:p>
            <a:pPr indent="0" marL="0">
              <a:buNone/>
            </a:pPr>
            <a:r>
              <a:rPr lang="en-US" sz="1500" b="1" dirty="0">
                <a:solidFill>
                  <a:srgbClr val="1F4D3A"/>
                </a:solidFill>
              </a:rPr>
              <a:t>Cotizar</a:t>
            </a:r>
            <a:endParaRPr lang="en-US" sz="1500" dirty="0"/>
          </a:p>
        </p:txBody>
      </p:sp>
      <p:sp>
        <p:nvSpPr>
          <p:cNvPr id="12" name="Text 10"/>
          <p:cNvSpPr txBox="1"/>
          <p:nvPr/>
        </p:nvSpPr>
        <p:spPr>
          <a:xfrm>
            <a:off x="2962656" y="3474720"/>
            <a:ext cx="1746504" cy="20116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E2B24"/>
                </a:solidFill>
              </a:rPr>
              <a:t>Faena a façon</a:t>
            </a:r>
            <a:endParaRPr lang="en-US" sz="1300" dirty="0"/>
          </a:p>
          <a:p>
            <a:pPr marL="203200" indent="-203200">
              <a:spcAft>
                <a:spcPts val="600"/>
              </a:spcAft>
              <a:buSzPct val="100000"/>
              <a:buChar char="•"/>
            </a:pPr>
            <a:r>
              <a:rPr lang="en-US" sz="1300" dirty="0">
                <a:solidFill>
                  <a:srgbClr val="1E2B24"/>
                </a:solidFill>
              </a:rPr>
              <a:t>Línea de faena</a:t>
            </a:r>
            <a:endParaRPr lang="en-US" sz="1300" dirty="0"/>
          </a:p>
          <a:p>
            <a:pPr marL="203200" indent="-203200">
              <a:spcAft>
                <a:spcPts val="600"/>
              </a:spcAft>
              <a:buSzPct val="100000"/>
              <a:buChar char="•"/>
            </a:pPr>
            <a:r>
              <a:rPr lang="en-US" sz="1300" dirty="0">
                <a:solidFill>
                  <a:srgbClr val="1E2B24"/>
                </a:solidFill>
              </a:rPr>
              <a:t>Alimento y pollito</a:t>
            </a:r>
            <a:endParaRPr lang="en-US" sz="1300" dirty="0"/>
          </a:p>
          <a:p>
            <a:pPr marL="203200" indent="-203200">
              <a:spcAft>
                <a:spcPts val="600"/>
              </a:spcAft>
              <a:buSzPct val="100000"/>
              <a:buChar char="•"/>
            </a:pPr>
            <a:r>
              <a:rPr lang="en-US" sz="1300" dirty="0">
                <a:solidFill>
                  <a:srgbClr val="1E2B24"/>
                </a:solidFill>
              </a:rPr>
              <a:t>Granjas integrables</a:t>
            </a:r>
            <a:endParaRPr lang="en-US" sz="1300" dirty="0"/>
          </a:p>
        </p:txBody>
      </p:sp>
      <p:sp>
        <p:nvSpPr>
          <p:cNvPr id="13" name="FASE 3"/>
          <p:cNvSpPr/>
          <p:nvPr/>
        </p:nvSpPr>
        <p:spPr>
          <a:xfrm>
            <a:off x="4974336" y="1417320"/>
            <a:ext cx="2240280" cy="868680"/>
          </a:xfrm>
          <a:prstGeom prst="chevron">
            <a:avLst/>
          </a:prstGeom>
          <a:solidFill>
            <a:srgbClr val="3F7A60"/>
          </a:solidFill>
          <a:ln w="12700">
            <a:solidFill>
              <a:srgbClr val="3F7A60"/>
            </a:solidFill>
            <a:prstDash val="solid"/>
          </a:ln>
        </p:spPr>
      </p:sp>
      <p:sp>
        <p:nvSpPr>
          <p:cNvPr id="14" name="Text 12"/>
          <p:cNvSpPr txBox="1"/>
          <p:nvPr/>
        </p:nvSpPr>
        <p:spPr>
          <a:xfrm>
            <a:off x="5385816" y="1417320"/>
            <a:ext cx="1508760" cy="868680"/>
          </a:xfrm>
          <a:prstGeom prst="rect">
            <a:avLst/>
          </a:prstGeom>
          <a:noFill/>
          <a:ln/>
        </p:spPr>
        <p:txBody>
          <a:bodyPr wrap="square" lIns="0" tIns="0" rIns="0" bIns="0" rtlCol="0" anchor="ctr"/>
          <a:lstStyle/>
          <a:p>
            <a:pPr indent="0" marL="0">
              <a:buNone/>
            </a:pPr>
            <a:r>
              <a:rPr lang="en-US" sz="1800" b="1" dirty="0">
                <a:solidFill>
                  <a:srgbClr val="FFFFFF"/>
                </a:solidFill>
              </a:rPr>
              <a:t>FASE 3</a:t>
            </a:r>
            <a:endParaRPr lang="en-US" sz="1800" dirty="0"/>
          </a:p>
        </p:txBody>
      </p:sp>
      <p:sp>
        <p:nvSpPr>
          <p:cNvPr id="15" name="fase 3"/>
          <p:cNvSpPr/>
          <p:nvPr/>
        </p:nvSpPr>
        <p:spPr>
          <a:xfrm>
            <a:off x="5020056" y="2560320"/>
            <a:ext cx="2057400" cy="3017520"/>
          </a:xfrm>
          <a:prstGeom prst="roundRect">
            <a:avLst>
              <a:gd name="adj" fmla="val 355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6" name="Text 14"/>
          <p:cNvSpPr txBox="1"/>
          <p:nvPr/>
        </p:nvSpPr>
        <p:spPr>
          <a:xfrm>
            <a:off x="5175504" y="2670048"/>
            <a:ext cx="1746504" cy="731520"/>
          </a:xfrm>
          <a:prstGeom prst="rect">
            <a:avLst/>
          </a:prstGeom>
          <a:noFill/>
          <a:ln/>
        </p:spPr>
        <p:txBody>
          <a:bodyPr wrap="square" lIns="0" tIns="0" rIns="0" bIns="0" rtlCol="0" anchor="ctr"/>
          <a:lstStyle/>
          <a:p>
            <a:pPr indent="0" marL="0">
              <a:buNone/>
            </a:pPr>
            <a:r>
              <a:rPr lang="en-US" sz="1500" b="1" dirty="0">
                <a:solidFill>
                  <a:srgbClr val="1F4D3A"/>
                </a:solidFill>
              </a:rPr>
              <a:t>Terreno y servicios</a:t>
            </a:r>
            <a:endParaRPr lang="en-US" sz="1500" dirty="0"/>
          </a:p>
        </p:txBody>
      </p:sp>
      <p:sp>
        <p:nvSpPr>
          <p:cNvPr id="17" name="Text 15"/>
          <p:cNvSpPr txBox="1"/>
          <p:nvPr/>
        </p:nvSpPr>
        <p:spPr>
          <a:xfrm>
            <a:off x="5175504" y="3474720"/>
            <a:ext cx="1746504" cy="20116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E2B24"/>
                </a:solidFill>
              </a:rPr>
              <a:t>Municipio y zonificación</a:t>
            </a:r>
            <a:endParaRPr lang="en-US" sz="1300" dirty="0"/>
          </a:p>
          <a:p>
            <a:pPr marL="203200" indent="-203200">
              <a:spcAft>
                <a:spcPts val="600"/>
              </a:spcAft>
              <a:buSzPct val="100000"/>
              <a:buChar char="•"/>
            </a:pPr>
            <a:r>
              <a:rPr lang="en-US" sz="1300" dirty="0">
                <a:solidFill>
                  <a:srgbClr val="1E2B24"/>
                </a:solidFill>
              </a:rPr>
              <a:t>Agua, energía y gas</a:t>
            </a:r>
            <a:endParaRPr lang="en-US" sz="1300" dirty="0"/>
          </a:p>
          <a:p>
            <a:pPr marL="203200" indent="-203200">
              <a:spcAft>
                <a:spcPts val="600"/>
              </a:spcAft>
              <a:buSzPct val="100000"/>
              <a:buChar char="•"/>
            </a:pPr>
            <a:r>
              <a:rPr lang="en-US" sz="1300" dirty="0">
                <a:solidFill>
                  <a:srgbClr val="1E2B24"/>
                </a:solidFill>
              </a:rPr>
              <a:t>Efluentes y logística</a:t>
            </a:r>
            <a:endParaRPr lang="en-US" sz="1300" dirty="0"/>
          </a:p>
        </p:txBody>
      </p:sp>
      <p:sp>
        <p:nvSpPr>
          <p:cNvPr id="18" name="FASE 4"/>
          <p:cNvSpPr/>
          <p:nvPr/>
        </p:nvSpPr>
        <p:spPr>
          <a:xfrm>
            <a:off x="7187184" y="1417320"/>
            <a:ext cx="2240280" cy="868680"/>
          </a:xfrm>
          <a:prstGeom prst="chevron">
            <a:avLst/>
          </a:prstGeom>
          <a:solidFill>
            <a:srgbClr val="3F7A60"/>
          </a:solidFill>
          <a:ln w="12700">
            <a:solidFill>
              <a:srgbClr val="3F7A60"/>
            </a:solidFill>
            <a:prstDash val="solid"/>
          </a:ln>
        </p:spPr>
      </p:sp>
      <p:sp>
        <p:nvSpPr>
          <p:cNvPr id="19" name="Text 17"/>
          <p:cNvSpPr txBox="1"/>
          <p:nvPr/>
        </p:nvSpPr>
        <p:spPr>
          <a:xfrm>
            <a:off x="7598664" y="1417320"/>
            <a:ext cx="1508760" cy="868680"/>
          </a:xfrm>
          <a:prstGeom prst="rect">
            <a:avLst/>
          </a:prstGeom>
          <a:noFill/>
          <a:ln/>
        </p:spPr>
        <p:txBody>
          <a:bodyPr wrap="square" lIns="0" tIns="0" rIns="0" bIns="0" rtlCol="0" anchor="ctr"/>
          <a:lstStyle/>
          <a:p>
            <a:pPr indent="0" marL="0">
              <a:buNone/>
            </a:pPr>
            <a:r>
              <a:rPr lang="en-US" sz="1800" b="1" dirty="0">
                <a:solidFill>
                  <a:srgbClr val="FFFFFF"/>
                </a:solidFill>
              </a:rPr>
              <a:t>FASE 4</a:t>
            </a:r>
            <a:endParaRPr lang="en-US" sz="1800" dirty="0"/>
          </a:p>
        </p:txBody>
      </p:sp>
      <p:sp>
        <p:nvSpPr>
          <p:cNvPr id="20" name="fase 4"/>
          <p:cNvSpPr/>
          <p:nvPr/>
        </p:nvSpPr>
        <p:spPr>
          <a:xfrm>
            <a:off x="7232904" y="2560320"/>
            <a:ext cx="2057400" cy="3017520"/>
          </a:xfrm>
          <a:prstGeom prst="roundRect">
            <a:avLst>
              <a:gd name="adj" fmla="val 355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1" name="Text 19"/>
          <p:cNvSpPr txBox="1"/>
          <p:nvPr/>
        </p:nvSpPr>
        <p:spPr>
          <a:xfrm>
            <a:off x="7388352" y="2670048"/>
            <a:ext cx="1746504" cy="731520"/>
          </a:xfrm>
          <a:prstGeom prst="rect">
            <a:avLst/>
          </a:prstGeom>
          <a:noFill/>
          <a:ln/>
        </p:spPr>
        <p:txBody>
          <a:bodyPr wrap="square" lIns="0" tIns="0" rIns="0" bIns="0" rtlCol="0" anchor="ctr"/>
          <a:lstStyle/>
          <a:p>
            <a:pPr indent="0" marL="0">
              <a:buNone/>
            </a:pPr>
            <a:r>
              <a:rPr lang="en-US" sz="1500" b="1" dirty="0">
                <a:solidFill>
                  <a:srgbClr val="1F4D3A"/>
                </a:solidFill>
              </a:rPr>
              <a:t>Escenario financiero real</a:t>
            </a:r>
            <a:endParaRPr lang="en-US" sz="1500" dirty="0"/>
          </a:p>
        </p:txBody>
      </p:sp>
      <p:sp>
        <p:nvSpPr>
          <p:cNvPr id="22" name="Text 20"/>
          <p:cNvSpPr txBox="1"/>
          <p:nvPr/>
        </p:nvSpPr>
        <p:spPr>
          <a:xfrm>
            <a:off x="7388352" y="3474720"/>
            <a:ext cx="1746504" cy="20116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E2B24"/>
                </a:solidFill>
              </a:rPr>
              <a:t>Cargar los datos en el motor</a:t>
            </a:r>
            <a:endParaRPr lang="en-US" sz="1300" dirty="0"/>
          </a:p>
          <a:p>
            <a:pPr marL="203200" indent="-203200">
              <a:spcAft>
                <a:spcPts val="600"/>
              </a:spcAft>
              <a:buSzPct val="100000"/>
              <a:buChar char="•"/>
            </a:pPr>
            <a:r>
              <a:rPr lang="en-US" sz="1300" dirty="0">
                <a:solidFill>
                  <a:srgbClr val="1E2B24"/>
                </a:solidFill>
              </a:rPr>
              <a:t>Sensibilidades y stress</a:t>
            </a:r>
            <a:endParaRPr lang="en-US" sz="1300" dirty="0"/>
          </a:p>
          <a:p>
            <a:pPr marL="203200" indent="-203200">
              <a:spcAft>
                <a:spcPts val="600"/>
              </a:spcAft>
              <a:buSzPct val="100000"/>
              <a:buChar char="•"/>
            </a:pPr>
            <a:r>
              <a:rPr lang="en-US" sz="1300" dirty="0">
                <a:solidFill>
                  <a:srgbClr val="1E2B24"/>
                </a:solidFill>
              </a:rPr>
              <a:t>Comparar alternativas</a:t>
            </a:r>
            <a:endParaRPr lang="en-US" sz="1300" dirty="0"/>
          </a:p>
        </p:txBody>
      </p:sp>
      <p:sp>
        <p:nvSpPr>
          <p:cNvPr id="23" name="FASE 5"/>
          <p:cNvSpPr/>
          <p:nvPr/>
        </p:nvSpPr>
        <p:spPr>
          <a:xfrm>
            <a:off x="9400032" y="1417320"/>
            <a:ext cx="2240280" cy="868680"/>
          </a:xfrm>
          <a:prstGeom prst="chevron">
            <a:avLst/>
          </a:prstGeom>
          <a:solidFill>
            <a:srgbClr val="E3A12F"/>
          </a:solidFill>
          <a:ln w="12700">
            <a:solidFill>
              <a:srgbClr val="E3A12F"/>
            </a:solidFill>
            <a:prstDash val="solid"/>
          </a:ln>
        </p:spPr>
      </p:sp>
      <p:sp>
        <p:nvSpPr>
          <p:cNvPr id="24" name="Text 22"/>
          <p:cNvSpPr txBox="1"/>
          <p:nvPr/>
        </p:nvSpPr>
        <p:spPr>
          <a:xfrm>
            <a:off x="9811512" y="1417320"/>
            <a:ext cx="1508760" cy="868680"/>
          </a:xfrm>
          <a:prstGeom prst="rect">
            <a:avLst/>
          </a:prstGeom>
          <a:noFill/>
          <a:ln/>
        </p:spPr>
        <p:txBody>
          <a:bodyPr wrap="square" lIns="0" tIns="0" rIns="0" bIns="0" rtlCol="0" anchor="ctr"/>
          <a:lstStyle/>
          <a:p>
            <a:pPr indent="0" marL="0">
              <a:buNone/>
            </a:pPr>
            <a:r>
              <a:rPr lang="en-US" sz="1800" b="1" dirty="0">
                <a:solidFill>
                  <a:srgbClr val="1F4D3A"/>
                </a:solidFill>
              </a:rPr>
              <a:t>FASE 5</a:t>
            </a:r>
            <a:endParaRPr lang="en-US" sz="1800" dirty="0"/>
          </a:p>
        </p:txBody>
      </p:sp>
      <p:sp>
        <p:nvSpPr>
          <p:cNvPr id="25" name="fase 5"/>
          <p:cNvSpPr/>
          <p:nvPr/>
        </p:nvSpPr>
        <p:spPr>
          <a:xfrm>
            <a:off x="9445752" y="2560320"/>
            <a:ext cx="2057400" cy="3017520"/>
          </a:xfrm>
          <a:prstGeom prst="roundRect">
            <a:avLst>
              <a:gd name="adj" fmla="val 3556"/>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6" name="Text 24"/>
          <p:cNvSpPr txBox="1"/>
          <p:nvPr/>
        </p:nvSpPr>
        <p:spPr>
          <a:xfrm>
            <a:off x="9601200" y="2670048"/>
            <a:ext cx="1746504" cy="731520"/>
          </a:xfrm>
          <a:prstGeom prst="rect">
            <a:avLst/>
          </a:prstGeom>
          <a:noFill/>
          <a:ln/>
        </p:spPr>
        <p:txBody>
          <a:bodyPr wrap="square" lIns="0" tIns="0" rIns="0" bIns="0" rtlCol="0" anchor="ctr"/>
          <a:lstStyle/>
          <a:p>
            <a:pPr indent="0" marL="0">
              <a:buNone/>
            </a:pPr>
            <a:r>
              <a:rPr lang="en-US" sz="1500" b="1" dirty="0">
                <a:solidFill>
                  <a:srgbClr val="1F4D3A"/>
                </a:solidFill>
              </a:rPr>
              <a:t>Decisión</a:t>
            </a:r>
            <a:endParaRPr lang="en-US" sz="1500" dirty="0"/>
          </a:p>
        </p:txBody>
      </p:sp>
      <p:sp>
        <p:nvSpPr>
          <p:cNvPr id="27" name="Text 25"/>
          <p:cNvSpPr txBox="1"/>
          <p:nvPr/>
        </p:nvSpPr>
        <p:spPr>
          <a:xfrm>
            <a:off x="9601200" y="3474720"/>
            <a:ext cx="1746504" cy="20116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E2B24"/>
                </a:solidFill>
              </a:rPr>
              <a:t>Invertir, empezar liviano, esperar o no invertir</a:t>
            </a:r>
            <a:endParaRPr lang="en-US" sz="1300" dirty="0"/>
          </a:p>
          <a:p>
            <a:pPr marL="203200" indent="-203200">
              <a:spcAft>
                <a:spcPts val="600"/>
              </a:spcAft>
              <a:buSzPct val="100000"/>
              <a:buChar char="•"/>
            </a:pPr>
            <a:r>
              <a:rPr lang="en-US" sz="1300" dirty="0">
                <a:solidFill>
                  <a:srgbClr val="1E2B24"/>
                </a:solidFill>
              </a:rPr>
              <a:t>Con evidencia, no con supuestos</a:t>
            </a:r>
            <a:endParaRPr lang="en-US" sz="1300" dirty="0"/>
          </a:p>
        </p:txBody>
      </p:sp>
      <p:sp>
        <p:nvSpPr>
          <p:cNvPr id="28" name="Text 26"/>
          <p:cNvSpPr txBox="1"/>
          <p:nvPr/>
        </p:nvSpPr>
        <p:spPr>
          <a:xfrm>
            <a:off x="548640" y="5760720"/>
            <a:ext cx="11091672" cy="502920"/>
          </a:xfrm>
          <a:prstGeom prst="rect">
            <a:avLst/>
          </a:prstGeom>
          <a:noFill/>
          <a:ln/>
        </p:spPr>
        <p:txBody>
          <a:bodyPr wrap="square" lIns="0" tIns="0" rIns="0" bIns="0" rtlCol="0" anchor="ctr"/>
          <a:lstStyle/>
          <a:p>
            <a:pPr algn="ctr" indent="0" marL="0">
              <a:buNone/>
            </a:pPr>
            <a:r>
              <a:rPr lang="en-US" sz="1300" i="1" dirty="0">
                <a:solidFill>
                  <a:srgbClr val="5F6B66"/>
                </a:solidFill>
              </a:rPr>
              <a:t>Las fases 1 y 2 son las más urgentes (prioridad 1) y pueden avanzar en paralelo. Sin fechas: los plazos dependen de cuándo respondan clientes y proveedores.</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Decisiones abiertas</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decisión Escala"/>
          <p:cNvSpPr/>
          <p:nvPr/>
        </p:nvSpPr>
        <p:spPr>
          <a:xfrm>
            <a:off x="548640" y="1325880"/>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5" name="círculo FaLayerGroup"/>
          <p:cNvSpPr/>
          <p:nvPr/>
        </p:nvSpPr>
        <p:spPr>
          <a:xfrm>
            <a:off x="749808" y="1527048"/>
            <a:ext cx="640080" cy="640080"/>
          </a:xfrm>
          <a:prstGeom prst="ellipse">
            <a:avLst/>
          </a:prstGeom>
          <a:solidFill>
            <a:srgbClr val="EAF2EC"/>
          </a:solidFill>
          <a:ln w="12700">
            <a:solidFill>
              <a:srgbClr val="EAF2EC"/>
            </a:solidFill>
            <a:prstDash val="solid"/>
          </a:ln>
        </p:spPr>
      </p:sp>
      <p:pic>
        <p:nvPicPr>
          <p:cNvPr id="6" name="Image 0" descr="FaLayerGroup">    </p:cNvPr>
          <p:cNvPicPr>
            <a:picLocks noChangeAspect="1"/>
          </p:cNvPicPr>
          <p:nvPr/>
        </p:nvPicPr>
        <p:blipFill>
          <a:blip r:embed="rId1"/>
          <a:stretch>
            <a:fillRect/>
          </a:stretch>
        </p:blipFill>
        <p:spPr>
          <a:xfrm>
            <a:off x="903427" y="1680667"/>
            <a:ext cx="332842" cy="332842"/>
          </a:xfrm>
          <a:prstGeom prst="rect">
            <a:avLst/>
          </a:prstGeom>
        </p:spPr>
      </p:pic>
      <p:sp>
        <p:nvSpPr>
          <p:cNvPr id="7" name="Text 4"/>
          <p:cNvSpPr txBox="1"/>
          <p:nvPr/>
        </p:nvSpPr>
        <p:spPr>
          <a:xfrm>
            <a:off x="1508760" y="1527048"/>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Escala</a:t>
            </a:r>
            <a:endParaRPr lang="en-US" sz="1700" dirty="0"/>
          </a:p>
        </p:txBody>
      </p:sp>
      <p:sp>
        <p:nvSpPr>
          <p:cNvPr id="8" name="Text 5"/>
          <p:cNvSpPr txBox="1"/>
          <p:nvPr/>
        </p:nvSpPr>
        <p:spPr>
          <a:xfrm>
            <a:off x="749808" y="2331720"/>
            <a:ext cx="2249424" cy="731520"/>
          </a:xfrm>
          <a:prstGeom prst="rect">
            <a:avLst/>
          </a:prstGeom>
          <a:noFill/>
          <a:ln/>
        </p:spPr>
        <p:txBody>
          <a:bodyPr wrap="square" lIns="0" tIns="0" rIns="0" bIns="0" rtlCol="0" anchor="t"/>
          <a:lstStyle/>
          <a:p>
            <a:pPr indent="0" marL="0">
              <a:buNone/>
            </a:pPr>
            <a:r>
              <a:rPr lang="en-US" sz="1400" dirty="0">
                <a:solidFill>
                  <a:srgbClr val="1E2B24"/>
                </a:solidFill>
              </a:rPr>
              <a:t>2.500 a 20.000 aves/día, o una intermedia</a:t>
            </a:r>
            <a:endParaRPr lang="en-US" sz="1400" dirty="0"/>
          </a:p>
        </p:txBody>
      </p:sp>
      <p:sp>
        <p:nvSpPr>
          <p:cNvPr id="9" name="decisión Arquitectura"/>
          <p:cNvSpPr/>
          <p:nvPr/>
        </p:nvSpPr>
        <p:spPr>
          <a:xfrm>
            <a:off x="3361944" y="1325880"/>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0" name="círculo FaSitemap"/>
          <p:cNvSpPr/>
          <p:nvPr/>
        </p:nvSpPr>
        <p:spPr>
          <a:xfrm>
            <a:off x="3563112" y="1527048"/>
            <a:ext cx="640080" cy="640080"/>
          </a:xfrm>
          <a:prstGeom prst="ellipse">
            <a:avLst/>
          </a:prstGeom>
          <a:solidFill>
            <a:srgbClr val="EAF2EC"/>
          </a:solidFill>
          <a:ln w="12700">
            <a:solidFill>
              <a:srgbClr val="EAF2EC"/>
            </a:solidFill>
            <a:prstDash val="solid"/>
          </a:ln>
        </p:spPr>
      </p:sp>
      <p:pic>
        <p:nvPicPr>
          <p:cNvPr id="11" name="Image 1" descr="FaSitemap">    </p:cNvPr>
          <p:cNvPicPr>
            <a:picLocks noChangeAspect="1"/>
          </p:cNvPicPr>
          <p:nvPr/>
        </p:nvPicPr>
        <p:blipFill>
          <a:blip r:embed="rId2"/>
          <a:stretch>
            <a:fillRect/>
          </a:stretch>
        </p:blipFill>
        <p:spPr>
          <a:xfrm>
            <a:off x="3716731" y="1680667"/>
            <a:ext cx="332842" cy="332842"/>
          </a:xfrm>
          <a:prstGeom prst="rect">
            <a:avLst/>
          </a:prstGeom>
        </p:spPr>
      </p:pic>
      <p:sp>
        <p:nvSpPr>
          <p:cNvPr id="12" name="Text 8"/>
          <p:cNvSpPr txBox="1"/>
          <p:nvPr/>
        </p:nvSpPr>
        <p:spPr>
          <a:xfrm>
            <a:off x="4322064" y="1527048"/>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Arquitectura</a:t>
            </a:r>
            <a:endParaRPr lang="en-US" sz="1700" dirty="0"/>
          </a:p>
        </p:txBody>
      </p:sp>
      <p:sp>
        <p:nvSpPr>
          <p:cNvPr id="13" name="Text 9"/>
          <p:cNvSpPr txBox="1"/>
          <p:nvPr/>
        </p:nvSpPr>
        <p:spPr>
          <a:xfrm>
            <a:off x="3563112" y="2331720"/>
            <a:ext cx="2249424" cy="731520"/>
          </a:xfrm>
          <a:prstGeom prst="rect">
            <a:avLst/>
          </a:prstGeom>
          <a:noFill/>
          <a:ln/>
        </p:spPr>
        <p:txBody>
          <a:bodyPr wrap="square" lIns="0" tIns="0" rIns="0" bIns="0" rtlCol="0" anchor="t"/>
          <a:lstStyle/>
          <a:p>
            <a:pPr indent="0" marL="0">
              <a:buNone/>
            </a:pPr>
            <a:r>
              <a:rPr lang="en-US" sz="1400" dirty="0">
                <a:solidFill>
                  <a:srgbClr val="1E2B24"/>
                </a:solidFill>
              </a:rPr>
              <a:t>C0, C1, C2, C3 o CF</a:t>
            </a:r>
            <a:endParaRPr lang="en-US" sz="1400" dirty="0"/>
          </a:p>
        </p:txBody>
      </p:sp>
      <p:sp>
        <p:nvSpPr>
          <p:cNvPr id="14" name="decisión Terreno y ubicación"/>
          <p:cNvSpPr/>
          <p:nvPr/>
        </p:nvSpPr>
        <p:spPr>
          <a:xfrm>
            <a:off x="6175248" y="1325880"/>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5" name="círculo FaMapMarkedAlt"/>
          <p:cNvSpPr/>
          <p:nvPr/>
        </p:nvSpPr>
        <p:spPr>
          <a:xfrm>
            <a:off x="6376416" y="1527048"/>
            <a:ext cx="640080" cy="640080"/>
          </a:xfrm>
          <a:prstGeom prst="ellipse">
            <a:avLst/>
          </a:prstGeom>
          <a:solidFill>
            <a:srgbClr val="EAF2EC"/>
          </a:solidFill>
          <a:ln w="12700">
            <a:solidFill>
              <a:srgbClr val="EAF2EC"/>
            </a:solidFill>
            <a:prstDash val="solid"/>
          </a:ln>
        </p:spPr>
      </p:sp>
      <p:pic>
        <p:nvPicPr>
          <p:cNvPr id="16" name="Image 2" descr="FaMapMarkedAlt">    </p:cNvPr>
          <p:cNvPicPr>
            <a:picLocks noChangeAspect="1"/>
          </p:cNvPicPr>
          <p:nvPr/>
        </p:nvPicPr>
        <p:blipFill>
          <a:blip r:embed="rId3"/>
          <a:stretch>
            <a:fillRect/>
          </a:stretch>
        </p:blipFill>
        <p:spPr>
          <a:xfrm>
            <a:off x="6530035" y="1680667"/>
            <a:ext cx="332842" cy="332842"/>
          </a:xfrm>
          <a:prstGeom prst="rect">
            <a:avLst/>
          </a:prstGeom>
        </p:spPr>
      </p:pic>
      <p:sp>
        <p:nvSpPr>
          <p:cNvPr id="17" name="Text 12"/>
          <p:cNvSpPr txBox="1"/>
          <p:nvPr/>
        </p:nvSpPr>
        <p:spPr>
          <a:xfrm>
            <a:off x="7135368" y="1527048"/>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Terreno y ubicación</a:t>
            </a:r>
            <a:endParaRPr lang="en-US" sz="1700" dirty="0"/>
          </a:p>
        </p:txBody>
      </p:sp>
      <p:sp>
        <p:nvSpPr>
          <p:cNvPr id="18" name="Text 13"/>
          <p:cNvSpPr txBox="1"/>
          <p:nvPr/>
        </p:nvSpPr>
        <p:spPr>
          <a:xfrm>
            <a:off x="6376416" y="2331720"/>
            <a:ext cx="2249424" cy="731520"/>
          </a:xfrm>
          <a:prstGeom prst="rect">
            <a:avLst/>
          </a:prstGeom>
          <a:noFill/>
          <a:ln/>
        </p:spPr>
        <p:txBody>
          <a:bodyPr wrap="square" lIns="0" tIns="0" rIns="0" bIns="0" rtlCol="0" anchor="t"/>
          <a:lstStyle/>
          <a:p>
            <a:pPr indent="0" marL="0">
              <a:buNone/>
            </a:pPr>
            <a:r>
              <a:rPr lang="en-US" sz="1400" dirty="0">
                <a:solidFill>
                  <a:srgbClr val="1E2B24"/>
                </a:solidFill>
              </a:rPr>
              <a:t>Región, municipio y superficie</a:t>
            </a:r>
            <a:endParaRPr lang="en-US" sz="1400" dirty="0"/>
          </a:p>
        </p:txBody>
      </p:sp>
      <p:sp>
        <p:nvSpPr>
          <p:cNvPr id="19" name="decisión Faena"/>
          <p:cNvSpPr/>
          <p:nvPr/>
        </p:nvSpPr>
        <p:spPr>
          <a:xfrm>
            <a:off x="8988552" y="1325880"/>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0" name="círculo GiFactory"/>
          <p:cNvSpPr/>
          <p:nvPr/>
        </p:nvSpPr>
        <p:spPr>
          <a:xfrm>
            <a:off x="9189720" y="1527048"/>
            <a:ext cx="640080" cy="640080"/>
          </a:xfrm>
          <a:prstGeom prst="ellipse">
            <a:avLst/>
          </a:prstGeom>
          <a:solidFill>
            <a:srgbClr val="EAF2EC"/>
          </a:solidFill>
          <a:ln w="12700">
            <a:solidFill>
              <a:srgbClr val="EAF2EC"/>
            </a:solidFill>
            <a:prstDash val="solid"/>
          </a:ln>
        </p:spPr>
      </p:sp>
      <p:pic>
        <p:nvPicPr>
          <p:cNvPr id="21" name="Image 3" descr="GiFactory">    </p:cNvPr>
          <p:cNvPicPr>
            <a:picLocks noChangeAspect="1"/>
          </p:cNvPicPr>
          <p:nvPr/>
        </p:nvPicPr>
        <p:blipFill>
          <a:blip r:embed="rId4"/>
          <a:stretch>
            <a:fillRect/>
          </a:stretch>
        </p:blipFill>
        <p:spPr>
          <a:xfrm>
            <a:off x="9343339" y="1680667"/>
            <a:ext cx="332842" cy="332842"/>
          </a:xfrm>
          <a:prstGeom prst="rect">
            <a:avLst/>
          </a:prstGeom>
        </p:spPr>
      </p:pic>
      <p:sp>
        <p:nvSpPr>
          <p:cNvPr id="22" name="Text 16"/>
          <p:cNvSpPr txBox="1"/>
          <p:nvPr/>
        </p:nvSpPr>
        <p:spPr>
          <a:xfrm>
            <a:off x="9948672" y="1527048"/>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Faena</a:t>
            </a:r>
            <a:endParaRPr lang="en-US" sz="1700" dirty="0"/>
          </a:p>
        </p:txBody>
      </p:sp>
      <p:sp>
        <p:nvSpPr>
          <p:cNvPr id="23" name="Text 17"/>
          <p:cNvSpPr txBox="1"/>
          <p:nvPr/>
        </p:nvSpPr>
        <p:spPr>
          <a:xfrm>
            <a:off x="9189720" y="2331720"/>
            <a:ext cx="2249424" cy="731520"/>
          </a:xfrm>
          <a:prstGeom prst="rect">
            <a:avLst/>
          </a:prstGeom>
          <a:noFill/>
          <a:ln/>
        </p:spPr>
        <p:txBody>
          <a:bodyPr wrap="square" lIns="0" tIns="0" rIns="0" bIns="0" rtlCol="0" anchor="t"/>
          <a:lstStyle/>
          <a:p>
            <a:pPr indent="0" marL="0">
              <a:buNone/>
            </a:pPr>
            <a:r>
              <a:rPr lang="en-US" sz="1400" dirty="0">
                <a:solidFill>
                  <a:srgbClr val="1E2B24"/>
                </a:solidFill>
              </a:rPr>
              <a:t>Planta propia o a façon</a:t>
            </a:r>
            <a:endParaRPr lang="en-US" sz="1400" dirty="0"/>
          </a:p>
        </p:txBody>
      </p:sp>
      <p:sp>
        <p:nvSpPr>
          <p:cNvPr id="24" name="decisión Alimento"/>
          <p:cNvSpPr/>
          <p:nvPr/>
        </p:nvSpPr>
        <p:spPr>
          <a:xfrm>
            <a:off x="548640" y="3401568"/>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5" name="círculo GiCorn"/>
          <p:cNvSpPr/>
          <p:nvPr/>
        </p:nvSpPr>
        <p:spPr>
          <a:xfrm>
            <a:off x="749808" y="3602736"/>
            <a:ext cx="640080" cy="640080"/>
          </a:xfrm>
          <a:prstGeom prst="ellipse">
            <a:avLst/>
          </a:prstGeom>
          <a:solidFill>
            <a:srgbClr val="EAF2EC"/>
          </a:solidFill>
          <a:ln w="12700">
            <a:solidFill>
              <a:srgbClr val="EAF2EC"/>
            </a:solidFill>
            <a:prstDash val="solid"/>
          </a:ln>
        </p:spPr>
      </p:sp>
      <p:pic>
        <p:nvPicPr>
          <p:cNvPr id="26" name="Image 4" descr="GiCorn">    </p:cNvPr>
          <p:cNvPicPr>
            <a:picLocks noChangeAspect="1"/>
          </p:cNvPicPr>
          <p:nvPr/>
        </p:nvPicPr>
        <p:blipFill>
          <a:blip r:embed="rId5"/>
          <a:stretch>
            <a:fillRect/>
          </a:stretch>
        </p:blipFill>
        <p:spPr>
          <a:xfrm>
            <a:off x="903427" y="3756355"/>
            <a:ext cx="332842" cy="332842"/>
          </a:xfrm>
          <a:prstGeom prst="rect">
            <a:avLst/>
          </a:prstGeom>
        </p:spPr>
      </p:pic>
      <p:sp>
        <p:nvSpPr>
          <p:cNvPr id="27" name="Text 20"/>
          <p:cNvSpPr txBox="1"/>
          <p:nvPr/>
        </p:nvSpPr>
        <p:spPr>
          <a:xfrm>
            <a:off x="1508760" y="3602736"/>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Alimento</a:t>
            </a:r>
            <a:endParaRPr lang="en-US" sz="1700" dirty="0"/>
          </a:p>
        </p:txBody>
      </p:sp>
      <p:sp>
        <p:nvSpPr>
          <p:cNvPr id="28" name="Text 21"/>
          <p:cNvSpPr txBox="1"/>
          <p:nvPr/>
        </p:nvSpPr>
        <p:spPr>
          <a:xfrm>
            <a:off x="749808" y="4407408"/>
            <a:ext cx="2249424" cy="731520"/>
          </a:xfrm>
          <a:prstGeom prst="rect">
            <a:avLst/>
          </a:prstGeom>
          <a:noFill/>
          <a:ln/>
        </p:spPr>
        <p:txBody>
          <a:bodyPr wrap="square" lIns="0" tIns="0" rIns="0" bIns="0" rtlCol="0" anchor="t"/>
          <a:lstStyle/>
          <a:p>
            <a:pPr indent="0" marL="0">
              <a:buNone/>
            </a:pPr>
            <a:r>
              <a:rPr lang="en-US" sz="1400" dirty="0">
                <a:solidFill>
                  <a:srgbClr val="1E2B24"/>
                </a:solidFill>
              </a:rPr>
              <a:t>Comprado, a façon o planta propia</a:t>
            </a:r>
            <a:endParaRPr lang="en-US" sz="1400" dirty="0"/>
          </a:p>
        </p:txBody>
      </p:sp>
      <p:sp>
        <p:nvSpPr>
          <p:cNvPr id="29" name="decisión Pollito"/>
          <p:cNvSpPr/>
          <p:nvPr/>
        </p:nvSpPr>
        <p:spPr>
          <a:xfrm>
            <a:off x="3361944" y="3401568"/>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30" name="círculo FaEgg"/>
          <p:cNvSpPr/>
          <p:nvPr/>
        </p:nvSpPr>
        <p:spPr>
          <a:xfrm>
            <a:off x="3563112" y="3602736"/>
            <a:ext cx="640080" cy="640080"/>
          </a:xfrm>
          <a:prstGeom prst="ellipse">
            <a:avLst/>
          </a:prstGeom>
          <a:solidFill>
            <a:srgbClr val="EAF2EC"/>
          </a:solidFill>
          <a:ln w="12700">
            <a:solidFill>
              <a:srgbClr val="EAF2EC"/>
            </a:solidFill>
            <a:prstDash val="solid"/>
          </a:ln>
        </p:spPr>
      </p:sp>
      <p:pic>
        <p:nvPicPr>
          <p:cNvPr id="31" name="Image 5" descr="FaEgg">    </p:cNvPr>
          <p:cNvPicPr>
            <a:picLocks noChangeAspect="1"/>
          </p:cNvPicPr>
          <p:nvPr/>
        </p:nvPicPr>
        <p:blipFill>
          <a:blip r:embed="rId6"/>
          <a:stretch>
            <a:fillRect/>
          </a:stretch>
        </p:blipFill>
        <p:spPr>
          <a:xfrm>
            <a:off x="3716731" y="3756355"/>
            <a:ext cx="332842" cy="332842"/>
          </a:xfrm>
          <a:prstGeom prst="rect">
            <a:avLst/>
          </a:prstGeom>
        </p:spPr>
      </p:pic>
      <p:sp>
        <p:nvSpPr>
          <p:cNvPr id="32" name="Text 24"/>
          <p:cNvSpPr txBox="1"/>
          <p:nvPr/>
        </p:nvSpPr>
        <p:spPr>
          <a:xfrm>
            <a:off x="4322064" y="3602736"/>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Pollito</a:t>
            </a:r>
            <a:endParaRPr lang="en-US" sz="1700" dirty="0"/>
          </a:p>
        </p:txBody>
      </p:sp>
      <p:sp>
        <p:nvSpPr>
          <p:cNvPr id="33" name="Text 25"/>
          <p:cNvSpPr txBox="1"/>
          <p:nvPr/>
        </p:nvSpPr>
        <p:spPr>
          <a:xfrm>
            <a:off x="3563112" y="4407408"/>
            <a:ext cx="2249424" cy="731520"/>
          </a:xfrm>
          <a:prstGeom prst="rect">
            <a:avLst/>
          </a:prstGeom>
          <a:noFill/>
          <a:ln/>
        </p:spPr>
        <p:txBody>
          <a:bodyPr wrap="square" lIns="0" tIns="0" rIns="0" bIns="0" rtlCol="0" anchor="t"/>
          <a:lstStyle/>
          <a:p>
            <a:pPr indent="0" marL="0">
              <a:buNone/>
            </a:pPr>
            <a:r>
              <a:rPr lang="en-US" sz="1400" dirty="0">
                <a:solidFill>
                  <a:srgbClr val="1E2B24"/>
                </a:solidFill>
              </a:rPr>
              <a:t>Comprado o incubadora propia</a:t>
            </a:r>
            <a:endParaRPr lang="en-US" sz="1400" dirty="0"/>
          </a:p>
        </p:txBody>
      </p:sp>
      <p:sp>
        <p:nvSpPr>
          <p:cNvPr id="34" name="decisión Flota"/>
          <p:cNvSpPr/>
          <p:nvPr/>
        </p:nvSpPr>
        <p:spPr>
          <a:xfrm>
            <a:off x="6175248" y="3401568"/>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35" name="círculo FaTruck"/>
          <p:cNvSpPr/>
          <p:nvPr/>
        </p:nvSpPr>
        <p:spPr>
          <a:xfrm>
            <a:off x="6376416" y="3602736"/>
            <a:ext cx="640080" cy="640080"/>
          </a:xfrm>
          <a:prstGeom prst="ellipse">
            <a:avLst/>
          </a:prstGeom>
          <a:solidFill>
            <a:srgbClr val="EAF2EC"/>
          </a:solidFill>
          <a:ln w="12700">
            <a:solidFill>
              <a:srgbClr val="EAF2EC"/>
            </a:solidFill>
            <a:prstDash val="solid"/>
          </a:ln>
        </p:spPr>
      </p:sp>
      <p:pic>
        <p:nvPicPr>
          <p:cNvPr id="36" name="Image 6" descr="FaTruck">    </p:cNvPr>
          <p:cNvPicPr>
            <a:picLocks noChangeAspect="1"/>
          </p:cNvPicPr>
          <p:nvPr/>
        </p:nvPicPr>
        <p:blipFill>
          <a:blip r:embed="rId7"/>
          <a:stretch>
            <a:fillRect/>
          </a:stretch>
        </p:blipFill>
        <p:spPr>
          <a:xfrm>
            <a:off x="6530035" y="3756355"/>
            <a:ext cx="332842" cy="332842"/>
          </a:xfrm>
          <a:prstGeom prst="rect">
            <a:avLst/>
          </a:prstGeom>
        </p:spPr>
      </p:pic>
      <p:sp>
        <p:nvSpPr>
          <p:cNvPr id="37" name="Text 28"/>
          <p:cNvSpPr txBox="1"/>
          <p:nvPr/>
        </p:nvSpPr>
        <p:spPr>
          <a:xfrm>
            <a:off x="7135368" y="3602736"/>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Flota</a:t>
            </a:r>
            <a:endParaRPr lang="en-US" sz="1700" dirty="0"/>
          </a:p>
        </p:txBody>
      </p:sp>
      <p:sp>
        <p:nvSpPr>
          <p:cNvPr id="38" name="Text 29"/>
          <p:cNvSpPr txBox="1"/>
          <p:nvPr/>
        </p:nvSpPr>
        <p:spPr>
          <a:xfrm>
            <a:off x="6376416" y="4407408"/>
            <a:ext cx="2249424" cy="731520"/>
          </a:xfrm>
          <a:prstGeom prst="rect">
            <a:avLst/>
          </a:prstGeom>
          <a:noFill/>
          <a:ln/>
        </p:spPr>
        <p:txBody>
          <a:bodyPr wrap="square" lIns="0" tIns="0" rIns="0" bIns="0" rtlCol="0" anchor="t"/>
          <a:lstStyle/>
          <a:p>
            <a:pPr indent="0" marL="0">
              <a:buNone/>
            </a:pPr>
            <a:r>
              <a:rPr lang="en-US" sz="1400" dirty="0">
                <a:solidFill>
                  <a:srgbClr val="1E2B24"/>
                </a:solidFill>
              </a:rPr>
              <a:t>Propia, tercerizada o mixta</a:t>
            </a:r>
            <a:endParaRPr lang="en-US" sz="1400" dirty="0"/>
          </a:p>
        </p:txBody>
      </p:sp>
      <p:sp>
        <p:nvSpPr>
          <p:cNvPr id="39" name="decisión Financiamiento"/>
          <p:cNvSpPr/>
          <p:nvPr/>
        </p:nvSpPr>
        <p:spPr>
          <a:xfrm>
            <a:off x="8988552" y="3401568"/>
            <a:ext cx="2651760" cy="1874520"/>
          </a:xfrm>
          <a:prstGeom prst="roundRect">
            <a:avLst>
              <a:gd name="adj" fmla="val 3902"/>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40" name="círculo FaMoneyBillWave"/>
          <p:cNvSpPr/>
          <p:nvPr/>
        </p:nvSpPr>
        <p:spPr>
          <a:xfrm>
            <a:off x="9189720" y="3602736"/>
            <a:ext cx="640080" cy="640080"/>
          </a:xfrm>
          <a:prstGeom prst="ellipse">
            <a:avLst/>
          </a:prstGeom>
          <a:solidFill>
            <a:srgbClr val="EAF2EC"/>
          </a:solidFill>
          <a:ln w="12700">
            <a:solidFill>
              <a:srgbClr val="EAF2EC"/>
            </a:solidFill>
            <a:prstDash val="solid"/>
          </a:ln>
        </p:spPr>
      </p:sp>
      <p:pic>
        <p:nvPicPr>
          <p:cNvPr id="41" name="Image 7" descr="FaMoneyBillWave">    </p:cNvPr>
          <p:cNvPicPr>
            <a:picLocks noChangeAspect="1"/>
          </p:cNvPicPr>
          <p:nvPr/>
        </p:nvPicPr>
        <p:blipFill>
          <a:blip r:embed="rId8"/>
          <a:stretch>
            <a:fillRect/>
          </a:stretch>
        </p:blipFill>
        <p:spPr>
          <a:xfrm>
            <a:off x="9343339" y="3756355"/>
            <a:ext cx="332842" cy="332842"/>
          </a:xfrm>
          <a:prstGeom prst="rect">
            <a:avLst/>
          </a:prstGeom>
        </p:spPr>
      </p:pic>
      <p:sp>
        <p:nvSpPr>
          <p:cNvPr id="42" name="Text 32"/>
          <p:cNvSpPr txBox="1"/>
          <p:nvPr/>
        </p:nvSpPr>
        <p:spPr>
          <a:xfrm>
            <a:off x="9948672" y="3602736"/>
            <a:ext cx="1600200" cy="640080"/>
          </a:xfrm>
          <a:prstGeom prst="rect">
            <a:avLst/>
          </a:prstGeom>
          <a:noFill/>
          <a:ln/>
        </p:spPr>
        <p:txBody>
          <a:bodyPr wrap="square" lIns="0" tIns="0" rIns="0" bIns="0" rtlCol="0" anchor="ctr"/>
          <a:lstStyle/>
          <a:p>
            <a:pPr indent="0" marL="0">
              <a:buNone/>
            </a:pPr>
            <a:r>
              <a:rPr lang="en-US" sz="1700" b="1" dirty="0">
                <a:solidFill>
                  <a:srgbClr val="1F4D3A"/>
                </a:solidFill>
              </a:rPr>
              <a:t>Financiamiento</a:t>
            </a:r>
            <a:endParaRPr lang="en-US" sz="1700" dirty="0"/>
          </a:p>
        </p:txBody>
      </p:sp>
      <p:sp>
        <p:nvSpPr>
          <p:cNvPr id="43" name="Text 33"/>
          <p:cNvSpPr txBox="1"/>
          <p:nvPr/>
        </p:nvSpPr>
        <p:spPr>
          <a:xfrm>
            <a:off x="9189720" y="4407408"/>
            <a:ext cx="2249424" cy="731520"/>
          </a:xfrm>
          <a:prstGeom prst="rect">
            <a:avLst/>
          </a:prstGeom>
          <a:noFill/>
          <a:ln/>
        </p:spPr>
        <p:txBody>
          <a:bodyPr wrap="square" lIns="0" tIns="0" rIns="0" bIns="0" rtlCol="0" anchor="t"/>
          <a:lstStyle/>
          <a:p>
            <a:pPr indent="0" marL="0">
              <a:buNone/>
            </a:pPr>
            <a:r>
              <a:rPr lang="en-US" sz="1400" dirty="0">
                <a:solidFill>
                  <a:srgbClr val="1E2B24"/>
                </a:solidFill>
              </a:rPr>
              <a:t>Aportes, deuda y etapas</a:t>
            </a:r>
            <a:endParaRPr lang="en-US" sz="1400" dirty="0"/>
          </a:p>
        </p:txBody>
      </p:sp>
      <p:sp>
        <p:nvSpPr>
          <p:cNvPr id="44" name="Text 34"/>
          <p:cNvSpPr txBox="1"/>
          <p:nvPr/>
        </p:nvSpPr>
        <p:spPr>
          <a:xfrm>
            <a:off x="548640" y="5623560"/>
            <a:ext cx="11091672" cy="594360"/>
          </a:xfrm>
          <a:prstGeom prst="roundRect">
            <a:avLst>
              <a:gd name="adj" fmla="val 12308"/>
            </a:avLst>
          </a:prstGeom>
          <a:solidFill>
            <a:srgbClr val="FBF1DC"/>
          </a:solidFill>
          <a:ln/>
        </p:spPr>
        <p:txBody>
          <a:bodyPr wrap="square" lIns="0" tIns="0" rIns="0" bIns="0" rtlCol="0" anchor="ctr"/>
          <a:lstStyle/>
          <a:p>
            <a:pPr algn="ctr" indent="0" marL="0">
              <a:buNone/>
            </a:pPr>
            <a:r>
              <a:rPr lang="en-US" sz="1500" b="1" dirty="0">
                <a:solidFill>
                  <a:srgbClr val="1F4D3A"/>
                </a:solidFill>
              </a:rPr>
              <a:t>104 decisiones abiertas en el registro del proyecto; ninguna cerrada. Varias son del inversor: objetivo, capital real y condiciones.</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Qué se puede decidir hoy</a:t>
            </a:r>
            <a:endParaRPr lang="en-US" sz="3200" dirty="0"/>
          </a:p>
        </p:txBody>
      </p:sp>
      <p:sp>
        <p:nvSpPr>
          <p:cNvPr id="3" name="tarjeta"/>
          <p:cNvSpPr/>
          <p:nvPr/>
        </p:nvSpPr>
        <p:spPr>
          <a:xfrm>
            <a:off x="548640" y="1325880"/>
            <a:ext cx="5394960" cy="4892040"/>
          </a:xfrm>
          <a:prstGeom prst="roundRect">
            <a:avLst>
              <a:gd name="adj" fmla="val 1495"/>
            </a:avLst>
          </a:prstGeom>
          <a:solidFill>
            <a:srgbClr val="F8E3E1"/>
          </a:solidFill>
          <a:ln w="9525">
            <a:solidFill>
              <a:srgbClr val="F8E3E1"/>
            </a:solidFill>
            <a:prstDash val="solid"/>
          </a:ln>
        </p:spPr>
      </p:sp>
      <p:sp>
        <p:nvSpPr>
          <p:cNvPr id="4" name="círculo FaTimesCircle"/>
          <p:cNvSpPr/>
          <p:nvPr/>
        </p:nvSpPr>
        <p:spPr>
          <a:xfrm>
            <a:off x="777240" y="1508760"/>
            <a:ext cx="640080" cy="640080"/>
          </a:xfrm>
          <a:prstGeom prst="ellipse">
            <a:avLst/>
          </a:prstGeom>
          <a:solidFill>
            <a:srgbClr val="B3261E"/>
          </a:solidFill>
          <a:ln w="12700">
            <a:solidFill>
              <a:srgbClr val="B3261E"/>
            </a:solidFill>
            <a:prstDash val="solid"/>
          </a:ln>
        </p:spPr>
      </p:sp>
      <p:pic>
        <p:nvPicPr>
          <p:cNvPr id="5" name="Image 0" descr="FaTimesCircle">    </p:cNvPr>
          <p:cNvPicPr>
            <a:picLocks noChangeAspect="1"/>
          </p:cNvPicPr>
          <p:nvPr/>
        </p:nvPicPr>
        <p:blipFill>
          <a:blip r:embed="rId1"/>
          <a:stretch>
            <a:fillRect/>
          </a:stretch>
        </p:blipFill>
        <p:spPr>
          <a:xfrm>
            <a:off x="930859" y="1662379"/>
            <a:ext cx="332842" cy="332842"/>
          </a:xfrm>
          <a:prstGeom prst="rect">
            <a:avLst/>
          </a:prstGeom>
        </p:spPr>
      </p:pic>
      <p:sp>
        <p:nvSpPr>
          <p:cNvPr id="6" name="Text 3"/>
          <p:cNvSpPr txBox="1"/>
          <p:nvPr/>
        </p:nvSpPr>
        <p:spPr>
          <a:xfrm>
            <a:off x="1600200" y="1508760"/>
            <a:ext cx="4114800" cy="640080"/>
          </a:xfrm>
          <a:prstGeom prst="rect">
            <a:avLst/>
          </a:prstGeom>
          <a:noFill/>
          <a:ln/>
        </p:spPr>
        <p:txBody>
          <a:bodyPr wrap="square" lIns="0" tIns="0" rIns="0" bIns="0" rtlCol="0" anchor="ctr"/>
          <a:lstStyle/>
          <a:p>
            <a:pPr indent="0" marL="0">
              <a:buNone/>
            </a:pPr>
            <a:r>
              <a:rPr lang="en-US" sz="2400" b="1" dirty="0">
                <a:solidFill>
                  <a:srgbClr val="B3261E"/>
                </a:solidFill>
              </a:rPr>
              <a:t>Todavía NO</a:t>
            </a:r>
            <a:endParaRPr lang="en-US" sz="2400" dirty="0"/>
          </a:p>
        </p:txBody>
      </p:sp>
      <p:sp>
        <p:nvSpPr>
          <p:cNvPr id="7" name="Text 4"/>
          <p:cNvSpPr txBox="1"/>
          <p:nvPr/>
        </p:nvSpPr>
        <p:spPr>
          <a:xfrm>
            <a:off x="777240" y="2423160"/>
            <a:ext cx="4937760" cy="356616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E2B24"/>
                </a:solidFill>
              </a:rPr>
              <a:t>Si conviene invertir</a:t>
            </a:r>
            <a:endParaRPr lang="en-US" sz="1700" dirty="0"/>
          </a:p>
          <a:p>
            <a:pPr marL="203200" indent="-203200">
              <a:spcAft>
                <a:spcPts val="600"/>
              </a:spcAft>
              <a:buSzPct val="100000"/>
              <a:buChar char="•"/>
            </a:pPr>
            <a:r>
              <a:rPr lang="en-US" sz="1700" dirty="0">
                <a:solidFill>
                  <a:srgbClr val="1E2B24"/>
                </a:solidFill>
              </a:rPr>
              <a:t>Cuánto invertir</a:t>
            </a:r>
            <a:endParaRPr lang="en-US" sz="1700" dirty="0"/>
          </a:p>
          <a:p>
            <a:pPr marL="203200" indent="-203200">
              <a:spcAft>
                <a:spcPts val="600"/>
              </a:spcAft>
              <a:buSzPct val="100000"/>
              <a:buChar char="•"/>
            </a:pPr>
            <a:r>
              <a:rPr lang="en-US" sz="1700" dirty="0">
                <a:solidFill>
                  <a:srgbClr val="1E2B24"/>
                </a:solidFill>
              </a:rPr>
              <a:t>Qué escala ni qué alternativa</a:t>
            </a:r>
            <a:endParaRPr lang="en-US" sz="1700" dirty="0"/>
          </a:p>
          <a:p>
            <a:pPr marL="203200" indent="-203200">
              <a:spcAft>
                <a:spcPts val="600"/>
              </a:spcAft>
              <a:buSzPct val="100000"/>
              <a:buChar char="•"/>
            </a:pPr>
            <a:r>
              <a:rPr lang="en-US" sz="1700" dirty="0">
                <a:solidFill>
                  <a:srgbClr val="1E2B24"/>
                </a:solidFill>
              </a:rPr>
              <a:t>Dónde ubicar la planta</a:t>
            </a:r>
            <a:endParaRPr lang="en-US" sz="1700" dirty="0"/>
          </a:p>
          <a:p>
            <a:pPr marL="203200" indent="-203200">
              <a:spcAft>
                <a:spcPts val="600"/>
              </a:spcAft>
              <a:buSzPct val="100000"/>
              <a:buChar char="•"/>
            </a:pPr>
            <a:r>
              <a:rPr lang="en-US" sz="1700" dirty="0">
                <a:solidFill>
                  <a:srgbClr val="1E2B24"/>
                </a:solidFill>
              </a:rPr>
              <a:t>Qué maquinaria o qué proveedor</a:t>
            </a:r>
            <a:endParaRPr lang="en-US" sz="1700" dirty="0"/>
          </a:p>
        </p:txBody>
      </p:sp>
      <p:sp>
        <p:nvSpPr>
          <p:cNvPr id="8" name="tarjeta"/>
          <p:cNvSpPr/>
          <p:nvPr/>
        </p:nvSpPr>
        <p:spPr>
          <a:xfrm>
            <a:off x="6245352" y="1325880"/>
            <a:ext cx="5394960" cy="4892040"/>
          </a:xfrm>
          <a:prstGeom prst="roundRect">
            <a:avLst>
              <a:gd name="adj" fmla="val 1495"/>
            </a:avLst>
          </a:prstGeom>
          <a:solidFill>
            <a:srgbClr val="EAF2EC"/>
          </a:solidFill>
          <a:ln w="9525">
            <a:solidFill>
              <a:srgbClr val="EAF2EC"/>
            </a:solidFill>
            <a:prstDash val="solid"/>
          </a:ln>
        </p:spPr>
      </p:sp>
      <p:sp>
        <p:nvSpPr>
          <p:cNvPr id="9" name="círculo FaCheckCircle"/>
          <p:cNvSpPr/>
          <p:nvPr/>
        </p:nvSpPr>
        <p:spPr>
          <a:xfrm>
            <a:off x="6473952" y="1508760"/>
            <a:ext cx="640080" cy="640080"/>
          </a:xfrm>
          <a:prstGeom prst="ellipse">
            <a:avLst/>
          </a:prstGeom>
          <a:solidFill>
            <a:srgbClr val="2E7D4F"/>
          </a:solidFill>
          <a:ln w="12700">
            <a:solidFill>
              <a:srgbClr val="2E7D4F"/>
            </a:solidFill>
            <a:prstDash val="solid"/>
          </a:ln>
        </p:spPr>
      </p:sp>
      <p:pic>
        <p:nvPicPr>
          <p:cNvPr id="10" name="Image 1" descr="FaCheckCircle">    </p:cNvPr>
          <p:cNvPicPr>
            <a:picLocks noChangeAspect="1"/>
          </p:cNvPicPr>
          <p:nvPr/>
        </p:nvPicPr>
        <p:blipFill>
          <a:blip r:embed="rId2"/>
          <a:stretch>
            <a:fillRect/>
          </a:stretch>
        </p:blipFill>
        <p:spPr>
          <a:xfrm>
            <a:off x="6627571" y="1662379"/>
            <a:ext cx="332842" cy="332842"/>
          </a:xfrm>
          <a:prstGeom prst="rect">
            <a:avLst/>
          </a:prstGeom>
        </p:spPr>
      </p:pic>
      <p:sp>
        <p:nvSpPr>
          <p:cNvPr id="11" name="Text 7"/>
          <p:cNvSpPr txBox="1"/>
          <p:nvPr/>
        </p:nvSpPr>
        <p:spPr>
          <a:xfrm>
            <a:off x="7296912" y="1508760"/>
            <a:ext cx="4114800" cy="640080"/>
          </a:xfrm>
          <a:prstGeom prst="rect">
            <a:avLst/>
          </a:prstGeom>
          <a:noFill/>
          <a:ln/>
        </p:spPr>
        <p:txBody>
          <a:bodyPr wrap="square" lIns="0" tIns="0" rIns="0" bIns="0" rtlCol="0" anchor="ctr"/>
          <a:lstStyle/>
          <a:p>
            <a:pPr indent="0" marL="0">
              <a:buNone/>
            </a:pPr>
            <a:r>
              <a:rPr lang="en-US" sz="2400" b="1" dirty="0">
                <a:solidFill>
                  <a:srgbClr val="2E7D4F"/>
                </a:solidFill>
              </a:rPr>
              <a:t>SÍ, desde hoy</a:t>
            </a:r>
            <a:endParaRPr lang="en-US" sz="2400" dirty="0"/>
          </a:p>
        </p:txBody>
      </p:sp>
      <p:sp>
        <p:nvSpPr>
          <p:cNvPr id="12" name="Text 8"/>
          <p:cNvSpPr txBox="1"/>
          <p:nvPr/>
        </p:nvSpPr>
        <p:spPr>
          <a:xfrm>
            <a:off x="6473952" y="2423160"/>
            <a:ext cx="4937760" cy="356616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E2B24"/>
                </a:solidFill>
              </a:rPr>
              <a:t>Qué datos buscar primero: clientes y cotizaciones de prioridad 1</a:t>
            </a:r>
            <a:endParaRPr lang="en-US" sz="1700" dirty="0"/>
          </a:p>
          <a:p>
            <a:pPr marL="203200" indent="-203200">
              <a:spcAft>
                <a:spcPts val="600"/>
              </a:spcAft>
              <a:buSzPct val="100000"/>
              <a:buChar char="•"/>
            </a:pPr>
            <a:r>
              <a:rPr lang="en-US" sz="1700" dirty="0">
                <a:solidFill>
                  <a:srgbClr val="1E2B24"/>
                </a:solidFill>
              </a:rPr>
              <a:t>A quién pedirlos y en qué unidad (checklist de la app)</a:t>
            </a:r>
            <a:endParaRPr lang="en-US" sz="1700" dirty="0"/>
          </a:p>
          <a:p>
            <a:pPr marL="203200" indent="-203200">
              <a:spcAft>
                <a:spcPts val="600"/>
              </a:spcAft>
              <a:buSzPct val="100000"/>
              <a:buChar char="•"/>
            </a:pPr>
            <a:r>
              <a:rPr lang="en-US" sz="1700" dirty="0">
                <a:solidFill>
                  <a:srgbClr val="1E2B24"/>
                </a:solidFill>
              </a:rPr>
              <a:t>Qué escenarios simular para ver qué variables pesan más</a:t>
            </a:r>
            <a:endParaRPr lang="en-US" sz="1700" dirty="0"/>
          </a:p>
          <a:p>
            <a:pPr marL="203200" indent="-203200">
              <a:spcAft>
                <a:spcPts val="600"/>
              </a:spcAft>
              <a:buSzPct val="100000"/>
              <a:buChar char="•"/>
            </a:pPr>
            <a:r>
              <a:rPr lang="en-US" sz="1700" dirty="0">
                <a:solidFill>
                  <a:srgbClr val="1E2B24"/>
                </a:solidFill>
              </a:rPr>
              <a:t>Mantener las 5 alternativas en estudio, sin descartar ninguna sin datos</a:t>
            </a:r>
            <a:endParaRPr lang="en-US" sz="1700" dirty="0"/>
          </a:p>
          <a:p>
            <a:pPr marL="203200" indent="-203200">
              <a:spcAft>
                <a:spcPts val="600"/>
              </a:spcAft>
              <a:buSzPct val="100000"/>
              <a:buChar char="•"/>
            </a:pPr>
            <a:r>
              <a:rPr lang="en-US" sz="1700" dirty="0">
                <a:solidFill>
                  <a:srgbClr val="1E2B24"/>
                </a:solidFill>
              </a:rPr>
              <a:t>Que el inversor defina su objetivo, su capital real y sus condiciones</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685800"/>
            <a:ext cx="7680960" cy="914400"/>
          </a:xfrm>
          <a:prstGeom prst="rect">
            <a:avLst/>
          </a:prstGeom>
          <a:noFill/>
          <a:ln/>
        </p:spPr>
        <p:txBody>
          <a:bodyPr wrap="square" lIns="0" tIns="0" rIns="0" bIns="0" rtlCol="0" anchor="ctr"/>
          <a:lstStyle/>
          <a:p>
            <a:pPr algn="l" indent="0" marL="0">
              <a:buNone/>
            </a:pPr>
            <a:r>
              <a:rPr lang="en-US" sz="4400" b="1" dirty="0">
                <a:solidFill>
                  <a:srgbClr val="FFFFFF"/>
                </a:solidFill>
              </a:rPr>
              <a:t>Conclusión</a:t>
            </a:r>
            <a:endParaRPr lang="en-US" sz="4400" dirty="0"/>
          </a:p>
        </p:txBody>
      </p:sp>
      <p:sp>
        <p:nvSpPr>
          <p:cNvPr id="3" name="círculo FaCheckCircle"/>
          <p:cNvSpPr/>
          <p:nvPr/>
        </p:nvSpPr>
        <p:spPr>
          <a:xfrm>
            <a:off x="640080" y="2011680"/>
            <a:ext cx="566928" cy="566928"/>
          </a:xfrm>
          <a:prstGeom prst="ellipse">
            <a:avLst/>
          </a:prstGeom>
          <a:solidFill>
            <a:srgbClr val="2E7D4F"/>
          </a:solidFill>
          <a:ln w="12700">
            <a:solidFill>
              <a:srgbClr val="2E7D4F"/>
            </a:solidFill>
            <a:prstDash val="solid"/>
          </a:ln>
        </p:spPr>
      </p:sp>
      <p:pic>
        <p:nvPicPr>
          <p:cNvPr id="4" name="Image 0" descr="FaCheckCircle">    </p:cNvPr>
          <p:cNvPicPr>
            <a:picLocks noChangeAspect="1"/>
          </p:cNvPicPr>
          <p:nvPr/>
        </p:nvPicPr>
        <p:blipFill>
          <a:blip r:embed="rId1"/>
          <a:stretch>
            <a:fillRect/>
          </a:stretch>
        </p:blipFill>
        <p:spPr>
          <a:xfrm>
            <a:off x="776143" y="2147743"/>
            <a:ext cx="294803" cy="294803"/>
          </a:xfrm>
          <a:prstGeom prst="rect">
            <a:avLst/>
          </a:prstGeom>
        </p:spPr>
      </p:pic>
      <p:sp>
        <p:nvSpPr>
          <p:cNvPr id="5" name="Text 2"/>
          <p:cNvSpPr txBox="1"/>
          <p:nvPr/>
        </p:nvSpPr>
        <p:spPr>
          <a:xfrm>
            <a:off x="1417320" y="2011680"/>
            <a:ext cx="6949440" cy="566928"/>
          </a:xfrm>
          <a:prstGeom prst="rect">
            <a:avLst/>
          </a:prstGeom>
          <a:noFill/>
          <a:ln/>
        </p:spPr>
        <p:txBody>
          <a:bodyPr wrap="square" lIns="0" tIns="0" rIns="0" bIns="0" rtlCol="0" anchor="ctr"/>
          <a:lstStyle/>
          <a:p>
            <a:pPr indent="0" marL="0">
              <a:buNone/>
            </a:pPr>
            <a:r>
              <a:rPr lang="en-US" sz="2200" dirty="0">
                <a:solidFill>
                  <a:srgbClr val="D7E4DB"/>
                </a:solidFill>
              </a:rPr>
              <a:t>MOTOR V1 = </a:t>
            </a:r>
            <a:pPr indent="0" marL="0">
              <a:buNone/>
            </a:pPr>
            <a:r>
              <a:rPr lang="en-US" sz="2200" b="1" dirty="0">
                <a:solidFill>
                  <a:srgbClr val="FFFFFF"/>
                </a:solidFill>
              </a:rPr>
              <a:t>COMPLETO ESTRUCTURALMENTE</a:t>
            </a:r>
            <a:endParaRPr lang="en-US" sz="2200" dirty="0"/>
          </a:p>
        </p:txBody>
      </p:sp>
      <p:sp>
        <p:nvSpPr>
          <p:cNvPr id="6" name="círculo FaCheckCircle"/>
          <p:cNvSpPr/>
          <p:nvPr/>
        </p:nvSpPr>
        <p:spPr>
          <a:xfrm>
            <a:off x="640080" y="2834640"/>
            <a:ext cx="566928" cy="566928"/>
          </a:xfrm>
          <a:prstGeom prst="ellipse">
            <a:avLst/>
          </a:prstGeom>
          <a:solidFill>
            <a:srgbClr val="2E7D4F"/>
          </a:solidFill>
          <a:ln w="12700">
            <a:solidFill>
              <a:srgbClr val="2E7D4F"/>
            </a:solidFill>
            <a:prstDash val="solid"/>
          </a:ln>
        </p:spPr>
      </p:sp>
      <p:pic>
        <p:nvPicPr>
          <p:cNvPr id="7" name="Image 1" descr="FaCheckCircle">    </p:cNvPr>
          <p:cNvPicPr>
            <a:picLocks noChangeAspect="1"/>
          </p:cNvPicPr>
          <p:nvPr/>
        </p:nvPicPr>
        <p:blipFill>
          <a:blip r:embed="rId2"/>
          <a:stretch>
            <a:fillRect/>
          </a:stretch>
        </p:blipFill>
        <p:spPr>
          <a:xfrm>
            <a:off x="776143" y="2970703"/>
            <a:ext cx="294803" cy="294803"/>
          </a:xfrm>
          <a:prstGeom prst="rect">
            <a:avLst/>
          </a:prstGeom>
        </p:spPr>
      </p:pic>
      <p:sp>
        <p:nvSpPr>
          <p:cNvPr id="8" name="Text 4"/>
          <p:cNvSpPr txBox="1"/>
          <p:nvPr/>
        </p:nvSpPr>
        <p:spPr>
          <a:xfrm>
            <a:off x="1417320" y="2834640"/>
            <a:ext cx="6949440" cy="566928"/>
          </a:xfrm>
          <a:prstGeom prst="rect">
            <a:avLst/>
          </a:prstGeom>
          <a:noFill/>
          <a:ln/>
        </p:spPr>
        <p:txBody>
          <a:bodyPr wrap="square" lIns="0" tIns="0" rIns="0" bIns="0" rtlCol="0" anchor="ctr"/>
          <a:lstStyle/>
          <a:p>
            <a:pPr indent="0" marL="0">
              <a:buNone/>
            </a:pPr>
            <a:r>
              <a:rPr lang="en-US" sz="2200" dirty="0">
                <a:solidFill>
                  <a:srgbClr val="D7E4DB"/>
                </a:solidFill>
              </a:rPr>
              <a:t>APP V1 = </a:t>
            </a:r>
            <a:pPr indent="0" marL="0">
              <a:buNone/>
            </a:pPr>
            <a:r>
              <a:rPr lang="en-US" sz="2200" b="1" dirty="0">
                <a:solidFill>
                  <a:srgbClr val="FFFFFF"/>
                </a:solidFill>
              </a:rPr>
              <a:t>LISTA</a:t>
            </a:r>
            <a:endParaRPr lang="en-US" sz="2200" dirty="0"/>
          </a:p>
        </p:txBody>
      </p:sp>
      <p:sp>
        <p:nvSpPr>
          <p:cNvPr id="9" name="círculo FaPauseCircle"/>
          <p:cNvSpPr/>
          <p:nvPr/>
        </p:nvSpPr>
        <p:spPr>
          <a:xfrm>
            <a:off x="640080" y="3657600"/>
            <a:ext cx="566928" cy="566928"/>
          </a:xfrm>
          <a:prstGeom prst="ellipse">
            <a:avLst/>
          </a:prstGeom>
          <a:solidFill>
            <a:srgbClr val="B3261E"/>
          </a:solidFill>
          <a:ln w="12700">
            <a:solidFill>
              <a:srgbClr val="B3261E"/>
            </a:solidFill>
            <a:prstDash val="solid"/>
          </a:ln>
        </p:spPr>
      </p:sp>
      <p:pic>
        <p:nvPicPr>
          <p:cNvPr id="10" name="Image 2" descr="FaPauseCircle">    </p:cNvPr>
          <p:cNvPicPr>
            <a:picLocks noChangeAspect="1"/>
          </p:cNvPicPr>
          <p:nvPr/>
        </p:nvPicPr>
        <p:blipFill>
          <a:blip r:embed="rId3"/>
          <a:stretch>
            <a:fillRect/>
          </a:stretch>
        </p:blipFill>
        <p:spPr>
          <a:xfrm>
            <a:off x="776143" y="3793663"/>
            <a:ext cx="294803" cy="294803"/>
          </a:xfrm>
          <a:prstGeom prst="rect">
            <a:avLst/>
          </a:prstGeom>
        </p:spPr>
      </p:pic>
      <p:sp>
        <p:nvSpPr>
          <p:cNvPr id="11" name="Text 6"/>
          <p:cNvSpPr txBox="1"/>
          <p:nvPr/>
        </p:nvSpPr>
        <p:spPr>
          <a:xfrm>
            <a:off x="1417320" y="3657600"/>
            <a:ext cx="6949440" cy="566928"/>
          </a:xfrm>
          <a:prstGeom prst="rect">
            <a:avLst/>
          </a:prstGeom>
          <a:noFill/>
          <a:ln/>
        </p:spPr>
        <p:txBody>
          <a:bodyPr wrap="square" lIns="0" tIns="0" rIns="0" bIns="0" rtlCol="0" anchor="ctr"/>
          <a:lstStyle/>
          <a:p>
            <a:pPr indent="0" marL="0">
              <a:buNone/>
            </a:pPr>
            <a:r>
              <a:rPr lang="en-US" sz="2200" dirty="0">
                <a:solidFill>
                  <a:srgbClr val="D7E4DB"/>
                </a:solidFill>
              </a:rPr>
              <a:t>LISTO PARA DECISIÓN REAL = </a:t>
            </a:r>
            <a:pPr indent="0" marL="0">
              <a:buNone/>
            </a:pPr>
            <a:r>
              <a:rPr lang="en-US" sz="2200" b="1" dirty="0">
                <a:solidFill>
                  <a:srgbClr val="FFFFFF"/>
                </a:solidFill>
              </a:rPr>
              <a:t>NO: faltan datos reales</a:t>
            </a:r>
            <a:endParaRPr lang="en-US" sz="2200" dirty="0"/>
          </a:p>
        </p:txBody>
      </p:sp>
      <p:sp>
        <p:nvSpPr>
          <p:cNvPr id="12" name="Text 7"/>
          <p:cNvSpPr txBox="1"/>
          <p:nvPr/>
        </p:nvSpPr>
        <p:spPr>
          <a:xfrm>
            <a:off x="640080" y="4663440"/>
            <a:ext cx="7863840" cy="640080"/>
          </a:xfrm>
          <a:prstGeom prst="rect">
            <a:avLst/>
          </a:prstGeom>
          <a:noFill/>
          <a:ln/>
        </p:spPr>
        <p:txBody>
          <a:bodyPr wrap="square" lIns="0" tIns="0" rIns="0" bIns="0" rtlCol="0" anchor="ctr"/>
          <a:lstStyle/>
          <a:p>
            <a:pPr indent="0" marL="0">
              <a:buNone/>
            </a:pPr>
            <a:r>
              <a:rPr lang="en-US" sz="2800" b="1" dirty="0">
                <a:solidFill>
                  <a:srgbClr val="E3A12F"/>
                </a:solidFill>
              </a:rPr>
              <a:t>Próximo paso: trabajo de campo y cotizaciones</a:t>
            </a:r>
            <a:endParaRPr lang="en-US" sz="2800" dirty="0"/>
          </a:p>
        </p:txBody>
      </p:sp>
      <p:sp>
        <p:nvSpPr>
          <p:cNvPr id="13" name="Text 8"/>
          <p:cNvSpPr txBox="1"/>
          <p:nvPr/>
        </p:nvSpPr>
        <p:spPr>
          <a:xfrm>
            <a:off x="640080" y="5349240"/>
            <a:ext cx="7863840" cy="640080"/>
          </a:xfrm>
          <a:prstGeom prst="rect">
            <a:avLst/>
          </a:prstGeom>
          <a:noFill/>
          <a:ln/>
        </p:spPr>
        <p:txBody>
          <a:bodyPr wrap="square" lIns="0" tIns="0" rIns="0" bIns="0" rtlCol="0" anchor="t"/>
          <a:lstStyle/>
          <a:p>
            <a:pPr indent="0" marL="0">
              <a:buNone/>
            </a:pPr>
            <a:r>
              <a:rPr lang="en-US" sz="1600" dirty="0">
                <a:solidFill>
                  <a:srgbClr val="D7E4DB"/>
                </a:solidFill>
              </a:rPr>
              <a:t>El estudio todavía no dice si el proyecto conviene. Dice qué datos hacen falta para saberlo.</a:t>
            </a:r>
            <a:endParaRPr lang="en-US" sz="1600" dirty="0"/>
          </a:p>
        </p:txBody>
      </p:sp>
      <p:sp>
        <p:nvSpPr>
          <p:cNvPr id="14" name="círculo cierre"/>
          <p:cNvSpPr/>
          <p:nvPr/>
        </p:nvSpPr>
        <p:spPr>
          <a:xfrm>
            <a:off x="8915400" y="1828800"/>
            <a:ext cx="2651760" cy="2651760"/>
          </a:xfrm>
          <a:prstGeom prst="ellipse">
            <a:avLst/>
          </a:prstGeom>
          <a:solidFill>
            <a:srgbClr val="2C6650"/>
          </a:solidFill>
          <a:ln w="12700">
            <a:solidFill>
              <a:srgbClr val="2C6650"/>
            </a:solidFill>
            <a:prstDash val="solid"/>
          </a:ln>
        </p:spPr>
      </p:sp>
      <p:pic>
        <p:nvPicPr>
          <p:cNvPr id="15" name="Image 3" descr="lista de trabajo de campo">    </p:cNvPr>
          <p:cNvPicPr>
            <a:picLocks noChangeAspect="1"/>
          </p:cNvPicPr>
          <p:nvPr/>
        </p:nvPicPr>
        <p:blipFill>
          <a:blip r:embed="rId4"/>
          <a:stretch>
            <a:fillRect/>
          </a:stretch>
        </p:blipFill>
        <p:spPr>
          <a:xfrm>
            <a:off x="9601200" y="2514600"/>
            <a:ext cx="1280160" cy="1280160"/>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CC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2377440"/>
            <a:ext cx="10881360" cy="1097280"/>
          </a:xfrm>
          <a:prstGeom prst="rect">
            <a:avLst/>
          </a:prstGeom>
          <a:noFill/>
          <a:ln/>
        </p:spPr>
        <p:txBody>
          <a:bodyPr wrap="square" lIns="0" tIns="0" rIns="0" bIns="0" rtlCol="0" anchor="ctr"/>
          <a:lstStyle/>
          <a:p>
            <a:pPr algn="l" indent="0" marL="0">
              <a:buNone/>
            </a:pPr>
            <a:r>
              <a:rPr lang="en-US" sz="4400" b="1" dirty="0">
                <a:solidFill>
                  <a:srgbClr val="FFFFFF"/>
                </a:solidFill>
              </a:rPr>
              <a:t>Anexo técnico</a:t>
            </a:r>
            <a:endParaRPr lang="en-US" sz="4400" dirty="0"/>
          </a:p>
        </p:txBody>
      </p:sp>
      <p:sp>
        <p:nvSpPr>
          <p:cNvPr id="3" name="Text 1"/>
          <p:cNvSpPr txBox="1"/>
          <p:nvPr/>
        </p:nvSpPr>
        <p:spPr>
          <a:xfrm>
            <a:off x="640080" y="3520440"/>
            <a:ext cx="10881360" cy="548640"/>
          </a:xfrm>
          <a:prstGeom prst="rect">
            <a:avLst/>
          </a:prstGeom>
          <a:noFill/>
          <a:ln/>
        </p:spPr>
        <p:txBody>
          <a:bodyPr wrap="square" lIns="0" tIns="0" rIns="0" bIns="0" rtlCol="0" anchor="t"/>
          <a:lstStyle/>
          <a:p>
            <a:pPr indent="0" marL="0">
              <a:buNone/>
            </a:pPr>
            <a:r>
              <a:rPr lang="en-US" sz="1800" dirty="0">
                <a:solidFill>
                  <a:srgbClr val="D7E4DB"/>
                </a:solidFill>
              </a:rPr>
              <a:t>Para profesores y análisis detallado: arquitectura de motores, evidencia, pruebas, tensiones abiertas y glosario.</a:t>
            </a:r>
            <a:endParaRPr lang="en-US" sz="1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CC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A1 · Arquitectura de los motores</a:t>
            </a:r>
            <a:endParaRPr lang="en-US" sz="3200" dirty="0"/>
          </a:p>
        </p:txBody>
      </p:sp>
      <p:sp>
        <p:nvSpPr>
          <p:cNvPr id="3" name="Datos físicos"/>
          <p:cNvSpPr/>
          <p:nvPr/>
        </p:nvSpPr>
        <p:spPr>
          <a:xfrm>
            <a:off x="548640" y="1463040"/>
            <a:ext cx="2468880" cy="3566160"/>
          </a:xfrm>
          <a:prstGeom prst="roundRect">
            <a:avLst>
              <a:gd name="adj" fmla="val 2963"/>
            </a:avLst>
          </a:prstGeom>
          <a:solidFill>
            <a:srgbClr val="EAF2EC"/>
          </a:solidFill>
          <a:ln w="9525">
            <a:solidFill>
              <a:srgbClr val="EAF2EC"/>
            </a:solidFill>
            <a:prstDash val="solid"/>
          </a:ln>
        </p:spPr>
      </p:sp>
      <p:sp>
        <p:nvSpPr>
          <p:cNvPr id="4" name="Text 2"/>
          <p:cNvSpPr txBox="1"/>
          <p:nvPr/>
        </p:nvSpPr>
        <p:spPr>
          <a:xfrm>
            <a:off x="713232" y="1600200"/>
            <a:ext cx="2139696" cy="3291840"/>
          </a:xfrm>
          <a:prstGeom prst="rect">
            <a:avLst/>
          </a:prstGeom>
          <a:noFill/>
          <a:ln/>
        </p:spPr>
        <p:txBody>
          <a:bodyPr wrap="square" lIns="0" tIns="0" rIns="0" bIns="0" rtlCol="0" anchor="t"/>
          <a:lstStyle/>
          <a:p>
            <a:pPr indent="0" marL="0">
              <a:spcAft>
                <a:spcPts val="400"/>
              </a:spcAft>
              <a:buNone/>
            </a:pPr>
            <a:r>
              <a:rPr lang="en-US" sz="1600" b="1" dirty="0">
                <a:solidFill>
                  <a:srgbClr val="1F4D3A"/>
                </a:solidFill>
              </a:rPr>
              <a:t>Datos físicos</a:t>
            </a:r>
            <a:endParaRPr lang="en-US" sz="1400" dirty="0"/>
          </a:p>
          <a:p>
            <a:pPr indent="0" marL="0">
              <a:spcAft>
                <a:spcPts val="400"/>
              </a:spcAft>
              <a:buNone/>
            </a:pPr>
            <a:r>
              <a:rPr lang="en-US" sz="1200" dirty="0">
                <a:solidFill>
                  <a:srgbClr val="1F4D3A"/>
                </a:solidFill>
              </a:rPr>
              <a:t>Producción · balance de masa · escala · proceso · agua, energía y frío · layout · logística · localización · RR. HH. · alimento e incubación</a:t>
            </a:r>
            <a:endParaRPr lang="en-US" sz="1400" dirty="0"/>
          </a:p>
        </p:txBody>
      </p:sp>
      <p:sp>
        <p:nvSpPr>
          <p:cNvPr id="5" name="CAPEX"/>
          <p:cNvSpPr/>
          <p:nvPr/>
        </p:nvSpPr>
        <p:spPr>
          <a:xfrm>
            <a:off x="3429000" y="1463040"/>
            <a:ext cx="2103120" cy="1600200"/>
          </a:xfrm>
          <a:prstGeom prst="roundRect">
            <a:avLst>
              <a:gd name="adj" fmla="val 4571"/>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6" name="Text 4"/>
          <p:cNvSpPr txBox="1"/>
          <p:nvPr/>
        </p:nvSpPr>
        <p:spPr>
          <a:xfrm>
            <a:off x="3593592" y="1600200"/>
            <a:ext cx="1773936" cy="1325880"/>
          </a:xfrm>
          <a:prstGeom prst="rect">
            <a:avLst/>
          </a:prstGeom>
          <a:noFill/>
          <a:ln/>
        </p:spPr>
        <p:txBody>
          <a:bodyPr wrap="square" lIns="0" tIns="0" rIns="0" bIns="0" rtlCol="0" anchor="t"/>
          <a:lstStyle/>
          <a:p>
            <a:pPr indent="0" marL="0">
              <a:spcAft>
                <a:spcPts val="400"/>
              </a:spcAft>
              <a:buNone/>
            </a:pPr>
            <a:r>
              <a:rPr lang="en-US" sz="1600" b="1" dirty="0">
                <a:solidFill>
                  <a:srgbClr val="1F4D3A"/>
                </a:solidFill>
              </a:rPr>
              <a:t>CAPEX</a:t>
            </a:r>
            <a:endParaRPr lang="en-US" sz="1400" dirty="0"/>
          </a:p>
          <a:p>
            <a:pPr indent="0" marL="0">
              <a:spcAft>
                <a:spcPts val="400"/>
              </a:spcAft>
              <a:buNone/>
            </a:pPr>
            <a:r>
              <a:rPr lang="en-US" sz="1200" dirty="0">
                <a:solidFill>
                  <a:srgbClr val="1F4D3A"/>
                </a:solidFill>
              </a:rPr>
              <a:t>Lista de activos por alternativa y escala</a:t>
            </a:r>
            <a:endParaRPr lang="en-US" sz="1400" dirty="0"/>
          </a:p>
        </p:txBody>
      </p:sp>
      <p:sp>
        <p:nvSpPr>
          <p:cNvPr id="7" name="OPEX + capital de trabajo"/>
          <p:cNvSpPr/>
          <p:nvPr/>
        </p:nvSpPr>
        <p:spPr>
          <a:xfrm>
            <a:off x="3429000" y="3429000"/>
            <a:ext cx="2103120" cy="1600200"/>
          </a:xfrm>
          <a:prstGeom prst="roundRect">
            <a:avLst>
              <a:gd name="adj" fmla="val 4571"/>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8" name="Text 6"/>
          <p:cNvSpPr txBox="1"/>
          <p:nvPr/>
        </p:nvSpPr>
        <p:spPr>
          <a:xfrm>
            <a:off x="3593592" y="3566160"/>
            <a:ext cx="1773936" cy="1325880"/>
          </a:xfrm>
          <a:prstGeom prst="rect">
            <a:avLst/>
          </a:prstGeom>
          <a:noFill/>
          <a:ln/>
        </p:spPr>
        <p:txBody>
          <a:bodyPr wrap="square" lIns="0" tIns="0" rIns="0" bIns="0" rtlCol="0" anchor="t"/>
          <a:lstStyle/>
          <a:p>
            <a:pPr indent="0" marL="0">
              <a:spcAft>
                <a:spcPts val="400"/>
              </a:spcAft>
              <a:buNone/>
            </a:pPr>
            <a:r>
              <a:rPr lang="en-US" sz="1600" b="1" dirty="0">
                <a:solidFill>
                  <a:srgbClr val="1F4D3A"/>
                </a:solidFill>
              </a:rPr>
              <a:t>OPEX + capital de trabajo</a:t>
            </a:r>
            <a:endParaRPr lang="en-US" sz="1400" dirty="0"/>
          </a:p>
          <a:p>
            <a:pPr indent="0" marL="0">
              <a:spcAft>
                <a:spcPts val="400"/>
              </a:spcAft>
              <a:buNone/>
            </a:pPr>
            <a:r>
              <a:rPr lang="en-US" sz="1200" dirty="0">
                <a:solidFill>
                  <a:srgbClr val="1F4D3A"/>
                </a:solidFill>
              </a:rPr>
              <a:t>Registro de costos por concepto</a:t>
            </a:r>
            <a:endParaRPr lang="en-US" sz="1400" dirty="0"/>
          </a:p>
        </p:txBody>
      </p:sp>
      <p:sp>
        <p:nvSpPr>
          <p:cNvPr id="9" name="Modelo financiero"/>
          <p:cNvSpPr/>
          <p:nvPr/>
        </p:nvSpPr>
        <p:spPr>
          <a:xfrm>
            <a:off x="5943600" y="1463040"/>
            <a:ext cx="2377440" cy="3566160"/>
          </a:xfrm>
          <a:prstGeom prst="roundRect">
            <a:avLst>
              <a:gd name="adj" fmla="val 3077"/>
            </a:avLst>
          </a:prstGeom>
          <a:solidFill>
            <a:srgbClr val="1F4D3A"/>
          </a:solidFill>
          <a:ln w="9525">
            <a:solidFill>
              <a:srgbClr val="1F4D3A"/>
            </a:solidFill>
            <a:prstDash val="solid"/>
          </a:ln>
        </p:spPr>
      </p:sp>
      <p:sp>
        <p:nvSpPr>
          <p:cNvPr id="10" name="Text 8"/>
          <p:cNvSpPr txBox="1"/>
          <p:nvPr/>
        </p:nvSpPr>
        <p:spPr>
          <a:xfrm>
            <a:off x="6108192" y="1600200"/>
            <a:ext cx="2048256" cy="329184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rPr>
              <a:t>Modelo financiero</a:t>
            </a:r>
            <a:endParaRPr lang="en-US" sz="1400" dirty="0"/>
          </a:p>
          <a:p>
            <a:pPr indent="0" marL="0">
              <a:spcAft>
                <a:spcPts val="400"/>
              </a:spcAft>
              <a:buNone/>
            </a:pPr>
            <a:r>
              <a:rPr lang="en-US" sz="1200" dirty="0">
                <a:solidFill>
                  <a:srgbClr val="FFFFFF"/>
                </a:solidFill>
              </a:rPr>
              <a:t>Mes a mes: demanda → ventas → EBITDA → flujo → VAN / TIR / payback / DSCR</a:t>
            </a:r>
            <a:endParaRPr lang="en-US" sz="1400" dirty="0"/>
          </a:p>
        </p:txBody>
      </p:sp>
      <p:sp>
        <p:nvSpPr>
          <p:cNvPr id="11" name="Riesgo + optimizador"/>
          <p:cNvSpPr/>
          <p:nvPr/>
        </p:nvSpPr>
        <p:spPr>
          <a:xfrm>
            <a:off x="8732520" y="1463040"/>
            <a:ext cx="2907792" cy="1600200"/>
          </a:xfrm>
          <a:prstGeom prst="roundRect">
            <a:avLst>
              <a:gd name="adj" fmla="val 4571"/>
            </a:avLst>
          </a:prstGeom>
          <a:solidFill>
            <a:srgbClr val="FBF1DC"/>
          </a:solidFill>
          <a:ln w="9525">
            <a:solidFill>
              <a:srgbClr val="FBF1DC"/>
            </a:solidFill>
            <a:prstDash val="solid"/>
          </a:ln>
        </p:spPr>
      </p:sp>
      <p:sp>
        <p:nvSpPr>
          <p:cNvPr id="12" name="Text 10"/>
          <p:cNvSpPr txBox="1"/>
          <p:nvPr/>
        </p:nvSpPr>
        <p:spPr>
          <a:xfrm>
            <a:off x="8897112" y="1600200"/>
            <a:ext cx="2578608" cy="1325880"/>
          </a:xfrm>
          <a:prstGeom prst="rect">
            <a:avLst/>
          </a:prstGeom>
          <a:noFill/>
          <a:ln/>
        </p:spPr>
        <p:txBody>
          <a:bodyPr wrap="square" lIns="0" tIns="0" rIns="0" bIns="0" rtlCol="0" anchor="t"/>
          <a:lstStyle/>
          <a:p>
            <a:pPr indent="0" marL="0">
              <a:spcAft>
                <a:spcPts val="400"/>
              </a:spcAft>
              <a:buNone/>
            </a:pPr>
            <a:r>
              <a:rPr lang="en-US" sz="1600" b="1" dirty="0">
                <a:solidFill>
                  <a:srgbClr val="1F4D3A"/>
                </a:solidFill>
              </a:rPr>
              <a:t>Riesgo + optimizador</a:t>
            </a:r>
            <a:endParaRPr lang="en-US" sz="1400" dirty="0"/>
          </a:p>
          <a:p>
            <a:pPr indent="0" marL="0">
              <a:spcAft>
                <a:spcPts val="400"/>
              </a:spcAft>
              <a:buNone/>
            </a:pPr>
            <a:r>
              <a:rPr lang="en-US" sz="1200" dirty="0">
                <a:solidFill>
                  <a:srgbClr val="1F4D3A"/>
                </a:solidFill>
              </a:rPr>
              <a:t>Usa el modelo financiero como función de evaluación</a:t>
            </a:r>
            <a:endParaRPr lang="en-US" sz="1400" dirty="0"/>
          </a:p>
        </p:txBody>
      </p:sp>
      <p:sp>
        <p:nvSpPr>
          <p:cNvPr id="13" name="App V1"/>
          <p:cNvSpPr/>
          <p:nvPr/>
        </p:nvSpPr>
        <p:spPr>
          <a:xfrm>
            <a:off x="8732520" y="3429000"/>
            <a:ext cx="2907792" cy="1600200"/>
          </a:xfrm>
          <a:prstGeom prst="roundRect">
            <a:avLst>
              <a:gd name="adj" fmla="val 4571"/>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4" name="Text 12"/>
          <p:cNvSpPr txBox="1"/>
          <p:nvPr/>
        </p:nvSpPr>
        <p:spPr>
          <a:xfrm>
            <a:off x="8897112" y="3566160"/>
            <a:ext cx="2578608" cy="1325880"/>
          </a:xfrm>
          <a:prstGeom prst="rect">
            <a:avLst/>
          </a:prstGeom>
          <a:noFill/>
          <a:ln/>
        </p:spPr>
        <p:txBody>
          <a:bodyPr wrap="square" lIns="0" tIns="0" rIns="0" bIns="0" rtlCol="0" anchor="t"/>
          <a:lstStyle/>
          <a:p>
            <a:pPr indent="0" marL="0">
              <a:spcAft>
                <a:spcPts val="400"/>
              </a:spcAft>
              <a:buNone/>
            </a:pPr>
            <a:r>
              <a:rPr lang="en-US" sz="1600" b="1" dirty="0">
                <a:solidFill>
                  <a:srgbClr val="1F4D3A"/>
                </a:solidFill>
              </a:rPr>
              <a:t>App V1</a:t>
            </a:r>
            <a:endParaRPr lang="en-US" sz="1400" dirty="0"/>
          </a:p>
          <a:p>
            <a:pPr indent="0" marL="0">
              <a:spcAft>
                <a:spcPts val="400"/>
              </a:spcAft>
              <a:buNone/>
            </a:pPr>
            <a:r>
              <a:rPr lang="en-US" sz="1200" dirty="0">
                <a:solidFill>
                  <a:srgbClr val="1F4D3A"/>
                </a:solidFill>
              </a:rPr>
              <a:t>No calcula: llama al motor y muestra sus etiquetas</a:t>
            </a:r>
            <a:endParaRPr lang="en-US" sz="1400" dirty="0"/>
          </a:p>
        </p:txBody>
      </p:sp>
      <p:sp>
        <p:nvSpPr>
          <p:cNvPr id="15" name="Shape 13"/>
          <p:cNvSpPr/>
          <p:nvPr/>
        </p:nvSpPr>
        <p:spPr>
          <a:xfrm>
            <a:off x="3035808" y="2258568"/>
            <a:ext cx="374904" cy="91"/>
          </a:xfrm>
          <a:prstGeom prst="line">
            <a:avLst/>
          </a:prstGeom>
          <a:noFill/>
          <a:ln w="19050">
            <a:solidFill>
              <a:srgbClr val="5F6B66"/>
            </a:solidFill>
            <a:prstDash val="solid"/>
            <a:tailEnd type="triangle"/>
          </a:ln>
        </p:spPr>
      </p:sp>
      <p:sp>
        <p:nvSpPr>
          <p:cNvPr id="16" name="Shape 14"/>
          <p:cNvSpPr/>
          <p:nvPr/>
        </p:nvSpPr>
        <p:spPr>
          <a:xfrm>
            <a:off x="3035808" y="4224528"/>
            <a:ext cx="374904" cy="91"/>
          </a:xfrm>
          <a:prstGeom prst="line">
            <a:avLst/>
          </a:prstGeom>
          <a:noFill/>
          <a:ln w="19050">
            <a:solidFill>
              <a:srgbClr val="5F6B66"/>
            </a:solidFill>
            <a:prstDash val="solid"/>
            <a:tailEnd type="triangle"/>
          </a:ln>
        </p:spPr>
      </p:sp>
      <p:sp>
        <p:nvSpPr>
          <p:cNvPr id="17" name="Shape 15"/>
          <p:cNvSpPr/>
          <p:nvPr/>
        </p:nvSpPr>
        <p:spPr>
          <a:xfrm>
            <a:off x="5550408" y="2258568"/>
            <a:ext cx="374904" cy="393192"/>
          </a:xfrm>
          <a:prstGeom prst="line">
            <a:avLst/>
          </a:prstGeom>
          <a:noFill/>
          <a:ln w="19050">
            <a:solidFill>
              <a:srgbClr val="5F6B66"/>
            </a:solidFill>
            <a:prstDash val="solid"/>
            <a:tailEnd type="triangle"/>
          </a:ln>
        </p:spPr>
      </p:sp>
      <p:sp>
        <p:nvSpPr>
          <p:cNvPr id="18" name="Shape 16"/>
          <p:cNvSpPr/>
          <p:nvPr/>
        </p:nvSpPr>
        <p:spPr>
          <a:xfrm flipV="1">
            <a:off x="5550408" y="3840480"/>
            <a:ext cx="374904" cy="384048"/>
          </a:xfrm>
          <a:prstGeom prst="line">
            <a:avLst/>
          </a:prstGeom>
          <a:noFill/>
          <a:ln w="19050">
            <a:solidFill>
              <a:srgbClr val="5F6B66"/>
            </a:solidFill>
            <a:prstDash val="solid"/>
            <a:tailEnd type="triangle"/>
          </a:ln>
        </p:spPr>
      </p:sp>
      <p:sp>
        <p:nvSpPr>
          <p:cNvPr id="19" name="Shape 17"/>
          <p:cNvSpPr/>
          <p:nvPr/>
        </p:nvSpPr>
        <p:spPr>
          <a:xfrm flipV="1">
            <a:off x="8339328" y="2258568"/>
            <a:ext cx="374904" cy="393192"/>
          </a:xfrm>
          <a:prstGeom prst="line">
            <a:avLst/>
          </a:prstGeom>
          <a:noFill/>
          <a:ln w="19050">
            <a:solidFill>
              <a:srgbClr val="5F6B66"/>
            </a:solidFill>
            <a:prstDash val="solid"/>
            <a:tailEnd type="triangle"/>
          </a:ln>
        </p:spPr>
      </p:sp>
      <p:sp>
        <p:nvSpPr>
          <p:cNvPr id="20" name="Shape 18"/>
          <p:cNvSpPr/>
          <p:nvPr/>
        </p:nvSpPr>
        <p:spPr>
          <a:xfrm>
            <a:off x="8339328" y="3840480"/>
            <a:ext cx="374904" cy="384048"/>
          </a:xfrm>
          <a:prstGeom prst="line">
            <a:avLst/>
          </a:prstGeom>
          <a:noFill/>
          <a:ln w="19050">
            <a:solidFill>
              <a:srgbClr val="5F6B66"/>
            </a:solidFill>
            <a:prstDash val="solid"/>
            <a:tailEnd type="triangle"/>
          </a:ln>
        </p:spPr>
      </p:sp>
      <p:sp>
        <p:nvSpPr>
          <p:cNvPr id="21" name="Text 19"/>
          <p:cNvSpPr txBox="1"/>
          <p:nvPr/>
        </p:nvSpPr>
        <p:spPr>
          <a:xfrm>
            <a:off x="548640" y="5303520"/>
            <a:ext cx="11091672" cy="868680"/>
          </a:xfrm>
          <a:prstGeom prst="roundRect">
            <a:avLst>
              <a:gd name="adj" fmla="val 8421"/>
            </a:avLst>
          </a:prstGeom>
          <a:solidFill>
            <a:srgbClr val="EAF2EC"/>
          </a:solidFill>
          <a:ln/>
        </p:spPr>
        <p:txBody>
          <a:bodyPr wrap="square" lIns="127000" tIns="127000" rIns="127000" bIns="127000" rtlCol="0" anchor="ctr"/>
          <a:lstStyle/>
          <a:p>
            <a:pPr indent="0" marL="0">
              <a:buNone/>
            </a:pPr>
            <a:r>
              <a:rPr lang="en-US" sz="1400" b="1" dirty="0">
                <a:solidFill>
                  <a:srgbClr val="1F4D3A"/>
                </a:solidFill>
              </a:rPr>
              <a:t>Dos universos que nunca se mezclan: </a:t>
            </a:r>
            <a:pPr indent="0" marL="0">
              <a:buNone/>
            </a:pPr>
            <a:r>
              <a:rPr lang="en-US" sz="1400" dirty="0">
                <a:solidFill>
                  <a:srgbClr val="1E2B24"/>
                </a:solidFill>
              </a:rPr>
              <a:t>EVIDENCIA (solo datos verificados) y ESCENARIO (hipótesis del usuario, rotuladas SIMULACIÓN). Una sola definición de C0–CF compartida por CAPEX, OPEX, finanzas, riesgo, optimizador y app.</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A2 · Evidencia: qué cuenta como dato real</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etiqueta EVIDENCIA"/>
          <p:cNvSpPr txBox="1"/>
          <p:nvPr/>
        </p:nvSpPr>
        <p:spPr>
          <a:xfrm>
            <a:off x="9238183" y="603504"/>
            <a:ext cx="1156716" cy="274320"/>
          </a:xfrm>
          <a:prstGeom prst="roundRect">
            <a:avLst>
              <a:gd name="adj" fmla="val 50000"/>
            </a:avLst>
          </a:prstGeom>
          <a:solidFill>
            <a:srgbClr val="2E7D4F"/>
          </a:solidFill>
          <a:ln/>
        </p:spPr>
        <p:txBody>
          <a:bodyPr wrap="square" lIns="0" tIns="0" rIns="0" bIns="0" rtlCol="0" anchor="ctr"/>
          <a:lstStyle/>
          <a:p>
            <a:pPr algn="ctr" indent="0" marL="0">
              <a:buNone/>
            </a:pPr>
            <a:r>
              <a:rPr lang="en-US" sz="1050" b="1" spc="100" kern="0" dirty="0">
                <a:solidFill>
                  <a:srgbClr val="FFFFFF"/>
                </a:solidFill>
              </a:rPr>
              <a:t>EVIDENCIA</a:t>
            </a:r>
            <a:endParaRPr lang="en-US" sz="1050" dirty="0"/>
          </a:p>
        </p:txBody>
      </p:sp>
      <p:sp>
        <p:nvSpPr>
          <p:cNvPr id="5" name="Text 3"/>
          <p:cNvSpPr txBox="1"/>
          <p:nvPr/>
        </p:nvSpPr>
        <p:spPr>
          <a:xfrm>
            <a:off x="548640" y="1371600"/>
            <a:ext cx="822960" cy="594360"/>
          </a:xfrm>
          <a:prstGeom prst="roundRect">
            <a:avLst>
              <a:gd name="adj" fmla="val 12308"/>
            </a:avLst>
          </a:prstGeom>
          <a:solidFill>
            <a:srgbClr val="2E7D4F"/>
          </a:solidFill>
          <a:ln/>
        </p:spPr>
        <p:txBody>
          <a:bodyPr wrap="square" lIns="0" tIns="0" rIns="0" bIns="0" rtlCol="0" anchor="ctr"/>
          <a:lstStyle/>
          <a:p>
            <a:pPr algn="ctr" indent="0" marL="0">
              <a:buNone/>
            </a:pPr>
            <a:r>
              <a:rPr lang="en-US" sz="1800" b="1" dirty="0">
                <a:solidFill>
                  <a:srgbClr val="FFFFFF"/>
                </a:solidFill>
              </a:rPr>
              <a:t>E1</a:t>
            </a:r>
            <a:endParaRPr lang="en-US" sz="1800" dirty="0"/>
          </a:p>
        </p:txBody>
      </p:sp>
      <p:sp>
        <p:nvSpPr>
          <p:cNvPr id="6" name="Text 4"/>
          <p:cNvSpPr txBox="1"/>
          <p:nvPr/>
        </p:nvSpPr>
        <p:spPr>
          <a:xfrm>
            <a:off x="1508760" y="1371600"/>
            <a:ext cx="4206240" cy="594360"/>
          </a:xfrm>
          <a:prstGeom prst="rect">
            <a:avLst/>
          </a:prstGeom>
          <a:noFill/>
          <a:ln/>
        </p:spPr>
        <p:txBody>
          <a:bodyPr wrap="square" lIns="0" tIns="0" rIns="0" bIns="0" rtlCol="0" anchor="ctr"/>
          <a:lstStyle/>
          <a:p>
            <a:pPr indent="0" marL="0">
              <a:buNone/>
            </a:pPr>
            <a:r>
              <a:rPr lang="en-US" sz="1400" dirty="0">
                <a:solidFill>
                  <a:srgbClr val="1E2B24"/>
                </a:solidFill>
              </a:rPr>
              <a:t>Cotización formal para este proyecto</a:t>
            </a:r>
            <a:endParaRPr lang="en-US" sz="1400" dirty="0"/>
          </a:p>
        </p:txBody>
      </p:sp>
      <p:sp>
        <p:nvSpPr>
          <p:cNvPr id="7" name="Text 5"/>
          <p:cNvSpPr txBox="1"/>
          <p:nvPr/>
        </p:nvSpPr>
        <p:spPr>
          <a:xfrm>
            <a:off x="548640" y="2121408"/>
            <a:ext cx="822960" cy="594360"/>
          </a:xfrm>
          <a:prstGeom prst="roundRect">
            <a:avLst>
              <a:gd name="adj" fmla="val 12308"/>
            </a:avLst>
          </a:prstGeom>
          <a:solidFill>
            <a:srgbClr val="2E7D4F"/>
          </a:solidFill>
          <a:ln/>
        </p:spPr>
        <p:txBody>
          <a:bodyPr wrap="square" lIns="0" tIns="0" rIns="0" bIns="0" rtlCol="0" anchor="ctr"/>
          <a:lstStyle/>
          <a:p>
            <a:pPr algn="ctr" indent="0" marL="0">
              <a:buNone/>
            </a:pPr>
            <a:r>
              <a:rPr lang="en-US" sz="1800" b="1" dirty="0">
                <a:solidFill>
                  <a:srgbClr val="FFFFFF"/>
                </a:solidFill>
              </a:rPr>
              <a:t>E2</a:t>
            </a:r>
            <a:endParaRPr lang="en-US" sz="1800" dirty="0"/>
          </a:p>
        </p:txBody>
      </p:sp>
      <p:sp>
        <p:nvSpPr>
          <p:cNvPr id="8" name="Text 6"/>
          <p:cNvSpPr txBox="1"/>
          <p:nvPr/>
        </p:nvSpPr>
        <p:spPr>
          <a:xfrm>
            <a:off x="1508760" y="2121408"/>
            <a:ext cx="4206240" cy="594360"/>
          </a:xfrm>
          <a:prstGeom prst="rect">
            <a:avLst/>
          </a:prstGeom>
          <a:noFill/>
          <a:ln/>
        </p:spPr>
        <p:txBody>
          <a:bodyPr wrap="square" lIns="0" tIns="0" rIns="0" bIns="0" rtlCol="0" anchor="ctr"/>
          <a:lstStyle/>
          <a:p>
            <a:pPr indent="0" marL="0">
              <a:buNone/>
            </a:pPr>
            <a:r>
              <a:rPr lang="en-US" sz="1400" dirty="0">
                <a:solidFill>
                  <a:srgbClr val="1E2B24"/>
                </a:solidFill>
              </a:rPr>
              <a:t>Precio directo de fabricante o proveedor</a:t>
            </a:r>
            <a:endParaRPr lang="en-US" sz="1400" dirty="0"/>
          </a:p>
        </p:txBody>
      </p:sp>
      <p:sp>
        <p:nvSpPr>
          <p:cNvPr id="9" name="Text 7"/>
          <p:cNvSpPr txBox="1"/>
          <p:nvPr/>
        </p:nvSpPr>
        <p:spPr>
          <a:xfrm>
            <a:off x="548640" y="2871216"/>
            <a:ext cx="822960" cy="594360"/>
          </a:xfrm>
          <a:prstGeom prst="roundRect">
            <a:avLst>
              <a:gd name="adj" fmla="val 12308"/>
            </a:avLst>
          </a:prstGeom>
          <a:solidFill>
            <a:srgbClr val="2E7D4F"/>
          </a:solidFill>
          <a:ln/>
        </p:spPr>
        <p:txBody>
          <a:bodyPr wrap="square" lIns="0" tIns="0" rIns="0" bIns="0" rtlCol="0" anchor="ctr"/>
          <a:lstStyle/>
          <a:p>
            <a:pPr algn="ctr" indent="0" marL="0">
              <a:buNone/>
            </a:pPr>
            <a:r>
              <a:rPr lang="en-US" sz="1800" b="1" dirty="0">
                <a:solidFill>
                  <a:srgbClr val="FFFFFF"/>
                </a:solidFill>
              </a:rPr>
              <a:t>E3</a:t>
            </a:r>
            <a:endParaRPr lang="en-US" sz="1800" dirty="0"/>
          </a:p>
        </p:txBody>
      </p:sp>
      <p:sp>
        <p:nvSpPr>
          <p:cNvPr id="10" name="Text 8"/>
          <p:cNvSpPr txBox="1"/>
          <p:nvPr/>
        </p:nvSpPr>
        <p:spPr>
          <a:xfrm>
            <a:off x="1508760" y="2871216"/>
            <a:ext cx="4206240" cy="594360"/>
          </a:xfrm>
          <a:prstGeom prst="rect">
            <a:avLst/>
          </a:prstGeom>
          <a:noFill/>
          <a:ln/>
        </p:spPr>
        <p:txBody>
          <a:bodyPr wrap="square" lIns="0" tIns="0" rIns="0" bIns="0" rtlCol="0" anchor="ctr"/>
          <a:lstStyle/>
          <a:p>
            <a:pPr indent="0" marL="0">
              <a:buNone/>
            </a:pPr>
            <a:r>
              <a:rPr lang="en-US" sz="1400" dirty="0">
                <a:solidFill>
                  <a:srgbClr val="1E2B24"/>
                </a:solidFill>
              </a:rPr>
              <a:t>Referencia documentada leída en original</a:t>
            </a:r>
            <a:endParaRPr lang="en-US" sz="1400" dirty="0"/>
          </a:p>
        </p:txBody>
      </p:sp>
      <p:sp>
        <p:nvSpPr>
          <p:cNvPr id="11" name="Text 9"/>
          <p:cNvSpPr txBox="1"/>
          <p:nvPr/>
        </p:nvSpPr>
        <p:spPr>
          <a:xfrm>
            <a:off x="548640" y="3621024"/>
            <a:ext cx="822960" cy="594360"/>
          </a:xfrm>
          <a:prstGeom prst="roundRect">
            <a:avLst>
              <a:gd name="adj" fmla="val 12308"/>
            </a:avLst>
          </a:prstGeom>
          <a:solidFill>
            <a:srgbClr val="C8641E"/>
          </a:solidFill>
          <a:ln/>
        </p:spPr>
        <p:txBody>
          <a:bodyPr wrap="square" lIns="0" tIns="0" rIns="0" bIns="0" rtlCol="0" anchor="ctr"/>
          <a:lstStyle/>
          <a:p>
            <a:pPr algn="ctr" indent="0" marL="0">
              <a:buNone/>
            </a:pPr>
            <a:r>
              <a:rPr lang="en-US" sz="1800" b="1" dirty="0">
                <a:solidFill>
                  <a:srgbClr val="FFFFFF"/>
                </a:solidFill>
              </a:rPr>
              <a:t>E4</a:t>
            </a:r>
            <a:endParaRPr lang="en-US" sz="1800" dirty="0"/>
          </a:p>
        </p:txBody>
      </p:sp>
      <p:sp>
        <p:nvSpPr>
          <p:cNvPr id="12" name="Text 10"/>
          <p:cNvSpPr txBox="1"/>
          <p:nvPr/>
        </p:nvSpPr>
        <p:spPr>
          <a:xfrm>
            <a:off x="1508760" y="3621024"/>
            <a:ext cx="4206240" cy="594360"/>
          </a:xfrm>
          <a:prstGeom prst="rect">
            <a:avLst/>
          </a:prstGeom>
          <a:noFill/>
          <a:ln/>
        </p:spPr>
        <p:txBody>
          <a:bodyPr wrap="square" lIns="0" tIns="0" rIns="0" bIns="0" rtlCol="0" anchor="ctr"/>
          <a:lstStyle/>
          <a:p>
            <a:pPr indent="0" marL="0">
              <a:buNone/>
            </a:pPr>
            <a:r>
              <a:rPr lang="en-US" sz="1400" dirty="0">
                <a:solidFill>
                  <a:srgbClr val="1E2B24"/>
                </a:solidFill>
              </a:rPr>
              <a:t>Prensa, web o extracto sin verificar (PVDP)</a:t>
            </a:r>
            <a:endParaRPr lang="en-US" sz="1400" dirty="0"/>
          </a:p>
        </p:txBody>
      </p:sp>
      <p:sp>
        <p:nvSpPr>
          <p:cNvPr id="13" name="Text 11"/>
          <p:cNvSpPr txBox="1"/>
          <p:nvPr/>
        </p:nvSpPr>
        <p:spPr>
          <a:xfrm>
            <a:off x="548640" y="4370832"/>
            <a:ext cx="822960" cy="594360"/>
          </a:xfrm>
          <a:prstGeom prst="roundRect">
            <a:avLst>
              <a:gd name="adj" fmla="val 12308"/>
            </a:avLst>
          </a:prstGeom>
          <a:solidFill>
            <a:srgbClr val="C8641E"/>
          </a:solidFill>
          <a:ln/>
        </p:spPr>
        <p:txBody>
          <a:bodyPr wrap="square" lIns="0" tIns="0" rIns="0" bIns="0" rtlCol="0" anchor="ctr"/>
          <a:lstStyle/>
          <a:p>
            <a:pPr algn="ctr" indent="0" marL="0">
              <a:buNone/>
            </a:pPr>
            <a:r>
              <a:rPr lang="en-US" sz="1800" b="1" dirty="0">
                <a:solidFill>
                  <a:srgbClr val="FFFFFF"/>
                </a:solidFill>
              </a:rPr>
              <a:t>E5</a:t>
            </a:r>
            <a:endParaRPr lang="en-US" sz="1800" dirty="0"/>
          </a:p>
        </p:txBody>
      </p:sp>
      <p:sp>
        <p:nvSpPr>
          <p:cNvPr id="14" name="Text 12"/>
          <p:cNvSpPr txBox="1"/>
          <p:nvPr/>
        </p:nvSpPr>
        <p:spPr>
          <a:xfrm>
            <a:off x="1508760" y="4370832"/>
            <a:ext cx="4206240" cy="594360"/>
          </a:xfrm>
          <a:prstGeom prst="rect">
            <a:avLst/>
          </a:prstGeom>
          <a:noFill/>
          <a:ln/>
        </p:spPr>
        <p:txBody>
          <a:bodyPr wrap="square" lIns="0" tIns="0" rIns="0" bIns="0" rtlCol="0" anchor="ctr"/>
          <a:lstStyle/>
          <a:p>
            <a:pPr indent="0" marL="0">
              <a:buNone/>
            </a:pPr>
            <a:r>
              <a:rPr lang="en-US" sz="1400" dirty="0">
                <a:solidFill>
                  <a:srgbClr val="1E2B24"/>
                </a:solidFill>
              </a:rPr>
              <a:t>Supuesto de ingeniería sin precio observado</a:t>
            </a:r>
            <a:endParaRPr lang="en-US" sz="1400" dirty="0"/>
          </a:p>
        </p:txBody>
      </p:sp>
      <p:sp>
        <p:nvSpPr>
          <p:cNvPr id="15" name="Text 13"/>
          <p:cNvSpPr txBox="1"/>
          <p:nvPr/>
        </p:nvSpPr>
        <p:spPr>
          <a:xfrm>
            <a:off x="548640" y="5120640"/>
            <a:ext cx="822960" cy="594360"/>
          </a:xfrm>
          <a:prstGeom prst="roundRect">
            <a:avLst>
              <a:gd name="adj" fmla="val 12308"/>
            </a:avLst>
          </a:prstGeom>
          <a:solidFill>
            <a:srgbClr val="5F6B66"/>
          </a:solid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6" name="Text 14"/>
          <p:cNvSpPr txBox="1"/>
          <p:nvPr/>
        </p:nvSpPr>
        <p:spPr>
          <a:xfrm>
            <a:off x="1508760" y="5120640"/>
            <a:ext cx="4206240" cy="594360"/>
          </a:xfrm>
          <a:prstGeom prst="rect">
            <a:avLst/>
          </a:prstGeom>
          <a:noFill/>
          <a:ln/>
        </p:spPr>
        <p:txBody>
          <a:bodyPr wrap="square" lIns="0" tIns="0" rIns="0" bIns="0" rtlCol="0" anchor="ctr"/>
          <a:lstStyle/>
          <a:p>
            <a:pPr indent="0" marL="0">
              <a:buNone/>
            </a:pPr>
            <a:r>
              <a:rPr lang="en-US" sz="1400" dirty="0">
                <a:solidFill>
                  <a:srgbClr val="1E2B24"/>
                </a:solidFill>
              </a:rPr>
              <a:t>Sin dato: PENDIENTE, nunca cero</a:t>
            </a:r>
            <a:endParaRPr lang="en-US" sz="1400" dirty="0"/>
          </a:p>
        </p:txBody>
      </p:sp>
      <p:sp>
        <p:nvSpPr>
          <p:cNvPr id="17" name="llave umbral"/>
          <p:cNvSpPr/>
          <p:nvPr/>
        </p:nvSpPr>
        <p:spPr>
          <a:xfrm>
            <a:off x="5760720" y="1371600"/>
            <a:ext cx="274320" cy="2093976"/>
          </a:xfrm>
          <a:prstGeom prst="rightBrace">
            <a:avLst/>
          </a:prstGeom>
          <a:noFill/>
          <a:ln w="19050">
            <a:solidFill>
              <a:srgbClr val="2E7D4F"/>
            </a:solidFill>
            <a:prstDash val="solid"/>
          </a:ln>
        </p:spPr>
      </p:sp>
      <p:sp>
        <p:nvSpPr>
          <p:cNvPr id="18" name="Text 16"/>
          <p:cNvSpPr txBox="1"/>
          <p:nvPr/>
        </p:nvSpPr>
        <p:spPr>
          <a:xfrm>
            <a:off x="6126480" y="2011680"/>
            <a:ext cx="2103120" cy="822960"/>
          </a:xfrm>
          <a:prstGeom prst="rect">
            <a:avLst/>
          </a:prstGeom>
          <a:noFill/>
          <a:ln/>
        </p:spPr>
        <p:txBody>
          <a:bodyPr wrap="square" lIns="0" tIns="0" rIns="0" bIns="0" rtlCol="0" anchor="ctr"/>
          <a:lstStyle/>
          <a:p>
            <a:pPr indent="0" marL="0">
              <a:buNone/>
            </a:pPr>
            <a:r>
              <a:rPr lang="en-US" sz="1200" b="1" dirty="0">
                <a:solidFill>
                  <a:srgbClr val="2E7D4F"/>
                </a:solidFill>
              </a:rPr>
              <a:t>Cuenta como evidencia (umbral por defecto, configurable)</a:t>
            </a:r>
            <a:endParaRPr lang="en-US" sz="1200" dirty="0"/>
          </a:p>
        </p:txBody>
      </p:sp>
      <p:sp>
        <p:nvSpPr>
          <p:cNvPr id="19" name="llave no usable"/>
          <p:cNvSpPr/>
          <p:nvPr/>
        </p:nvSpPr>
        <p:spPr>
          <a:xfrm>
            <a:off x="5760720" y="3621024"/>
            <a:ext cx="274320" cy="2093976"/>
          </a:xfrm>
          <a:prstGeom prst="rightBrace">
            <a:avLst/>
          </a:prstGeom>
          <a:noFill/>
          <a:ln w="19050">
            <a:solidFill>
              <a:srgbClr val="C8641E"/>
            </a:solidFill>
            <a:prstDash val="solid"/>
          </a:ln>
        </p:spPr>
      </p:sp>
      <p:sp>
        <p:nvSpPr>
          <p:cNvPr id="20" name="Text 18"/>
          <p:cNvSpPr txBox="1"/>
          <p:nvPr/>
        </p:nvSpPr>
        <p:spPr>
          <a:xfrm>
            <a:off x="6126480" y="4251960"/>
            <a:ext cx="2103120" cy="822960"/>
          </a:xfrm>
          <a:prstGeom prst="rect">
            <a:avLst/>
          </a:prstGeom>
          <a:noFill/>
          <a:ln/>
        </p:spPr>
        <p:txBody>
          <a:bodyPr wrap="square" lIns="0" tIns="0" rIns="0" bIns="0" rtlCol="0" anchor="ctr"/>
          <a:lstStyle/>
          <a:p>
            <a:pPr indent="0" marL="0">
              <a:buNone/>
            </a:pPr>
            <a:r>
              <a:rPr lang="en-US" sz="1200" b="1" dirty="0">
                <a:solidFill>
                  <a:srgbClr val="C8641E"/>
                </a:solidFill>
              </a:rPr>
              <a:t>No se usa para publicar resultados</a:t>
            </a:r>
            <a:endParaRPr lang="en-US" sz="1200" dirty="0"/>
          </a:p>
        </p:txBody>
      </p:sp>
      <p:sp>
        <p:nvSpPr>
          <p:cNvPr id="21" name="tarjeta"/>
          <p:cNvSpPr/>
          <p:nvPr/>
        </p:nvSpPr>
        <p:spPr>
          <a:xfrm>
            <a:off x="8458200" y="1371600"/>
            <a:ext cx="3182112" cy="4343400"/>
          </a:xfrm>
          <a:prstGeom prst="roundRect">
            <a:avLst>
              <a:gd name="adj" fmla="val 2299"/>
            </a:avLst>
          </a:prstGeom>
          <a:solidFill>
            <a:srgbClr val="EAF2EC"/>
          </a:solidFill>
          <a:ln w="9525">
            <a:solidFill>
              <a:srgbClr val="EAF2EC"/>
            </a:solidFill>
            <a:prstDash val="solid"/>
          </a:ln>
        </p:spPr>
      </p:sp>
      <p:sp>
        <p:nvSpPr>
          <p:cNvPr id="22" name="Text 20"/>
          <p:cNvSpPr txBox="1"/>
          <p:nvPr/>
        </p:nvSpPr>
        <p:spPr>
          <a:xfrm>
            <a:off x="8641080" y="1463040"/>
            <a:ext cx="2834640" cy="411480"/>
          </a:xfrm>
          <a:prstGeom prst="rect">
            <a:avLst/>
          </a:prstGeom>
          <a:noFill/>
          <a:ln/>
        </p:spPr>
        <p:txBody>
          <a:bodyPr wrap="square" lIns="0" tIns="0" rIns="0" bIns="0" rtlCol="0" anchor="t"/>
          <a:lstStyle/>
          <a:p>
            <a:pPr indent="0" marL="0">
              <a:buNone/>
            </a:pPr>
            <a:r>
              <a:rPr lang="en-US" sz="1600" b="1" dirty="0">
                <a:solidFill>
                  <a:srgbClr val="1F4D3A"/>
                </a:solidFill>
              </a:rPr>
              <a:t>Reglas del motor</a:t>
            </a:r>
            <a:endParaRPr lang="en-US" sz="1600" dirty="0"/>
          </a:p>
        </p:txBody>
      </p:sp>
      <p:sp>
        <p:nvSpPr>
          <p:cNvPr id="23" name="Text 21"/>
          <p:cNvSpPr txBox="1"/>
          <p:nvPr/>
        </p:nvSpPr>
        <p:spPr>
          <a:xfrm>
            <a:off x="8641080" y="1920240"/>
            <a:ext cx="2834640" cy="37033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E2B24"/>
                </a:solidFill>
              </a:rPr>
              <a:t>Un faltante nunca se convierte en 0</a:t>
            </a:r>
            <a:endParaRPr lang="en-US" sz="1300" dirty="0"/>
          </a:p>
          <a:p>
            <a:pPr marL="203200" indent="-203200">
              <a:spcAft>
                <a:spcPts val="600"/>
              </a:spcAft>
              <a:buSzPct val="100000"/>
              <a:buChar char="•"/>
            </a:pPr>
            <a:r>
              <a:rPr lang="en-US" sz="1300" dirty="0">
                <a:solidFill>
                  <a:srgbClr val="1E2B24"/>
                </a:solidFill>
              </a:rPr>
              <a:t>Una simulación nunca pasa a la base de evidencia</a:t>
            </a:r>
            <a:endParaRPr lang="en-US" sz="1300" dirty="0"/>
          </a:p>
          <a:p>
            <a:pPr marL="203200" indent="-203200">
              <a:spcAft>
                <a:spcPts val="600"/>
              </a:spcAft>
              <a:buSzPct val="100000"/>
              <a:buChar char="•"/>
            </a:pPr>
            <a:r>
              <a:rPr lang="en-US" sz="1300" dirty="0">
                <a:solidFill>
                  <a:srgbClr val="1E2B24"/>
                </a:solidFill>
              </a:rPr>
              <a:t>Los ~90 supermercados no son demanda</a:t>
            </a:r>
            <a:endParaRPr lang="en-US" sz="1300" dirty="0"/>
          </a:p>
          <a:p>
            <a:pPr marL="203200" indent="-203200">
              <a:spcAft>
                <a:spcPts val="600"/>
              </a:spcAft>
              <a:buSzPct val="100000"/>
              <a:buChar char="•"/>
            </a:pPr>
            <a:r>
              <a:rPr lang="en-US" sz="1300" dirty="0">
                <a:solidFill>
                  <a:srgbClr val="1E2B24"/>
                </a:solidFill>
              </a:rPr>
              <a:t>USD 2 M no es un valor por defecto</a:t>
            </a:r>
            <a:endParaRPr lang="en-US" sz="1300" dirty="0"/>
          </a:p>
          <a:p>
            <a:pPr marL="203200" indent="-203200">
              <a:spcAft>
                <a:spcPts val="600"/>
              </a:spcAft>
              <a:buSzPct val="100000"/>
              <a:buChar char="•"/>
            </a:pPr>
            <a:r>
              <a:rPr lang="en-US" sz="1300" dirty="0">
                <a:solidFill>
                  <a:srgbClr val="1E2B24"/>
                </a:solidFill>
              </a:rPr>
              <a:t>Una cifra vista solo en prensa no es VERIFICADO</a:t>
            </a:r>
            <a:endParaRPr lang="en-US" sz="1300" dirty="0"/>
          </a:p>
        </p:txBody>
      </p:sp>
      <p:sp>
        <p:nvSpPr>
          <p:cNvPr id="24" name="Text 22"/>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300" b="1" dirty="0">
                <a:solidFill>
                  <a:srgbClr val="B3261E"/>
                </a:solidFill>
              </a:rPr>
              <a:t>Hoy: 0 conceptos de CAPEX y OPEX en E1–E3 · 0 precios de venta · cobertura de evidencia del motor: 0 %</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A3 · Pruebas y controles</a:t>
            </a:r>
            <a:endParaRPr lang="en-US" sz="3200" dirty="0"/>
          </a:p>
        </p:txBody>
      </p:sp>
      <p:sp>
        <p:nvSpPr>
          <p:cNvPr id="3" name="tarjeta"/>
          <p:cNvSpPr/>
          <p:nvPr/>
        </p:nvSpPr>
        <p:spPr>
          <a:xfrm>
            <a:off x="548640" y="1371600"/>
            <a:ext cx="2642616" cy="210312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4" name="Text 2"/>
          <p:cNvSpPr txBox="1"/>
          <p:nvPr/>
        </p:nvSpPr>
        <p:spPr>
          <a:xfrm>
            <a:off x="731520" y="1463040"/>
            <a:ext cx="2286000" cy="914400"/>
          </a:xfrm>
          <a:prstGeom prst="rect">
            <a:avLst/>
          </a:prstGeom>
          <a:noFill/>
          <a:ln/>
        </p:spPr>
        <p:txBody>
          <a:bodyPr wrap="square" lIns="0" tIns="0" rIns="0" bIns="0" rtlCol="0" anchor="ctr"/>
          <a:lstStyle/>
          <a:p>
            <a:pPr indent="0" marL="0">
              <a:buNone/>
            </a:pPr>
            <a:r>
              <a:rPr lang="en-US" sz="3800" b="1" dirty="0">
                <a:solidFill>
                  <a:srgbClr val="1F4D3A"/>
                </a:solidFill>
              </a:rPr>
              <a:t>70 / 70</a:t>
            </a:r>
            <a:endParaRPr lang="en-US" sz="3800" dirty="0"/>
          </a:p>
        </p:txBody>
      </p:sp>
      <p:sp>
        <p:nvSpPr>
          <p:cNvPr id="5" name="Text 3"/>
          <p:cNvSpPr txBox="1"/>
          <p:nvPr/>
        </p:nvSpPr>
        <p:spPr>
          <a:xfrm>
            <a:off x="731520" y="2423160"/>
            <a:ext cx="2286000" cy="960120"/>
          </a:xfrm>
          <a:prstGeom prst="rect">
            <a:avLst/>
          </a:prstGeom>
          <a:noFill/>
          <a:ln/>
        </p:spPr>
        <p:txBody>
          <a:bodyPr wrap="square" lIns="0" tIns="0" rIns="0" bIns="0" rtlCol="0" anchor="t"/>
          <a:lstStyle/>
          <a:p>
            <a:pPr indent="0" marL="0">
              <a:buNone/>
            </a:pPr>
            <a:r>
              <a:rPr lang="en-US" sz="1300" dirty="0">
                <a:solidFill>
                  <a:srgbClr val="1E2B24"/>
                </a:solidFill>
              </a:rPr>
              <a:t>pruebas de integración entre módulos</a:t>
            </a:r>
            <a:endParaRPr lang="en-US" sz="1300" dirty="0"/>
          </a:p>
        </p:txBody>
      </p:sp>
      <p:sp>
        <p:nvSpPr>
          <p:cNvPr id="6" name="tarjeta"/>
          <p:cNvSpPr/>
          <p:nvPr/>
        </p:nvSpPr>
        <p:spPr>
          <a:xfrm>
            <a:off x="3364992" y="1371600"/>
            <a:ext cx="2642616" cy="210312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7" name="Text 5"/>
          <p:cNvSpPr txBox="1"/>
          <p:nvPr/>
        </p:nvSpPr>
        <p:spPr>
          <a:xfrm>
            <a:off x="3547872" y="1463040"/>
            <a:ext cx="2286000" cy="914400"/>
          </a:xfrm>
          <a:prstGeom prst="rect">
            <a:avLst/>
          </a:prstGeom>
          <a:noFill/>
          <a:ln/>
        </p:spPr>
        <p:txBody>
          <a:bodyPr wrap="square" lIns="0" tIns="0" rIns="0" bIns="0" rtlCol="0" anchor="ctr"/>
          <a:lstStyle/>
          <a:p>
            <a:pPr indent="0" marL="0">
              <a:buNone/>
            </a:pPr>
            <a:r>
              <a:rPr lang="en-US" sz="3800" b="1" dirty="0">
                <a:solidFill>
                  <a:srgbClr val="1F4D3A"/>
                </a:solidFill>
              </a:rPr>
              <a:t>15 / 15</a:t>
            </a:r>
            <a:endParaRPr lang="en-US" sz="3800" dirty="0"/>
          </a:p>
        </p:txBody>
      </p:sp>
      <p:sp>
        <p:nvSpPr>
          <p:cNvPr id="8" name="Text 6"/>
          <p:cNvSpPr txBox="1"/>
          <p:nvPr/>
        </p:nvSpPr>
        <p:spPr>
          <a:xfrm>
            <a:off x="3547872" y="2423160"/>
            <a:ext cx="2286000" cy="960120"/>
          </a:xfrm>
          <a:prstGeom prst="rect">
            <a:avLst/>
          </a:prstGeom>
          <a:noFill/>
          <a:ln/>
        </p:spPr>
        <p:txBody>
          <a:bodyPr wrap="square" lIns="0" tIns="0" rIns="0" bIns="0" rtlCol="0" anchor="t"/>
          <a:lstStyle/>
          <a:p>
            <a:pPr indent="0" marL="0">
              <a:buNone/>
            </a:pPr>
            <a:r>
              <a:rPr lang="en-US" sz="1300" dirty="0">
                <a:solidFill>
                  <a:srgbClr val="1E2B24"/>
                </a:solidFill>
              </a:rPr>
              <a:t>errores introducidos a propósito que las pruebas detectaron (mutaciones)</a:t>
            </a:r>
            <a:endParaRPr lang="en-US" sz="1300" dirty="0"/>
          </a:p>
        </p:txBody>
      </p:sp>
      <p:sp>
        <p:nvSpPr>
          <p:cNvPr id="9" name="tarjeta"/>
          <p:cNvSpPr/>
          <p:nvPr/>
        </p:nvSpPr>
        <p:spPr>
          <a:xfrm>
            <a:off x="6181344" y="1371600"/>
            <a:ext cx="2642616" cy="210312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0" name="Text 8"/>
          <p:cNvSpPr txBox="1"/>
          <p:nvPr/>
        </p:nvSpPr>
        <p:spPr>
          <a:xfrm>
            <a:off x="6364224" y="1463040"/>
            <a:ext cx="2286000" cy="914400"/>
          </a:xfrm>
          <a:prstGeom prst="rect">
            <a:avLst/>
          </a:prstGeom>
          <a:noFill/>
          <a:ln/>
        </p:spPr>
        <p:txBody>
          <a:bodyPr wrap="square" lIns="0" tIns="0" rIns="0" bIns="0" rtlCol="0" anchor="ctr"/>
          <a:lstStyle/>
          <a:p>
            <a:pPr indent="0" marL="0">
              <a:buNone/>
            </a:pPr>
            <a:r>
              <a:rPr lang="en-US" sz="3800" b="1" dirty="0">
                <a:solidFill>
                  <a:srgbClr val="1F4D3A"/>
                </a:solidFill>
              </a:rPr>
              <a:t>52 + 19</a:t>
            </a:r>
            <a:endParaRPr lang="en-US" sz="3800" dirty="0"/>
          </a:p>
        </p:txBody>
      </p:sp>
      <p:sp>
        <p:nvSpPr>
          <p:cNvPr id="11" name="Text 9"/>
          <p:cNvSpPr txBox="1"/>
          <p:nvPr/>
        </p:nvSpPr>
        <p:spPr>
          <a:xfrm>
            <a:off x="6364224" y="2423160"/>
            <a:ext cx="2286000" cy="960120"/>
          </a:xfrm>
          <a:prstGeom prst="rect">
            <a:avLst/>
          </a:prstGeom>
          <a:noFill/>
          <a:ln/>
        </p:spPr>
        <p:txBody>
          <a:bodyPr wrap="square" lIns="0" tIns="0" rIns="0" bIns="0" rtlCol="0" anchor="t"/>
          <a:lstStyle/>
          <a:p>
            <a:pPr indent="0" marL="0">
              <a:buNone/>
            </a:pPr>
            <a:r>
              <a:rPr lang="en-US" sz="1300" dirty="0">
                <a:solidFill>
                  <a:srgbClr val="1E2B24"/>
                </a:solidFill>
              </a:rPr>
              <a:t>pruebas de la App V1: backend y flujos en navegador</a:t>
            </a:r>
            <a:endParaRPr lang="en-US" sz="1300" dirty="0"/>
          </a:p>
        </p:txBody>
      </p:sp>
      <p:sp>
        <p:nvSpPr>
          <p:cNvPr id="12" name="tarjeta"/>
          <p:cNvSpPr/>
          <p:nvPr/>
        </p:nvSpPr>
        <p:spPr>
          <a:xfrm>
            <a:off x="8997696" y="1371600"/>
            <a:ext cx="2642616" cy="2103120"/>
          </a:xfrm>
          <a:prstGeom prst="roundRect">
            <a:avLst>
              <a:gd name="adj" fmla="val 3478"/>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3" name="Text 11"/>
          <p:cNvSpPr txBox="1"/>
          <p:nvPr/>
        </p:nvSpPr>
        <p:spPr>
          <a:xfrm>
            <a:off x="9180576" y="1463040"/>
            <a:ext cx="2286000" cy="914400"/>
          </a:xfrm>
          <a:prstGeom prst="rect">
            <a:avLst/>
          </a:prstGeom>
          <a:noFill/>
          <a:ln/>
        </p:spPr>
        <p:txBody>
          <a:bodyPr wrap="square" lIns="0" tIns="0" rIns="0" bIns="0" rtlCol="0" anchor="ctr"/>
          <a:lstStyle/>
          <a:p>
            <a:pPr indent="0" marL="0">
              <a:buNone/>
            </a:pPr>
            <a:r>
              <a:rPr lang="en-US" sz="3800" b="1" dirty="0">
                <a:solidFill>
                  <a:srgbClr val="1F4D3A"/>
                </a:solidFill>
              </a:rPr>
              <a:t>0</a:t>
            </a:r>
            <a:endParaRPr lang="en-US" sz="3800" dirty="0"/>
          </a:p>
        </p:txBody>
      </p:sp>
      <p:sp>
        <p:nvSpPr>
          <p:cNvPr id="14" name="Text 12"/>
          <p:cNvSpPr txBox="1"/>
          <p:nvPr/>
        </p:nvSpPr>
        <p:spPr>
          <a:xfrm>
            <a:off x="9180576" y="2423160"/>
            <a:ext cx="2286000" cy="960120"/>
          </a:xfrm>
          <a:prstGeom prst="rect">
            <a:avLst/>
          </a:prstGeom>
          <a:noFill/>
          <a:ln/>
        </p:spPr>
        <p:txBody>
          <a:bodyPr wrap="square" lIns="0" tIns="0" rIns="0" bIns="0" rtlCol="0" anchor="t"/>
          <a:lstStyle/>
          <a:p>
            <a:pPr indent="0" marL="0">
              <a:buNone/>
            </a:pPr>
            <a:r>
              <a:rPr lang="en-US" sz="1300" dirty="0">
                <a:solidFill>
                  <a:srgbClr val="1E2B24"/>
                </a:solidFill>
              </a:rPr>
              <a:t>doble conteos detectados en la auditoría final</a:t>
            </a:r>
            <a:endParaRPr lang="en-US" sz="1300" dirty="0"/>
          </a:p>
        </p:txBody>
      </p:sp>
      <p:graphicFrame>
        <p:nvGraphicFramePr>
          <p:cNvPr id="15" name="Chart 0" descr=""/>
          <p:cNvGraphicFramePr/>
          <p:nvPr/>
        </p:nvGraphicFramePr>
        <p:xfrm>
          <a:off x="548640" y="3703320"/>
          <a:ext cx="6583680" cy="25603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7406640" y="3703320"/>
            <a:ext cx="4233672" cy="2560320"/>
          </a:xfrm>
          <a:prstGeom prst="roundRect">
            <a:avLst>
              <a:gd name="adj" fmla="val 2857"/>
            </a:avLst>
          </a:prstGeom>
          <a:solidFill>
            <a:srgbClr val="EAF2EC"/>
          </a:solidFill>
          <a:ln/>
        </p:spPr>
        <p:txBody>
          <a:bodyPr wrap="square" lIns="127000" tIns="127000" rIns="127000" bIns="127000" rtlCol="0" anchor="t"/>
          <a:lstStyle/>
          <a:p>
            <a:pPr indent="0" marL="0">
              <a:spcAft>
                <a:spcPts val="600"/>
              </a:spcAft>
              <a:buNone/>
            </a:pPr>
            <a:r>
              <a:rPr lang="en-US" sz="1500" b="1" dirty="0">
                <a:solidFill>
                  <a:srgbClr val="1F4D3A"/>
                </a:solidFill>
              </a:rPr>
              <a:t>Qué prueban y qué no</a:t>
            </a:r>
            <a:endParaRPr lang="en-US" sz="1300" dirty="0"/>
          </a:p>
          <a:p>
            <a:pPr indent="0" marL="0">
              <a:spcAft>
                <a:spcPts val="600"/>
              </a:spcAft>
              <a:buNone/>
            </a:pPr>
            <a:r>
              <a:rPr lang="en-US" sz="1300" dirty="0">
                <a:solidFill>
                  <a:srgbClr val="1E2B24"/>
                </a:solidFill>
              </a:rPr>
              <a:t>Prueban que las cuentas son coherentes: que no se cuenta dos veces lo mismo, que un faltante no se vuelve cero y que una simulación no se vuelve evidencia. </a:t>
            </a:r>
            <a:endParaRPr lang="en-US" sz="1300" dirty="0"/>
          </a:p>
          <a:p>
            <a:pPr indent="0" marL="0">
              <a:spcAft>
                <a:spcPts val="600"/>
              </a:spcAft>
              <a:buNone/>
            </a:pPr>
            <a:r>
              <a:rPr lang="en-US" sz="1300" b="1" dirty="0">
                <a:solidFill>
                  <a:srgbClr val="B3261E"/>
                </a:solidFill>
              </a:rPr>
              <a:t>No prueban que los datos sean correctos: eso solo lo resuelve el trabajo de campo.</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A4 · Tensiones abiertas</a:t>
            </a:r>
            <a:endParaRPr lang="en-US" sz="3200" dirty="0"/>
          </a:p>
        </p:txBody>
      </p:sp>
      <p:sp>
        <p:nvSpPr>
          <p:cNvPr id="3" name="etiqueta PENDIENTE"/>
          <p:cNvSpPr txBox="1"/>
          <p:nvPr/>
        </p:nvSpPr>
        <p:spPr>
          <a:xfrm>
            <a:off x="10486339" y="603504"/>
            <a:ext cx="1156716" cy="274320"/>
          </a:xfrm>
          <a:prstGeom prst="roundRect">
            <a:avLst>
              <a:gd name="adj" fmla="val 50000"/>
            </a:avLst>
          </a:prstGeom>
          <a:solidFill>
            <a:srgbClr val="C8641E"/>
          </a:solidFill>
          <a:ln/>
        </p:spPr>
        <p:txBody>
          <a:bodyPr wrap="square" lIns="0" tIns="0" rIns="0" bIns="0" rtlCol="0" anchor="ctr"/>
          <a:lstStyle/>
          <a:p>
            <a:pPr algn="ctr" indent="0" marL="0">
              <a:buNone/>
            </a:pPr>
            <a:r>
              <a:rPr lang="en-US" sz="1050" b="1" spc="100" kern="0" dirty="0">
                <a:solidFill>
                  <a:srgbClr val="FFFFFF"/>
                </a:solidFill>
              </a:rPr>
              <a:t>PENDIENTE</a:t>
            </a:r>
            <a:endParaRPr lang="en-US" sz="1050" dirty="0"/>
          </a:p>
        </p:txBody>
      </p:sp>
      <p:sp>
        <p:nvSpPr>
          <p:cNvPr id="4" name="tarjeta"/>
          <p:cNvSpPr/>
          <p:nvPr/>
        </p:nvSpPr>
        <p:spPr>
          <a:xfrm>
            <a:off x="548640" y="1371600"/>
            <a:ext cx="3291840" cy="4846320"/>
          </a:xfrm>
          <a:prstGeom prst="roundRect">
            <a:avLst>
              <a:gd name="adj" fmla="val 2222"/>
            </a:avLst>
          </a:prstGeom>
          <a:solidFill>
            <a:srgbClr val="1F4D3A"/>
          </a:solidFill>
          <a:ln w="9525">
            <a:solidFill>
              <a:srgbClr val="1F4D3A"/>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777240" y="1554480"/>
            <a:ext cx="2834640" cy="1188720"/>
          </a:xfrm>
          <a:prstGeom prst="rect">
            <a:avLst/>
          </a:prstGeom>
          <a:noFill/>
          <a:ln/>
        </p:spPr>
        <p:txBody>
          <a:bodyPr wrap="square" lIns="0" tIns="0" rIns="0" bIns="0" rtlCol="0" anchor="t"/>
          <a:lstStyle/>
          <a:p>
            <a:pPr indent="0" marL="0">
              <a:buNone/>
            </a:pPr>
            <a:r>
              <a:rPr lang="en-US" sz="6600" b="1" dirty="0">
                <a:solidFill>
                  <a:srgbClr val="E3A12F"/>
                </a:solidFill>
              </a:rPr>
              <a:t>76</a:t>
            </a:r>
            <a:endParaRPr lang="en-US" sz="6600" dirty="0"/>
          </a:p>
        </p:txBody>
      </p:sp>
      <p:sp>
        <p:nvSpPr>
          <p:cNvPr id="6" name="Text 4"/>
          <p:cNvSpPr txBox="1"/>
          <p:nvPr/>
        </p:nvSpPr>
        <p:spPr>
          <a:xfrm>
            <a:off x="777240" y="2743200"/>
            <a:ext cx="2834640" cy="640080"/>
          </a:xfrm>
          <a:prstGeom prst="rect">
            <a:avLst/>
          </a:prstGeom>
          <a:noFill/>
          <a:ln/>
        </p:spPr>
        <p:txBody>
          <a:bodyPr wrap="square" lIns="0" tIns="0" rIns="0" bIns="0" rtlCol="0" anchor="t"/>
          <a:lstStyle/>
          <a:p>
            <a:pPr indent="0" marL="0">
              <a:buNone/>
            </a:pPr>
            <a:r>
              <a:rPr lang="en-US" sz="1500" dirty="0">
                <a:solidFill>
                  <a:srgbClr val="FFFFFF"/>
                </a:solidFill>
              </a:rPr>
              <a:t>tensiones registradas en la auditoría final</a:t>
            </a:r>
            <a:endParaRPr lang="en-US" sz="1500" dirty="0"/>
          </a:p>
        </p:txBody>
      </p:sp>
      <p:sp>
        <p:nvSpPr>
          <p:cNvPr id="7" name="Text 5"/>
          <p:cNvSpPr txBox="1"/>
          <p:nvPr/>
        </p:nvSpPr>
        <p:spPr>
          <a:xfrm>
            <a:off x="777240" y="3566160"/>
            <a:ext cx="283464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D7E4DB"/>
                </a:solidFill>
              </a:rPr>
              <a:t>71 abiertas</a:t>
            </a:r>
            <a:endParaRPr lang="en-US" sz="1500" dirty="0"/>
          </a:p>
          <a:p>
            <a:pPr marL="203200" indent="-203200">
              <a:spcAft>
                <a:spcPts val="600"/>
              </a:spcAft>
              <a:buSzPct val="100000"/>
              <a:buChar char="•"/>
            </a:pPr>
            <a:r>
              <a:rPr lang="en-US" sz="1500" dirty="0">
                <a:solidFill>
                  <a:srgbClr val="D7E4DB"/>
                </a:solidFill>
              </a:rPr>
              <a:t>4 corregidas</a:t>
            </a:r>
            <a:endParaRPr lang="en-US" sz="1500" dirty="0"/>
          </a:p>
          <a:p>
            <a:pPr marL="203200" indent="-203200">
              <a:spcAft>
                <a:spcPts val="600"/>
              </a:spcAft>
              <a:buSzPct val="100000"/>
              <a:buChar char="•"/>
            </a:pPr>
            <a:r>
              <a:rPr lang="en-US" sz="1500" dirty="0">
                <a:solidFill>
                  <a:srgbClr val="D7E4DB"/>
                </a:solidFill>
              </a:rPr>
              <a:t>1 mitigada en el motor</a:t>
            </a:r>
            <a:endParaRPr lang="en-US" sz="1500" dirty="0"/>
          </a:p>
        </p:txBody>
      </p:sp>
      <p:sp>
        <p:nvSpPr>
          <p:cNvPr id="8" name="Text 6"/>
          <p:cNvSpPr txBox="1"/>
          <p:nvPr/>
        </p:nvSpPr>
        <p:spPr>
          <a:xfrm>
            <a:off x="777240" y="5257800"/>
            <a:ext cx="2834640" cy="731520"/>
          </a:xfrm>
          <a:prstGeom prst="rect">
            <a:avLst/>
          </a:prstGeom>
          <a:noFill/>
          <a:ln/>
        </p:spPr>
        <p:txBody>
          <a:bodyPr wrap="square" lIns="0" tIns="0" rIns="0" bIns="0" rtlCol="0" anchor="t"/>
          <a:lstStyle/>
          <a:p>
            <a:pPr indent="0" marL="0">
              <a:buNone/>
            </a:pPr>
            <a:r>
              <a:rPr lang="en-US" sz="1300" i="1" dirty="0">
                <a:solidFill>
                  <a:srgbClr val="D7E4DB"/>
                </a:solidFill>
              </a:rPr>
              <a:t>Ninguna tensión de negocio se resolvió.</a:t>
            </a:r>
            <a:endParaRPr lang="en-US" sz="1300" dirty="0"/>
          </a:p>
        </p:txBody>
      </p:sp>
      <p:sp>
        <p:nvSpPr>
          <p:cNvPr id="9" name="tarjeta"/>
          <p:cNvSpPr/>
          <p:nvPr/>
        </p:nvSpPr>
        <p:spPr>
          <a:xfrm>
            <a:off x="4160520" y="1371600"/>
            <a:ext cx="3657600" cy="1463040"/>
          </a:xfrm>
          <a:prstGeom prst="roundRect">
            <a:avLst>
              <a:gd name="adj" fmla="val 5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0" name="Text 8"/>
          <p:cNvSpPr txBox="1"/>
          <p:nvPr/>
        </p:nvSpPr>
        <p:spPr>
          <a:xfrm>
            <a:off x="4343400" y="1508760"/>
            <a:ext cx="3291840" cy="594360"/>
          </a:xfrm>
          <a:prstGeom prst="rect">
            <a:avLst/>
          </a:prstGeom>
          <a:noFill/>
          <a:ln/>
        </p:spPr>
        <p:txBody>
          <a:bodyPr wrap="square" lIns="0" tIns="0" rIns="0" bIns="0" rtlCol="0" anchor="ctr"/>
          <a:lstStyle/>
          <a:p>
            <a:pPr indent="0" marL="0">
              <a:buNone/>
            </a:pPr>
            <a:r>
              <a:rPr lang="en-US" sz="1500" b="1" dirty="0">
                <a:solidFill>
                  <a:srgbClr val="1F4D3A"/>
                </a:solidFill>
              </a:rPr>
              <a:t>Precios casi inexistentes</a:t>
            </a:r>
            <a:endParaRPr lang="en-US" sz="1500" dirty="0"/>
          </a:p>
        </p:txBody>
      </p:sp>
      <p:sp>
        <p:nvSpPr>
          <p:cNvPr id="11" name="Text 9"/>
          <p:cNvSpPr txBox="1"/>
          <p:nvPr/>
        </p:nvSpPr>
        <p:spPr>
          <a:xfrm>
            <a:off x="4343400" y="2121408"/>
            <a:ext cx="3291840" cy="594360"/>
          </a:xfrm>
          <a:prstGeom prst="rect">
            <a:avLst/>
          </a:prstGeom>
          <a:noFill/>
          <a:ln/>
        </p:spPr>
        <p:txBody>
          <a:bodyPr wrap="square" lIns="0" tIns="0" rIns="0" bIns="0" rtlCol="0" anchor="t"/>
          <a:lstStyle/>
          <a:p>
            <a:pPr indent="0" marL="0">
              <a:buNone/>
            </a:pPr>
            <a:r>
              <a:rPr lang="en-US" sz="1300" dirty="0">
                <a:solidFill>
                  <a:srgbClr val="1E2B24"/>
                </a:solidFill>
              </a:rPr>
              <a:t>en inversión y costos operativos</a:t>
            </a:r>
            <a:endParaRPr lang="en-US" sz="1300" dirty="0"/>
          </a:p>
        </p:txBody>
      </p:sp>
      <p:sp>
        <p:nvSpPr>
          <p:cNvPr id="12" name="tarjeta"/>
          <p:cNvSpPr/>
          <p:nvPr/>
        </p:nvSpPr>
        <p:spPr>
          <a:xfrm>
            <a:off x="7982712" y="1371600"/>
            <a:ext cx="3657600" cy="1463040"/>
          </a:xfrm>
          <a:prstGeom prst="roundRect">
            <a:avLst>
              <a:gd name="adj" fmla="val 5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3" name="Text 11"/>
          <p:cNvSpPr txBox="1"/>
          <p:nvPr/>
        </p:nvSpPr>
        <p:spPr>
          <a:xfrm>
            <a:off x="8165592" y="1508760"/>
            <a:ext cx="3291840" cy="594360"/>
          </a:xfrm>
          <a:prstGeom prst="rect">
            <a:avLst/>
          </a:prstGeom>
          <a:noFill/>
          <a:ln/>
        </p:spPr>
        <p:txBody>
          <a:bodyPr wrap="square" lIns="0" tIns="0" rIns="0" bIns="0" rtlCol="0" anchor="ctr"/>
          <a:lstStyle/>
          <a:p>
            <a:pPr indent="0" marL="0">
              <a:buNone/>
            </a:pPr>
            <a:r>
              <a:rPr lang="en-US" sz="1500" b="1" dirty="0">
                <a:solidFill>
                  <a:srgbClr val="1F4D3A"/>
                </a:solidFill>
              </a:rPr>
              <a:t>Rendimientos del pollo sin ensayo</a:t>
            </a:r>
            <a:endParaRPr lang="en-US" sz="1500" dirty="0"/>
          </a:p>
        </p:txBody>
      </p:sp>
      <p:sp>
        <p:nvSpPr>
          <p:cNvPr id="14" name="Text 12"/>
          <p:cNvSpPr txBox="1"/>
          <p:nvPr/>
        </p:nvSpPr>
        <p:spPr>
          <a:xfrm>
            <a:off x="8165592" y="2121408"/>
            <a:ext cx="3291840" cy="594360"/>
          </a:xfrm>
          <a:prstGeom prst="rect">
            <a:avLst/>
          </a:prstGeom>
          <a:noFill/>
          <a:ln/>
        </p:spPr>
        <p:txBody>
          <a:bodyPr wrap="square" lIns="0" tIns="0" rIns="0" bIns="0" rtlCol="0" anchor="t"/>
          <a:lstStyle/>
          <a:p>
            <a:pPr indent="0" marL="0">
              <a:buNone/>
            </a:pPr>
            <a:r>
              <a:rPr lang="en-US" sz="1300" dirty="0">
                <a:solidFill>
                  <a:srgbClr val="1E2B24"/>
                </a:solidFill>
              </a:rPr>
              <a:t>el balance de masa usa referencias; falta medir en planta</a:t>
            </a:r>
            <a:endParaRPr lang="en-US" sz="1300" dirty="0"/>
          </a:p>
        </p:txBody>
      </p:sp>
      <p:sp>
        <p:nvSpPr>
          <p:cNvPr id="15" name="tarjeta"/>
          <p:cNvSpPr/>
          <p:nvPr/>
        </p:nvSpPr>
        <p:spPr>
          <a:xfrm>
            <a:off x="4160520" y="3017520"/>
            <a:ext cx="3657600" cy="1463040"/>
          </a:xfrm>
          <a:prstGeom prst="roundRect">
            <a:avLst>
              <a:gd name="adj" fmla="val 5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6" name="Text 14"/>
          <p:cNvSpPr txBox="1"/>
          <p:nvPr/>
        </p:nvSpPr>
        <p:spPr>
          <a:xfrm>
            <a:off x="4343400" y="3154680"/>
            <a:ext cx="3291840" cy="594360"/>
          </a:xfrm>
          <a:prstGeom prst="rect">
            <a:avLst/>
          </a:prstGeom>
          <a:noFill/>
          <a:ln/>
        </p:spPr>
        <p:txBody>
          <a:bodyPr wrap="square" lIns="0" tIns="0" rIns="0" bIns="0" rtlCol="0" anchor="ctr"/>
          <a:lstStyle/>
          <a:p>
            <a:pPr indent="0" marL="0">
              <a:buNone/>
            </a:pPr>
            <a:r>
              <a:rPr lang="en-US" sz="1500" b="1" dirty="0">
                <a:solidFill>
                  <a:srgbClr val="1F4D3A"/>
                </a:solidFill>
              </a:rPr>
              <a:t>Pico de fondos vs CAPEX vs USD 2 M</a:t>
            </a:r>
            <a:endParaRPr lang="en-US" sz="1500" dirty="0"/>
          </a:p>
        </p:txBody>
      </p:sp>
      <p:sp>
        <p:nvSpPr>
          <p:cNvPr id="17" name="Text 15"/>
          <p:cNvSpPr txBox="1"/>
          <p:nvPr/>
        </p:nvSpPr>
        <p:spPr>
          <a:xfrm>
            <a:off x="4343400" y="3767328"/>
            <a:ext cx="3291840" cy="594360"/>
          </a:xfrm>
          <a:prstGeom prst="rect">
            <a:avLst/>
          </a:prstGeom>
          <a:noFill/>
          <a:ln/>
        </p:spPr>
        <p:txBody>
          <a:bodyPr wrap="square" lIns="0" tIns="0" rIns="0" bIns="0" rtlCol="0" anchor="t"/>
          <a:lstStyle/>
          <a:p>
            <a:pPr indent="0" marL="0">
              <a:buNone/>
            </a:pPr>
            <a:r>
              <a:rPr lang="en-US" sz="1300" dirty="0">
                <a:solidFill>
                  <a:srgbClr val="1E2B24"/>
                </a:solidFill>
              </a:rPr>
              <a:t>no se pueden comparar hasta tener costos y cronograma</a:t>
            </a:r>
            <a:endParaRPr lang="en-US" sz="1300" dirty="0"/>
          </a:p>
        </p:txBody>
      </p:sp>
      <p:sp>
        <p:nvSpPr>
          <p:cNvPr id="18" name="tarjeta"/>
          <p:cNvSpPr/>
          <p:nvPr/>
        </p:nvSpPr>
        <p:spPr>
          <a:xfrm>
            <a:off x="7982712" y="3017520"/>
            <a:ext cx="3657600" cy="1463040"/>
          </a:xfrm>
          <a:prstGeom prst="roundRect">
            <a:avLst>
              <a:gd name="adj" fmla="val 5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19" name="Text 17"/>
          <p:cNvSpPr txBox="1"/>
          <p:nvPr/>
        </p:nvSpPr>
        <p:spPr>
          <a:xfrm>
            <a:off x="8165592" y="3154680"/>
            <a:ext cx="3291840" cy="594360"/>
          </a:xfrm>
          <a:prstGeom prst="rect">
            <a:avLst/>
          </a:prstGeom>
          <a:noFill/>
          <a:ln/>
        </p:spPr>
        <p:txBody>
          <a:bodyPr wrap="square" lIns="0" tIns="0" rIns="0" bIns="0" rtlCol="0" anchor="ctr"/>
          <a:lstStyle/>
          <a:p>
            <a:pPr indent="0" marL="0">
              <a:buNone/>
            </a:pPr>
            <a:r>
              <a:rPr lang="en-US" sz="1500" b="1" dirty="0">
                <a:solidFill>
                  <a:srgbClr val="1F4D3A"/>
                </a:solidFill>
              </a:rPr>
              <a:t>Granjas, incubadora y planta de alimento</a:t>
            </a:r>
            <a:endParaRPr lang="en-US" sz="1500" dirty="0"/>
          </a:p>
        </p:txBody>
      </p:sp>
      <p:sp>
        <p:nvSpPr>
          <p:cNvPr id="20" name="Text 18"/>
          <p:cNvSpPr txBox="1"/>
          <p:nvPr/>
        </p:nvSpPr>
        <p:spPr>
          <a:xfrm>
            <a:off x="8165592" y="3767328"/>
            <a:ext cx="3291840" cy="594360"/>
          </a:xfrm>
          <a:prstGeom prst="rect">
            <a:avLst/>
          </a:prstGeom>
          <a:noFill/>
          <a:ln/>
        </p:spPr>
        <p:txBody>
          <a:bodyPr wrap="square" lIns="0" tIns="0" rIns="0" bIns="0" rtlCol="0" anchor="t"/>
          <a:lstStyle/>
          <a:p>
            <a:pPr indent="0" marL="0">
              <a:buNone/>
            </a:pPr>
            <a:r>
              <a:rPr lang="en-US" sz="1300" dirty="0">
                <a:solidFill>
                  <a:srgbClr val="1E2B24"/>
                </a:solidFill>
              </a:rPr>
              <a:t>sin dotación ni consumos de agua y energía dimensionados</a:t>
            </a:r>
            <a:endParaRPr lang="en-US" sz="1300" dirty="0"/>
          </a:p>
        </p:txBody>
      </p:sp>
      <p:sp>
        <p:nvSpPr>
          <p:cNvPr id="21" name="tarjeta"/>
          <p:cNvSpPr/>
          <p:nvPr/>
        </p:nvSpPr>
        <p:spPr>
          <a:xfrm>
            <a:off x="4160520" y="4663440"/>
            <a:ext cx="3657600" cy="1463040"/>
          </a:xfrm>
          <a:prstGeom prst="roundRect">
            <a:avLst>
              <a:gd name="adj" fmla="val 5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2" name="Text 20"/>
          <p:cNvSpPr txBox="1"/>
          <p:nvPr/>
        </p:nvSpPr>
        <p:spPr>
          <a:xfrm>
            <a:off x="4343400" y="4800600"/>
            <a:ext cx="3291840" cy="594360"/>
          </a:xfrm>
          <a:prstGeom prst="rect">
            <a:avLst/>
          </a:prstGeom>
          <a:noFill/>
          <a:ln/>
        </p:spPr>
        <p:txBody>
          <a:bodyPr wrap="square" lIns="0" tIns="0" rIns="0" bIns="0" rtlCol="0" anchor="ctr"/>
          <a:lstStyle/>
          <a:p>
            <a:pPr indent="0" marL="0">
              <a:buNone/>
            </a:pPr>
            <a:r>
              <a:rPr lang="en-US" sz="1500" b="1" dirty="0">
                <a:solidFill>
                  <a:srgbClr val="1F4D3A"/>
                </a:solidFill>
              </a:rPr>
              <a:t>Regla fiscal de ingresos brutos</a:t>
            </a:r>
            <a:endParaRPr lang="en-US" sz="1500" dirty="0"/>
          </a:p>
        </p:txBody>
      </p:sp>
      <p:sp>
        <p:nvSpPr>
          <p:cNvPr id="23" name="Text 21"/>
          <p:cNvSpPr txBox="1"/>
          <p:nvPr/>
        </p:nvSpPr>
        <p:spPr>
          <a:xfrm>
            <a:off x="4343400" y="5413248"/>
            <a:ext cx="3291840" cy="594360"/>
          </a:xfrm>
          <a:prstGeom prst="rect">
            <a:avLst/>
          </a:prstGeom>
          <a:noFill/>
          <a:ln/>
        </p:spPr>
        <p:txBody>
          <a:bodyPr wrap="square" lIns="0" tIns="0" rIns="0" bIns="0" rtlCol="0" anchor="t"/>
          <a:lstStyle/>
          <a:p>
            <a:pPr indent="0" marL="0">
              <a:buNone/>
            </a:pPr>
            <a:r>
              <a:rPr lang="en-US" sz="1300" dirty="0">
                <a:solidFill>
                  <a:srgbClr val="1E2B24"/>
                </a:solidFill>
              </a:rPr>
              <a:t>cómo tributan las exportaciones: pendiente de un contador</a:t>
            </a:r>
            <a:endParaRPr lang="en-US" sz="1300" dirty="0"/>
          </a:p>
        </p:txBody>
      </p:sp>
      <p:sp>
        <p:nvSpPr>
          <p:cNvPr id="24" name="tarjeta"/>
          <p:cNvSpPr/>
          <p:nvPr/>
        </p:nvSpPr>
        <p:spPr>
          <a:xfrm>
            <a:off x="7982712" y="4663440"/>
            <a:ext cx="3657600" cy="1463040"/>
          </a:xfrm>
          <a:prstGeom prst="roundRect">
            <a:avLst>
              <a:gd name="adj" fmla="val 5000"/>
            </a:avLst>
          </a:prstGeom>
          <a:solidFill>
            <a:srgbClr val="FFFFFF"/>
          </a:solidFill>
          <a:ln w="9525">
            <a:solidFill>
              <a:srgbClr val="C9D6CE"/>
            </a:solidFill>
            <a:prstDash val="solid"/>
          </a:ln>
          <a:effectLst>
            <a:outerShdw sx="100000" sy="100000" kx="0" ky="0" algn="bl" rotWithShape="0" blurRad="76200" dist="19050" dir="5400000">
              <a:srgbClr val="000000">
                <a:alpha val="12000"/>
              </a:srgbClr>
            </a:outerShdw>
          </a:effectLst>
        </p:spPr>
      </p:sp>
      <p:sp>
        <p:nvSpPr>
          <p:cNvPr id="25" name="Text 23"/>
          <p:cNvSpPr txBox="1"/>
          <p:nvPr/>
        </p:nvSpPr>
        <p:spPr>
          <a:xfrm>
            <a:off x="8165592" y="4800600"/>
            <a:ext cx="3291840" cy="594360"/>
          </a:xfrm>
          <a:prstGeom prst="rect">
            <a:avLst/>
          </a:prstGeom>
          <a:noFill/>
          <a:ln/>
        </p:spPr>
        <p:txBody>
          <a:bodyPr wrap="square" lIns="0" tIns="0" rIns="0" bIns="0" rtlCol="0" anchor="ctr"/>
          <a:lstStyle/>
          <a:p>
            <a:pPr indent="0" marL="0">
              <a:buNone/>
            </a:pPr>
            <a:r>
              <a:rPr lang="en-US" sz="1500" b="1" dirty="0">
                <a:solidFill>
                  <a:srgbClr val="1F4D3A"/>
                </a:solidFill>
              </a:rPr>
              <a:t>Comparar alternativas</a:t>
            </a:r>
            <a:endParaRPr lang="en-US" sz="1500" dirty="0"/>
          </a:p>
        </p:txBody>
      </p:sp>
      <p:sp>
        <p:nvSpPr>
          <p:cNvPr id="26" name="Text 24"/>
          <p:cNvSpPr txBox="1"/>
          <p:nvPr/>
        </p:nvSpPr>
        <p:spPr>
          <a:xfrm>
            <a:off x="8165592" y="5413248"/>
            <a:ext cx="3291840" cy="594360"/>
          </a:xfrm>
          <a:prstGeom prst="rect">
            <a:avLst/>
          </a:prstGeom>
          <a:noFill/>
          <a:ln/>
        </p:spPr>
        <p:txBody>
          <a:bodyPr wrap="square" lIns="0" tIns="0" rIns="0" bIns="0" rtlCol="0" anchor="t"/>
          <a:lstStyle/>
          <a:p>
            <a:pPr indent="0" marL="0">
              <a:buNone/>
            </a:pPr>
            <a:r>
              <a:rPr lang="en-US" sz="1300" dirty="0">
                <a:solidFill>
                  <a:srgbClr val="1E2B24"/>
                </a:solidFill>
              </a:rPr>
              <a:t>hoy imposible: ninguna es costeable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778240" cy="777240"/>
          </a:xfrm>
          <a:prstGeom prst="rect">
            <a:avLst/>
          </a:prstGeom>
          <a:noFill/>
          <a:ln/>
        </p:spPr>
        <p:txBody>
          <a:bodyPr wrap="square" lIns="0" tIns="0" rIns="0" bIns="0" rtlCol="0" anchor="ctr"/>
          <a:lstStyle/>
          <a:p>
            <a:pPr algn="l" indent="0" marL="0">
              <a:buNone/>
            </a:pPr>
            <a:r>
              <a:rPr lang="en-US" sz="3200" b="1" dirty="0">
                <a:solidFill>
                  <a:srgbClr val="1F4D3A"/>
                </a:solidFill>
              </a:rPr>
              <a:t>A5 · Glosario</a:t>
            </a:r>
            <a:endParaRPr lang="en-US" sz="3200" dirty="0"/>
          </a:p>
        </p:txBody>
      </p:sp>
      <p:sp>
        <p:nvSpPr>
          <p:cNvPr id="3" name="Text 1"/>
          <p:cNvSpPr txBox="1"/>
          <p:nvPr/>
        </p:nvSpPr>
        <p:spPr>
          <a:xfrm>
            <a:off x="548640" y="1325880"/>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Façon</a:t>
            </a:r>
            <a:endParaRPr lang="en-US" sz="1400" dirty="0"/>
          </a:p>
        </p:txBody>
      </p:sp>
      <p:sp>
        <p:nvSpPr>
          <p:cNvPr id="4" name="Text 2"/>
          <p:cNvSpPr txBox="1"/>
          <p:nvPr/>
        </p:nvSpPr>
        <p:spPr>
          <a:xfrm>
            <a:off x="2468880" y="1325880"/>
            <a:ext cx="3520440" cy="603504"/>
          </a:xfrm>
          <a:prstGeom prst="rect">
            <a:avLst/>
          </a:prstGeom>
          <a:noFill/>
          <a:ln/>
        </p:spPr>
        <p:txBody>
          <a:bodyPr wrap="square" lIns="0" tIns="0" rIns="0" bIns="0" rtlCol="0" anchor="ctr"/>
          <a:lstStyle/>
          <a:p>
            <a:pPr indent="0" marL="0">
              <a:buNone/>
            </a:pPr>
            <a:r>
              <a:rPr lang="en-US" sz="1250" dirty="0">
                <a:solidFill>
                  <a:srgbClr val="1E2B24"/>
                </a:solidFill>
              </a:rPr>
              <a:t>Un tercero hace el trabajo (faena o alimento) por cuenta nuestra, a cambio de una tarifa.</a:t>
            </a:r>
            <a:endParaRPr lang="en-US" sz="1250" dirty="0"/>
          </a:p>
        </p:txBody>
      </p:sp>
      <p:sp>
        <p:nvSpPr>
          <p:cNvPr id="5" name="Text 3"/>
          <p:cNvSpPr txBox="1"/>
          <p:nvPr/>
        </p:nvSpPr>
        <p:spPr>
          <a:xfrm>
            <a:off x="548640" y="2029968"/>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Asset-light</a:t>
            </a:r>
            <a:endParaRPr lang="en-US" sz="1400" dirty="0"/>
          </a:p>
        </p:txBody>
      </p:sp>
      <p:sp>
        <p:nvSpPr>
          <p:cNvPr id="6" name="Text 4"/>
          <p:cNvSpPr txBox="1"/>
          <p:nvPr/>
        </p:nvSpPr>
        <p:spPr>
          <a:xfrm>
            <a:off x="2468880" y="2029968"/>
            <a:ext cx="3520440" cy="603504"/>
          </a:xfrm>
          <a:prstGeom prst="rect">
            <a:avLst/>
          </a:prstGeom>
          <a:noFill/>
          <a:ln/>
        </p:spPr>
        <p:txBody>
          <a:bodyPr wrap="square" lIns="0" tIns="0" rIns="0" bIns="0" rtlCol="0" anchor="ctr"/>
          <a:lstStyle/>
          <a:p>
            <a:pPr indent="0" marL="0">
              <a:buNone/>
            </a:pPr>
            <a:r>
              <a:rPr lang="en-US" sz="1250" dirty="0">
                <a:solidFill>
                  <a:srgbClr val="1E2B24"/>
                </a:solidFill>
              </a:rPr>
              <a:t>Arrancar con pocos activos propios, apoyándose en terceros (C0).</a:t>
            </a:r>
            <a:endParaRPr lang="en-US" sz="1250" dirty="0"/>
          </a:p>
        </p:txBody>
      </p:sp>
      <p:sp>
        <p:nvSpPr>
          <p:cNvPr id="7" name="Text 5"/>
          <p:cNvSpPr txBox="1"/>
          <p:nvPr/>
        </p:nvSpPr>
        <p:spPr>
          <a:xfrm>
            <a:off x="548640" y="2734056"/>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CAPEX</a:t>
            </a:r>
            <a:endParaRPr lang="en-US" sz="1400" dirty="0"/>
          </a:p>
        </p:txBody>
      </p:sp>
      <p:sp>
        <p:nvSpPr>
          <p:cNvPr id="8" name="Text 6"/>
          <p:cNvSpPr txBox="1"/>
          <p:nvPr/>
        </p:nvSpPr>
        <p:spPr>
          <a:xfrm>
            <a:off x="2468880" y="2734056"/>
            <a:ext cx="3520440" cy="603504"/>
          </a:xfrm>
          <a:prstGeom prst="rect">
            <a:avLst/>
          </a:prstGeom>
          <a:noFill/>
          <a:ln/>
        </p:spPr>
        <p:txBody>
          <a:bodyPr wrap="square" lIns="0" tIns="0" rIns="0" bIns="0" rtlCol="0" anchor="ctr"/>
          <a:lstStyle/>
          <a:p>
            <a:pPr indent="0" marL="0">
              <a:buNone/>
            </a:pPr>
            <a:r>
              <a:rPr lang="en-US" sz="1250" dirty="0">
                <a:solidFill>
                  <a:srgbClr val="1E2B24"/>
                </a:solidFill>
              </a:rPr>
              <a:t>Inversión: lo que se compra o construye antes de operar.</a:t>
            </a:r>
            <a:endParaRPr lang="en-US" sz="1250" dirty="0"/>
          </a:p>
        </p:txBody>
      </p:sp>
      <p:sp>
        <p:nvSpPr>
          <p:cNvPr id="9" name="Text 7"/>
          <p:cNvSpPr txBox="1"/>
          <p:nvPr/>
        </p:nvSpPr>
        <p:spPr>
          <a:xfrm>
            <a:off x="548640" y="3438144"/>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OPEX</a:t>
            </a:r>
            <a:endParaRPr lang="en-US" sz="1400" dirty="0"/>
          </a:p>
        </p:txBody>
      </p:sp>
      <p:sp>
        <p:nvSpPr>
          <p:cNvPr id="10" name="Text 8"/>
          <p:cNvSpPr txBox="1"/>
          <p:nvPr/>
        </p:nvSpPr>
        <p:spPr>
          <a:xfrm>
            <a:off x="2468880" y="3438144"/>
            <a:ext cx="3520440" cy="603504"/>
          </a:xfrm>
          <a:prstGeom prst="rect">
            <a:avLst/>
          </a:prstGeom>
          <a:noFill/>
          <a:ln/>
        </p:spPr>
        <p:txBody>
          <a:bodyPr wrap="square" lIns="0" tIns="0" rIns="0" bIns="0" rtlCol="0" anchor="ctr"/>
          <a:lstStyle/>
          <a:p>
            <a:pPr indent="0" marL="0">
              <a:buNone/>
            </a:pPr>
            <a:r>
              <a:rPr lang="en-US" sz="1250" dirty="0">
                <a:solidFill>
                  <a:srgbClr val="1E2B24"/>
                </a:solidFill>
              </a:rPr>
              <a:t>Costos de operar: alimento, pollitos, sueldos, energía, fletes.</a:t>
            </a:r>
            <a:endParaRPr lang="en-US" sz="1250" dirty="0"/>
          </a:p>
        </p:txBody>
      </p:sp>
      <p:sp>
        <p:nvSpPr>
          <p:cNvPr id="11" name="Text 9"/>
          <p:cNvSpPr txBox="1"/>
          <p:nvPr/>
        </p:nvSpPr>
        <p:spPr>
          <a:xfrm>
            <a:off x="548640" y="4142232"/>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Capital de trabajo</a:t>
            </a:r>
            <a:endParaRPr lang="en-US" sz="1400" dirty="0"/>
          </a:p>
        </p:txBody>
      </p:sp>
      <p:sp>
        <p:nvSpPr>
          <p:cNvPr id="12" name="Text 10"/>
          <p:cNvSpPr txBox="1"/>
          <p:nvPr/>
        </p:nvSpPr>
        <p:spPr>
          <a:xfrm>
            <a:off x="2468880" y="4142232"/>
            <a:ext cx="3520440" cy="603504"/>
          </a:xfrm>
          <a:prstGeom prst="rect">
            <a:avLst/>
          </a:prstGeom>
          <a:noFill/>
          <a:ln/>
        </p:spPr>
        <p:txBody>
          <a:bodyPr wrap="square" lIns="0" tIns="0" rIns="0" bIns="0" rtlCol="0" anchor="ctr"/>
          <a:lstStyle/>
          <a:p>
            <a:pPr indent="0" marL="0">
              <a:buNone/>
            </a:pPr>
            <a:r>
              <a:rPr lang="en-US" sz="1250" dirty="0">
                <a:solidFill>
                  <a:srgbClr val="1E2B24"/>
                </a:solidFill>
              </a:rPr>
              <a:t>Plata inmovilizada en stock y en ventas todavía no cobradas.</a:t>
            </a:r>
            <a:endParaRPr lang="en-US" sz="1250" dirty="0"/>
          </a:p>
        </p:txBody>
      </p:sp>
      <p:sp>
        <p:nvSpPr>
          <p:cNvPr id="13" name="Text 11"/>
          <p:cNvSpPr txBox="1"/>
          <p:nvPr/>
        </p:nvSpPr>
        <p:spPr>
          <a:xfrm>
            <a:off x="548640" y="4846320"/>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Ramp-up</a:t>
            </a:r>
            <a:endParaRPr lang="en-US" sz="1400" dirty="0"/>
          </a:p>
        </p:txBody>
      </p:sp>
      <p:sp>
        <p:nvSpPr>
          <p:cNvPr id="14" name="Text 12"/>
          <p:cNvSpPr txBox="1"/>
          <p:nvPr/>
        </p:nvSpPr>
        <p:spPr>
          <a:xfrm>
            <a:off x="2468880" y="4846320"/>
            <a:ext cx="3520440" cy="603504"/>
          </a:xfrm>
          <a:prstGeom prst="rect">
            <a:avLst/>
          </a:prstGeom>
          <a:noFill/>
          <a:ln/>
        </p:spPr>
        <p:txBody>
          <a:bodyPr wrap="square" lIns="0" tIns="0" rIns="0" bIns="0" rtlCol="0" anchor="ctr"/>
          <a:lstStyle/>
          <a:p>
            <a:pPr indent="0" marL="0">
              <a:buNone/>
            </a:pPr>
            <a:r>
              <a:rPr lang="en-US" sz="1250" dirty="0">
                <a:solidFill>
                  <a:srgbClr val="1E2B24"/>
                </a:solidFill>
              </a:rPr>
              <a:t>Arranque: meses en que la producción sube hasta la operación normal.</a:t>
            </a:r>
            <a:endParaRPr lang="en-US" sz="1250" dirty="0"/>
          </a:p>
        </p:txBody>
      </p:sp>
      <p:sp>
        <p:nvSpPr>
          <p:cNvPr id="15" name="Text 13"/>
          <p:cNvSpPr txBox="1"/>
          <p:nvPr/>
        </p:nvSpPr>
        <p:spPr>
          <a:xfrm>
            <a:off x="548640" y="5550408"/>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EBITDA</a:t>
            </a:r>
            <a:endParaRPr lang="en-US" sz="1400" dirty="0"/>
          </a:p>
        </p:txBody>
      </p:sp>
      <p:sp>
        <p:nvSpPr>
          <p:cNvPr id="16" name="Text 14"/>
          <p:cNvSpPr txBox="1"/>
          <p:nvPr/>
        </p:nvSpPr>
        <p:spPr>
          <a:xfrm>
            <a:off x="2468880" y="5550408"/>
            <a:ext cx="3520440" cy="603504"/>
          </a:xfrm>
          <a:prstGeom prst="rect">
            <a:avLst/>
          </a:prstGeom>
          <a:noFill/>
          <a:ln/>
        </p:spPr>
        <p:txBody>
          <a:bodyPr wrap="square" lIns="0" tIns="0" rIns="0" bIns="0" rtlCol="0" anchor="ctr"/>
          <a:lstStyle/>
          <a:p>
            <a:pPr indent="0" marL="0">
              <a:buNone/>
            </a:pPr>
            <a:r>
              <a:rPr lang="en-US" sz="1250" dirty="0">
                <a:solidFill>
                  <a:srgbClr val="1E2B24"/>
                </a:solidFill>
              </a:rPr>
              <a:t>Resultado de la operación antes de intereses, impuestos y amortizaciones.</a:t>
            </a:r>
            <a:endParaRPr lang="en-US" sz="1250" dirty="0"/>
          </a:p>
        </p:txBody>
      </p:sp>
      <p:sp>
        <p:nvSpPr>
          <p:cNvPr id="17" name="Text 15"/>
          <p:cNvSpPr txBox="1"/>
          <p:nvPr/>
        </p:nvSpPr>
        <p:spPr>
          <a:xfrm>
            <a:off x="6190488" y="1325880"/>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VAN</a:t>
            </a:r>
            <a:endParaRPr lang="en-US" sz="1400" dirty="0"/>
          </a:p>
        </p:txBody>
      </p:sp>
      <p:sp>
        <p:nvSpPr>
          <p:cNvPr id="18" name="Text 16"/>
          <p:cNvSpPr txBox="1"/>
          <p:nvPr/>
        </p:nvSpPr>
        <p:spPr>
          <a:xfrm>
            <a:off x="8110728" y="1325880"/>
            <a:ext cx="3520440" cy="603504"/>
          </a:xfrm>
          <a:prstGeom prst="rect">
            <a:avLst/>
          </a:prstGeom>
          <a:noFill/>
          <a:ln/>
        </p:spPr>
        <p:txBody>
          <a:bodyPr wrap="square" lIns="0" tIns="0" rIns="0" bIns="0" rtlCol="0" anchor="ctr"/>
          <a:lstStyle/>
          <a:p>
            <a:pPr indent="0" marL="0">
              <a:buNone/>
            </a:pPr>
            <a:r>
              <a:rPr lang="en-US" sz="1250" dirty="0">
                <a:solidFill>
                  <a:srgbClr val="1E2B24"/>
                </a:solidFill>
              </a:rPr>
              <a:t>Valor que crea el proyecto por encima del rendimiento exigido.</a:t>
            </a:r>
            <a:endParaRPr lang="en-US" sz="1250" dirty="0"/>
          </a:p>
        </p:txBody>
      </p:sp>
      <p:sp>
        <p:nvSpPr>
          <p:cNvPr id="19" name="Text 17"/>
          <p:cNvSpPr txBox="1"/>
          <p:nvPr/>
        </p:nvSpPr>
        <p:spPr>
          <a:xfrm>
            <a:off x="6190488" y="2029968"/>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TIR</a:t>
            </a:r>
            <a:endParaRPr lang="en-US" sz="1400" dirty="0"/>
          </a:p>
        </p:txBody>
      </p:sp>
      <p:sp>
        <p:nvSpPr>
          <p:cNvPr id="20" name="Text 18"/>
          <p:cNvSpPr txBox="1"/>
          <p:nvPr/>
        </p:nvSpPr>
        <p:spPr>
          <a:xfrm>
            <a:off x="8110728" y="2029968"/>
            <a:ext cx="3520440" cy="603504"/>
          </a:xfrm>
          <a:prstGeom prst="rect">
            <a:avLst/>
          </a:prstGeom>
          <a:noFill/>
          <a:ln/>
        </p:spPr>
        <p:txBody>
          <a:bodyPr wrap="square" lIns="0" tIns="0" rIns="0" bIns="0" rtlCol="0" anchor="ctr"/>
          <a:lstStyle/>
          <a:p>
            <a:pPr indent="0" marL="0">
              <a:buNone/>
            </a:pPr>
            <a:r>
              <a:rPr lang="en-US" sz="1250" dirty="0">
                <a:solidFill>
                  <a:srgbClr val="1E2B24"/>
                </a:solidFill>
              </a:rPr>
              <a:t>Rentabilidad implícita del proyecto.</a:t>
            </a:r>
            <a:endParaRPr lang="en-US" sz="1250" dirty="0"/>
          </a:p>
        </p:txBody>
      </p:sp>
      <p:sp>
        <p:nvSpPr>
          <p:cNvPr id="21" name="Text 19"/>
          <p:cNvSpPr txBox="1"/>
          <p:nvPr/>
        </p:nvSpPr>
        <p:spPr>
          <a:xfrm>
            <a:off x="6190488" y="2734056"/>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Payback</a:t>
            </a:r>
            <a:endParaRPr lang="en-US" sz="1400" dirty="0"/>
          </a:p>
        </p:txBody>
      </p:sp>
      <p:sp>
        <p:nvSpPr>
          <p:cNvPr id="22" name="Text 20"/>
          <p:cNvSpPr txBox="1"/>
          <p:nvPr/>
        </p:nvSpPr>
        <p:spPr>
          <a:xfrm>
            <a:off x="8110728" y="2734056"/>
            <a:ext cx="3520440" cy="603504"/>
          </a:xfrm>
          <a:prstGeom prst="rect">
            <a:avLst/>
          </a:prstGeom>
          <a:noFill/>
          <a:ln/>
        </p:spPr>
        <p:txBody>
          <a:bodyPr wrap="square" lIns="0" tIns="0" rIns="0" bIns="0" rtlCol="0" anchor="ctr"/>
          <a:lstStyle/>
          <a:p>
            <a:pPr indent="0" marL="0">
              <a:buNone/>
            </a:pPr>
            <a:r>
              <a:rPr lang="en-US" sz="1250" dirty="0">
                <a:solidFill>
                  <a:srgbClr val="1E2B24"/>
                </a:solidFill>
              </a:rPr>
              <a:t>Tiempo para recuperar la inversión.</a:t>
            </a:r>
            <a:endParaRPr lang="en-US" sz="1250" dirty="0"/>
          </a:p>
        </p:txBody>
      </p:sp>
      <p:sp>
        <p:nvSpPr>
          <p:cNvPr id="23" name="Text 21"/>
          <p:cNvSpPr txBox="1"/>
          <p:nvPr/>
        </p:nvSpPr>
        <p:spPr>
          <a:xfrm>
            <a:off x="6190488" y="3438144"/>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DSCR</a:t>
            </a:r>
            <a:endParaRPr lang="en-US" sz="1400" dirty="0"/>
          </a:p>
        </p:txBody>
      </p:sp>
      <p:sp>
        <p:nvSpPr>
          <p:cNvPr id="24" name="Text 22"/>
          <p:cNvSpPr txBox="1"/>
          <p:nvPr/>
        </p:nvSpPr>
        <p:spPr>
          <a:xfrm>
            <a:off x="8110728" y="3438144"/>
            <a:ext cx="3520440" cy="603504"/>
          </a:xfrm>
          <a:prstGeom prst="rect">
            <a:avLst/>
          </a:prstGeom>
          <a:noFill/>
          <a:ln/>
        </p:spPr>
        <p:txBody>
          <a:bodyPr wrap="square" lIns="0" tIns="0" rIns="0" bIns="0" rtlCol="0" anchor="ctr"/>
          <a:lstStyle/>
          <a:p>
            <a:pPr indent="0" marL="0">
              <a:buNone/>
            </a:pPr>
            <a:r>
              <a:rPr lang="en-US" sz="1250" dirty="0">
                <a:solidFill>
                  <a:srgbClr val="1E2B24"/>
                </a:solidFill>
              </a:rPr>
              <a:t>Cobertura de la deuda: caja disponible ÷ cuotas a pagar.</a:t>
            </a:r>
            <a:endParaRPr lang="en-US" sz="1250" dirty="0"/>
          </a:p>
        </p:txBody>
      </p:sp>
      <p:sp>
        <p:nvSpPr>
          <p:cNvPr id="25" name="Text 23"/>
          <p:cNvSpPr txBox="1"/>
          <p:nvPr/>
        </p:nvSpPr>
        <p:spPr>
          <a:xfrm>
            <a:off x="6190488" y="4142232"/>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Rendering</a:t>
            </a:r>
            <a:endParaRPr lang="en-US" sz="1400" dirty="0"/>
          </a:p>
        </p:txBody>
      </p:sp>
      <p:sp>
        <p:nvSpPr>
          <p:cNvPr id="26" name="Text 24"/>
          <p:cNvSpPr txBox="1"/>
          <p:nvPr/>
        </p:nvSpPr>
        <p:spPr>
          <a:xfrm>
            <a:off x="8110728" y="4142232"/>
            <a:ext cx="3520440" cy="603504"/>
          </a:xfrm>
          <a:prstGeom prst="rect">
            <a:avLst/>
          </a:prstGeom>
          <a:noFill/>
          <a:ln/>
        </p:spPr>
        <p:txBody>
          <a:bodyPr wrap="square" lIns="0" tIns="0" rIns="0" bIns="0" rtlCol="0" anchor="ctr"/>
          <a:lstStyle/>
          <a:p>
            <a:pPr indent="0" marL="0">
              <a:buNone/>
            </a:pPr>
            <a:r>
              <a:rPr lang="en-US" sz="1250" dirty="0">
                <a:solidFill>
                  <a:srgbClr val="1E2B24"/>
                </a:solidFill>
              </a:rPr>
              <a:t>Proceso que convierte subproductos no comestibles en harinas y grasa.</a:t>
            </a:r>
            <a:endParaRPr lang="en-US" sz="1250" dirty="0"/>
          </a:p>
        </p:txBody>
      </p:sp>
      <p:sp>
        <p:nvSpPr>
          <p:cNvPr id="27" name="Text 25"/>
          <p:cNvSpPr txBox="1"/>
          <p:nvPr/>
        </p:nvSpPr>
        <p:spPr>
          <a:xfrm>
            <a:off x="6190488" y="4846320"/>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CMS</a:t>
            </a:r>
            <a:endParaRPr lang="en-US" sz="1400" dirty="0"/>
          </a:p>
        </p:txBody>
      </p:sp>
      <p:sp>
        <p:nvSpPr>
          <p:cNvPr id="28" name="Text 26"/>
          <p:cNvSpPr txBox="1"/>
          <p:nvPr/>
        </p:nvSpPr>
        <p:spPr>
          <a:xfrm>
            <a:off x="8110728" y="4846320"/>
            <a:ext cx="3520440" cy="603504"/>
          </a:xfrm>
          <a:prstGeom prst="rect">
            <a:avLst/>
          </a:prstGeom>
          <a:noFill/>
          <a:ln/>
        </p:spPr>
        <p:txBody>
          <a:bodyPr wrap="square" lIns="0" tIns="0" rIns="0" bIns="0" rtlCol="0" anchor="ctr"/>
          <a:lstStyle/>
          <a:p>
            <a:pPr indent="0" marL="0">
              <a:buNone/>
            </a:pPr>
            <a:r>
              <a:rPr lang="en-US" sz="1250" dirty="0">
                <a:solidFill>
                  <a:srgbClr val="1E2B24"/>
                </a:solidFill>
              </a:rPr>
              <a:t>Carne mecánicamente separada: pasta de carne de carcasas para elaborados.</a:t>
            </a:r>
            <a:endParaRPr lang="en-US" sz="1250" dirty="0"/>
          </a:p>
        </p:txBody>
      </p:sp>
      <p:sp>
        <p:nvSpPr>
          <p:cNvPr id="29" name="Text 27"/>
          <p:cNvSpPr txBox="1"/>
          <p:nvPr/>
        </p:nvSpPr>
        <p:spPr>
          <a:xfrm>
            <a:off x="6190488" y="5550408"/>
            <a:ext cx="1783080" cy="603504"/>
          </a:xfrm>
          <a:prstGeom prst="roundRect">
            <a:avLst>
              <a:gd name="adj" fmla="val 12121"/>
            </a:avLst>
          </a:prstGeom>
          <a:solidFill>
            <a:srgbClr val="EAF2EC"/>
          </a:solidFill>
          <a:ln/>
        </p:spPr>
        <p:txBody>
          <a:bodyPr wrap="square" lIns="101600" tIns="101600" rIns="101600" bIns="101600" rtlCol="0" anchor="ctr"/>
          <a:lstStyle/>
          <a:p>
            <a:pPr indent="0" marL="0">
              <a:buNone/>
            </a:pPr>
            <a:r>
              <a:rPr lang="en-US" sz="1400" b="1" dirty="0">
                <a:solidFill>
                  <a:srgbClr val="1F4D3A"/>
                </a:solidFill>
              </a:rPr>
              <a:t>PVDP</a:t>
            </a:r>
            <a:endParaRPr lang="en-US" sz="1400" dirty="0"/>
          </a:p>
        </p:txBody>
      </p:sp>
      <p:sp>
        <p:nvSpPr>
          <p:cNvPr id="30" name="Text 28"/>
          <p:cNvSpPr txBox="1"/>
          <p:nvPr/>
        </p:nvSpPr>
        <p:spPr>
          <a:xfrm>
            <a:off x="8110728" y="5550408"/>
            <a:ext cx="3520440" cy="603504"/>
          </a:xfrm>
          <a:prstGeom prst="rect">
            <a:avLst/>
          </a:prstGeom>
          <a:noFill/>
          <a:ln/>
        </p:spPr>
        <p:txBody>
          <a:bodyPr wrap="square" lIns="0" tIns="0" rIns="0" bIns="0" rtlCol="0" anchor="ctr"/>
          <a:lstStyle/>
          <a:p>
            <a:pPr indent="0" marL="0">
              <a:buNone/>
            </a:pPr>
            <a:r>
              <a:rPr lang="en-US" sz="1250" dirty="0">
                <a:solidFill>
                  <a:srgbClr val="1E2B24"/>
                </a:solidFill>
              </a:rPr>
              <a:t>Pendiente de verificación documental primaria: visto, pero no leído en el original.</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6"/>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Nicas Doipe V1">
  <a:themeElements>
    <a:clrScheme name="Nicas Doipe V1">
      <a:dk1>
        <a:srgbClr val="1E2B24"/>
      </a:dk1>
      <a:lt1>
        <a:srgbClr val="FFFFFF"/>
      </a:lt1>
      <a:dk2>
        <a:srgbClr val="5F6B66"/>
      </a:dk2>
      <a:lt2>
        <a:srgbClr val="EAF2EC"/>
      </a:lt2>
      <a:accent1>
        <a:srgbClr val="1F4D3A"/>
      </a:accent1>
      <a:accent2>
        <a:srgbClr val="E3A12F"/>
      </a:accent2>
      <a:accent3>
        <a:srgbClr val="2E7D4F"/>
      </a:accent3>
      <a:accent4>
        <a:srgbClr val="6B4FA0"/>
      </a:accent4>
      <a:accent5>
        <a:srgbClr val="C8641E"/>
      </a:accent5>
      <a:accent6>
        <a:srgbClr val="B3261E"/>
      </a:accent6>
      <a:hlink>
        <a:srgbClr val="2F6690"/>
      </a:hlink>
      <a:folHlink>
        <a:srgbClr val="6B4FA0"/>
      </a:folHlink>
    </a:clrScheme>
    <a:fontScheme name="Nicas Doipe V1">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Nicas &amp; Doipe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avícola Nicas &amp; Doipe — Paquete ejecutivo V1</dc:title>
  <dc:subject>Motor V1 + App V1: estado del estudio de prefactibilidad</dc:subject>
  <dc:creator>Proyecto avícola Nicas y Doipe</dc:creator>
  <cp:lastModifiedBy>Proyecto avícola Nicas y Doipe</cp:lastModifiedBy>
  <cp:revision>1</cp:revision>
  <dcterms:created xsi:type="dcterms:W3CDTF">2026-10-05T21:17:34Z</dcterms:created>
  <dcterms:modified xsi:type="dcterms:W3CDTF">2026-10-05T21:17:34Z</dcterms:modified>
</cp:coreProperties>
</file>